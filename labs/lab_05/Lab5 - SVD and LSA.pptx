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notesSlides/notesSlide4.xml" ContentType="application/vnd.openxmlformats-officedocument.presentationml.notesSlide+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47"/>
  </p:notesMasterIdLst>
  <p:sldIdLst>
    <p:sldId id="256" r:id="rId2"/>
    <p:sldId id="377" r:id="rId3"/>
    <p:sldId id="378" r:id="rId4"/>
    <p:sldId id="257" r:id="rId5"/>
    <p:sldId id="267" r:id="rId6"/>
    <p:sldId id="269" r:id="rId7"/>
    <p:sldId id="272" r:id="rId8"/>
    <p:sldId id="289" r:id="rId9"/>
    <p:sldId id="261" r:id="rId10"/>
    <p:sldId id="300" r:id="rId11"/>
    <p:sldId id="305" r:id="rId12"/>
    <p:sldId id="292" r:id="rId13"/>
    <p:sldId id="290" r:id="rId14"/>
    <p:sldId id="276" r:id="rId15"/>
    <p:sldId id="379" r:id="rId16"/>
    <p:sldId id="380" r:id="rId17"/>
    <p:sldId id="293" r:id="rId18"/>
    <p:sldId id="308" r:id="rId19"/>
    <p:sldId id="310" r:id="rId20"/>
    <p:sldId id="381" r:id="rId21"/>
    <p:sldId id="313" r:id="rId22"/>
    <p:sldId id="314" r:id="rId23"/>
    <p:sldId id="321" r:id="rId24"/>
    <p:sldId id="322" r:id="rId25"/>
    <p:sldId id="340" r:id="rId26"/>
    <p:sldId id="324" r:id="rId27"/>
    <p:sldId id="338" r:id="rId28"/>
    <p:sldId id="339" r:id="rId29"/>
    <p:sldId id="326" r:id="rId30"/>
    <p:sldId id="330" r:id="rId31"/>
    <p:sldId id="329" r:id="rId32"/>
    <p:sldId id="341" r:id="rId33"/>
    <p:sldId id="345" r:id="rId34"/>
    <p:sldId id="349" r:id="rId35"/>
    <p:sldId id="350" r:id="rId36"/>
    <p:sldId id="382" r:id="rId37"/>
    <p:sldId id="356" r:id="rId38"/>
    <p:sldId id="355" r:id="rId39"/>
    <p:sldId id="362" r:id="rId40"/>
    <p:sldId id="383" r:id="rId41"/>
    <p:sldId id="364" r:id="rId42"/>
    <p:sldId id="366" r:id="rId43"/>
    <p:sldId id="368" r:id="rId44"/>
    <p:sldId id="373" r:id="rId45"/>
    <p:sldId id="376" r:id="rId46"/>
  </p:sldIdLst>
  <p:sldSz cx="9144000" cy="5143500" type="screen16x9"/>
  <p:notesSz cx="6858000" cy="9144000"/>
  <p:embeddedFontLst>
    <p:embeddedFont>
      <p:font typeface="Cambria Math" panose="02040503050406030204" pitchFamily="18" charset="0"/>
      <p:regular r:id="rId48"/>
    </p:embeddedFont>
    <p:embeddedFont>
      <p:font typeface="Open Sans" panose="020B0606030504020204" pitchFamily="34" charset="0"/>
      <p:regular r:id="rId49"/>
      <p:bold r:id="rId50"/>
      <p:italic r:id="rId51"/>
      <p:boldItalic r:id="rId52"/>
    </p:embeddedFont>
  </p:embeddedFontLst>
  <p:custDataLst>
    <p:tags r:id="rId53"/>
  </p:custData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Default Section" id="{0D538DEE-B98C-2244-B072-564E961AE196}">
          <p14:sldIdLst>
            <p14:sldId id="256"/>
            <p14:sldId id="377"/>
            <p14:sldId id="378"/>
            <p14:sldId id="257"/>
            <p14:sldId id="267"/>
            <p14:sldId id="269"/>
            <p14:sldId id="272"/>
            <p14:sldId id="289"/>
            <p14:sldId id="261"/>
            <p14:sldId id="300"/>
            <p14:sldId id="305"/>
            <p14:sldId id="292"/>
            <p14:sldId id="290"/>
            <p14:sldId id="276"/>
            <p14:sldId id="379"/>
            <p14:sldId id="380"/>
            <p14:sldId id="293"/>
            <p14:sldId id="308"/>
            <p14:sldId id="310"/>
            <p14:sldId id="381"/>
            <p14:sldId id="313"/>
            <p14:sldId id="314"/>
            <p14:sldId id="321"/>
            <p14:sldId id="322"/>
            <p14:sldId id="340"/>
            <p14:sldId id="324"/>
            <p14:sldId id="338"/>
            <p14:sldId id="339"/>
            <p14:sldId id="326"/>
            <p14:sldId id="330"/>
            <p14:sldId id="329"/>
            <p14:sldId id="341"/>
            <p14:sldId id="345"/>
            <p14:sldId id="349"/>
            <p14:sldId id="350"/>
            <p14:sldId id="382"/>
            <p14:sldId id="356"/>
            <p14:sldId id="355"/>
            <p14:sldId id="362"/>
            <p14:sldId id="383"/>
            <p14:sldId id="364"/>
            <p14:sldId id="366"/>
            <p14:sldId id="368"/>
            <p14:sldId id="373"/>
            <p14:sldId id="376"/>
          </p14:sldIdLst>
        </p14:section>
      </p14:sectionLst>
    </p:ex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3178"/>
    <p:restoredTop sz="94658"/>
  </p:normalViewPr>
  <p:slideViewPr>
    <p:cSldViewPr snapToGrid="0">
      <p:cViewPr varScale="1">
        <p:scale>
          <a:sx n="89" d="100"/>
          <a:sy n="89" d="100"/>
        </p:scale>
        <p:origin x="176" y="121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font" Target="fonts/font3.fntdata"/><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gs" Target="tags/tag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font" Target="fonts/font1.fntdata"/><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font" Target="fonts/font4.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2.fntdata"/><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5.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83F70E-2954-12BD-C9FD-875BAFF801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7C0597-84BD-E266-C2F5-9989ABA6F983}"/>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839DDBBA-94D7-8B9A-C516-52B4AE85B441}"/>
              </a:ext>
            </a:extLst>
          </p:cNvPr>
          <p:cNvSpPr>
            <a:spLocks noGrp="1"/>
          </p:cNvSpPr>
          <p:nvPr>
            <p:ph type="body" idx="1"/>
          </p:nvPr>
        </p:nvSpPr>
        <p:spPr/>
        <p:txBody>
          <a:bodyPr/>
          <a:lstStyle/>
          <a:p>
            <a:r>
              <a:rPr lang="en-US" dirty="0"/>
              <a:t>If needed, show what a one hot representation is</a:t>
            </a:r>
          </a:p>
        </p:txBody>
      </p:sp>
    </p:spTree>
    <p:extLst>
      <p:ext uri="{BB962C8B-B14F-4D97-AF65-F5344CB8AC3E}">
        <p14:creationId xmlns:p14="http://schemas.microsoft.com/office/powerpoint/2010/main" val="2660162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A7A45E-1C58-8808-756C-3CE888E1DF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3C598A-91DA-8976-B0FA-78F4C86692C3}"/>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DCC2F252-5293-320C-AA98-D3D0CDBADD86}"/>
              </a:ext>
            </a:extLst>
          </p:cNvPr>
          <p:cNvSpPr>
            <a:spLocks noGrp="1"/>
          </p:cNvSpPr>
          <p:nvPr>
            <p:ph type="body" idx="1"/>
          </p:nvPr>
        </p:nvSpPr>
        <p:spPr/>
        <p:txBody>
          <a:bodyPr/>
          <a:lstStyle/>
          <a:p>
            <a:r>
              <a:rPr lang="en-US" dirty="0"/>
              <a:t>This is an SVD for our dataset. Keep in mind, concepts here refer to latent concepts/hidden concepts</a:t>
            </a:r>
          </a:p>
        </p:txBody>
      </p:sp>
    </p:spTree>
    <p:extLst>
      <p:ext uri="{BB962C8B-B14F-4D97-AF65-F5344CB8AC3E}">
        <p14:creationId xmlns:p14="http://schemas.microsoft.com/office/powerpoint/2010/main" val="23492001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9C58E4-1F55-D57F-4206-ADDB0C7AC2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6BF181-A86C-F499-06BF-27218FBA7657}"/>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181D9458-19DE-5C85-A115-6373D60B3D78}"/>
              </a:ext>
            </a:extLst>
          </p:cNvPr>
          <p:cNvSpPr>
            <a:spLocks noGrp="1"/>
          </p:cNvSpPr>
          <p:nvPr>
            <p:ph type="body" idx="1"/>
          </p:nvPr>
        </p:nvSpPr>
        <p:spPr/>
        <p:txBody>
          <a:bodyPr/>
          <a:lstStyle/>
          <a:p>
            <a:r>
              <a:rPr lang="en-US" dirty="0"/>
              <a:t>Note: with </a:t>
            </a:r>
            <a:r>
              <a:rPr lang="en-US" dirty="0" err="1"/>
              <a:t>idf</a:t>
            </a:r>
            <a:r>
              <a:rPr lang="en-US" dirty="0"/>
              <a:t> rarer words get higher weight</a:t>
            </a:r>
          </a:p>
        </p:txBody>
      </p:sp>
    </p:spTree>
    <p:extLst>
      <p:ext uri="{BB962C8B-B14F-4D97-AF65-F5344CB8AC3E}">
        <p14:creationId xmlns:p14="http://schemas.microsoft.com/office/powerpoint/2010/main" val="27971877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E69C4B-091D-BA51-88E7-0F85C8C937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1818DA-D4A5-ACAF-48B3-CD3A5A86BA78}"/>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77857988-D409-DF13-28FE-C4C49421F5A0}"/>
              </a:ext>
            </a:extLst>
          </p:cNvPr>
          <p:cNvSpPr>
            <a:spLocks noGrp="1"/>
          </p:cNvSpPr>
          <p:nvPr>
            <p:ph type="body" idx="1"/>
          </p:nvPr>
        </p:nvSpPr>
        <p:spPr/>
        <p:txBody>
          <a:bodyPr/>
          <a:lstStyle/>
          <a:p>
            <a:r>
              <a:rPr lang="en-US" dirty="0"/>
              <a:t>Read as “term frequency of word t in document d” times “inverse document frequency of term t”</a:t>
            </a:r>
          </a:p>
        </p:txBody>
      </p:sp>
    </p:spTree>
    <p:extLst>
      <p:ext uri="{BB962C8B-B14F-4D97-AF65-F5344CB8AC3E}">
        <p14:creationId xmlns:p14="http://schemas.microsoft.com/office/powerpoint/2010/main" val="37970013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cxnSp>
        <p:nvCxnSpPr>
          <p:cNvPr id="10" name="Google Shape;10;p2"/>
          <p:cNvCxnSpPr/>
          <p:nvPr/>
        </p:nvCxnSpPr>
        <p:spPr>
          <a:xfrm>
            <a:off x="7007735" y="3176888"/>
            <a:ext cx="562200" cy="0"/>
          </a:xfrm>
          <a:prstGeom prst="straightConnector1">
            <a:avLst/>
          </a:prstGeom>
          <a:noFill/>
          <a:ln w="76200" cap="flat" cmpd="sng">
            <a:solidFill>
              <a:schemeClr val="lt2"/>
            </a:solidFill>
            <a:prstDash val="solid"/>
            <a:round/>
            <a:headEnd type="none" w="sm" len="sm"/>
            <a:tailEnd type="none" w="sm" len="sm"/>
          </a:ln>
        </p:spPr>
      </p:cxnSp>
      <p:cxnSp>
        <p:nvCxnSpPr>
          <p:cNvPr id="11" name="Google Shape;11;p2"/>
          <p:cNvCxnSpPr/>
          <p:nvPr/>
        </p:nvCxnSpPr>
        <p:spPr>
          <a:xfrm>
            <a:off x="1575035" y="3158252"/>
            <a:ext cx="562200" cy="0"/>
          </a:xfrm>
          <a:prstGeom prst="straightConnector1">
            <a:avLst/>
          </a:prstGeom>
          <a:noFill/>
          <a:ln w="76200" cap="flat" cmpd="sng">
            <a:solidFill>
              <a:schemeClr val="lt2"/>
            </a:solidFill>
            <a:prstDash val="solid"/>
            <a:round/>
            <a:headEnd type="none" w="sm" len="sm"/>
            <a:tailEnd type="none" w="sm" len="sm"/>
          </a:ln>
        </p:spPr>
      </p:cxnSp>
      <p:grpSp>
        <p:nvGrpSpPr>
          <p:cNvPr id="12" name="Google Shape;12;p2"/>
          <p:cNvGrpSpPr/>
          <p:nvPr/>
        </p:nvGrpSpPr>
        <p:grpSpPr>
          <a:xfrm>
            <a:off x="1004144" y="1022025"/>
            <a:ext cx="7136668" cy="152400"/>
            <a:chOff x="1346429" y="1011300"/>
            <a:chExt cx="6452100" cy="152400"/>
          </a:xfrm>
        </p:grpSpPr>
        <p:cxnSp>
          <p:nvCxnSpPr>
            <p:cNvPr id="13" name="Google Shape;13;p2"/>
            <p:cNvCxnSpPr/>
            <p:nvPr/>
          </p:nvCxnSpPr>
          <p:spPr>
            <a:xfrm rot="10800000">
              <a:off x="1346429" y="1011300"/>
              <a:ext cx="6452100" cy="0"/>
            </a:xfrm>
            <a:prstGeom prst="straightConnector1">
              <a:avLst/>
            </a:prstGeom>
            <a:noFill/>
            <a:ln w="76200" cap="flat" cmpd="sng">
              <a:solidFill>
                <a:schemeClr val="accent3"/>
              </a:solidFill>
              <a:prstDash val="solid"/>
              <a:round/>
              <a:headEnd type="none" w="sm" len="sm"/>
              <a:tailEnd type="none" w="sm" len="sm"/>
            </a:ln>
          </p:spPr>
        </p:cxnSp>
        <p:cxnSp>
          <p:nvCxnSpPr>
            <p:cNvPr id="14" name="Google Shape;14;p2"/>
            <p:cNvCxnSpPr/>
            <p:nvPr/>
          </p:nvCxnSpPr>
          <p:spPr>
            <a:xfrm rot="10800000">
              <a:off x="1346429" y="1163700"/>
              <a:ext cx="6452100" cy="0"/>
            </a:xfrm>
            <a:prstGeom prst="straightConnector1">
              <a:avLst/>
            </a:prstGeom>
            <a:noFill/>
            <a:ln w="9525" cap="flat" cmpd="sng">
              <a:solidFill>
                <a:schemeClr val="accent3"/>
              </a:solidFill>
              <a:prstDash val="solid"/>
              <a:round/>
              <a:headEnd type="none" w="sm" len="sm"/>
              <a:tailEnd type="none" w="sm" len="sm"/>
            </a:ln>
          </p:spPr>
        </p:cxnSp>
      </p:grpSp>
      <p:grpSp>
        <p:nvGrpSpPr>
          <p:cNvPr id="15" name="Google Shape;15;p2"/>
          <p:cNvGrpSpPr/>
          <p:nvPr/>
        </p:nvGrpSpPr>
        <p:grpSpPr>
          <a:xfrm>
            <a:off x="1004151" y="3969100"/>
            <a:ext cx="7136668" cy="152400"/>
            <a:chOff x="1346435" y="3969088"/>
            <a:chExt cx="6452100" cy="152400"/>
          </a:xfrm>
        </p:grpSpPr>
        <p:cxnSp>
          <p:nvCxnSpPr>
            <p:cNvPr id="16" name="Google Shape;16;p2"/>
            <p:cNvCxnSpPr/>
            <p:nvPr/>
          </p:nvCxnSpPr>
          <p:spPr>
            <a:xfrm>
              <a:off x="1346435" y="4121488"/>
              <a:ext cx="6452100" cy="0"/>
            </a:xfrm>
            <a:prstGeom prst="straightConnector1">
              <a:avLst/>
            </a:prstGeom>
            <a:noFill/>
            <a:ln w="76200" cap="flat" cmpd="sng">
              <a:solidFill>
                <a:schemeClr val="accent3"/>
              </a:solidFill>
              <a:prstDash val="solid"/>
              <a:round/>
              <a:headEnd type="none" w="sm" len="sm"/>
              <a:tailEnd type="none" w="sm" len="sm"/>
            </a:ln>
          </p:spPr>
        </p:cxnSp>
        <p:cxnSp>
          <p:nvCxnSpPr>
            <p:cNvPr id="17" name="Google Shape;17;p2"/>
            <p:cNvCxnSpPr/>
            <p:nvPr/>
          </p:nvCxnSpPr>
          <p:spPr>
            <a:xfrm>
              <a:off x="1346435" y="3969088"/>
              <a:ext cx="6452100" cy="0"/>
            </a:xfrm>
            <a:prstGeom prst="straightConnector1">
              <a:avLst/>
            </a:prstGeom>
            <a:noFill/>
            <a:ln w="9525" cap="flat" cmpd="sng">
              <a:solidFill>
                <a:schemeClr val="accent3"/>
              </a:solidFill>
              <a:prstDash val="solid"/>
              <a:round/>
              <a:headEnd type="none" w="sm" len="sm"/>
              <a:tailEnd type="none" w="sm" len="sm"/>
            </a:ln>
          </p:spPr>
        </p:cxnSp>
      </p:grpSp>
      <p:sp>
        <p:nvSpPr>
          <p:cNvPr id="18" name="Google Shape;18;p2"/>
          <p:cNvSpPr txBox="1">
            <a:spLocks noGrp="1"/>
          </p:cNvSpPr>
          <p:nvPr>
            <p:ph type="ctrTitle"/>
          </p:nvPr>
        </p:nvSpPr>
        <p:spPr>
          <a:xfrm>
            <a:off x="1004150" y="1751764"/>
            <a:ext cx="7136700" cy="1022400"/>
          </a:xfrm>
          <a:prstGeom prst="rect">
            <a:avLst/>
          </a:prstGeom>
        </p:spPr>
        <p:txBody>
          <a:bodyPr spcFirstLastPara="1" wrap="square" lIns="91425" tIns="91425" rIns="91425" bIns="91425" anchor="b" anchorCtr="0">
            <a:normAutofit/>
          </a:bodyPr>
          <a:lstStyle>
            <a:lvl1pPr lvl="0" algn="ctr">
              <a:spcBef>
                <a:spcPts val="0"/>
              </a:spcBef>
              <a:spcAft>
                <a:spcPts val="0"/>
              </a:spcAft>
              <a:buSzPts val="5400"/>
              <a:buNone/>
              <a:defRPr sz="5400"/>
            </a:lvl1pPr>
            <a:lvl2pPr lvl="1" algn="ctr">
              <a:spcBef>
                <a:spcPts val="0"/>
              </a:spcBef>
              <a:spcAft>
                <a:spcPts val="0"/>
              </a:spcAft>
              <a:buSzPts val="5400"/>
              <a:buNone/>
              <a:defRPr sz="5400"/>
            </a:lvl2pPr>
            <a:lvl3pPr lvl="2" algn="ctr">
              <a:spcBef>
                <a:spcPts val="0"/>
              </a:spcBef>
              <a:spcAft>
                <a:spcPts val="0"/>
              </a:spcAft>
              <a:buSzPts val="5400"/>
              <a:buNone/>
              <a:defRPr sz="5400"/>
            </a:lvl3pPr>
            <a:lvl4pPr lvl="3" algn="ctr">
              <a:spcBef>
                <a:spcPts val="0"/>
              </a:spcBef>
              <a:spcAft>
                <a:spcPts val="0"/>
              </a:spcAft>
              <a:buSzPts val="5400"/>
              <a:buNone/>
              <a:defRPr sz="5400"/>
            </a:lvl4pPr>
            <a:lvl5pPr lvl="4" algn="ctr">
              <a:spcBef>
                <a:spcPts val="0"/>
              </a:spcBef>
              <a:spcAft>
                <a:spcPts val="0"/>
              </a:spcAft>
              <a:buSzPts val="5400"/>
              <a:buNone/>
              <a:defRPr sz="5400"/>
            </a:lvl5pPr>
            <a:lvl6pPr lvl="5" algn="ctr">
              <a:spcBef>
                <a:spcPts val="0"/>
              </a:spcBef>
              <a:spcAft>
                <a:spcPts val="0"/>
              </a:spcAft>
              <a:buSzPts val="5400"/>
              <a:buNone/>
              <a:defRPr sz="5400"/>
            </a:lvl6pPr>
            <a:lvl7pPr lvl="6" algn="ctr">
              <a:spcBef>
                <a:spcPts val="0"/>
              </a:spcBef>
              <a:spcAft>
                <a:spcPts val="0"/>
              </a:spcAft>
              <a:buSzPts val="5400"/>
              <a:buNone/>
              <a:defRPr sz="5400"/>
            </a:lvl7pPr>
            <a:lvl8pPr lvl="7" algn="ctr">
              <a:spcBef>
                <a:spcPts val="0"/>
              </a:spcBef>
              <a:spcAft>
                <a:spcPts val="0"/>
              </a:spcAft>
              <a:buSzPts val="5400"/>
              <a:buNone/>
              <a:defRPr sz="5400"/>
            </a:lvl8pPr>
            <a:lvl9pPr lvl="8" algn="ctr">
              <a:spcBef>
                <a:spcPts val="0"/>
              </a:spcBef>
              <a:spcAft>
                <a:spcPts val="0"/>
              </a:spcAft>
              <a:buSzPts val="5400"/>
              <a:buNone/>
              <a:defRPr sz="5400"/>
            </a:lvl9pPr>
          </a:lstStyle>
          <a:p>
            <a:endParaRPr/>
          </a:p>
        </p:txBody>
      </p:sp>
      <p:sp>
        <p:nvSpPr>
          <p:cNvPr id="19" name="Google Shape;19;p2"/>
          <p:cNvSpPr txBox="1">
            <a:spLocks noGrp="1"/>
          </p:cNvSpPr>
          <p:nvPr>
            <p:ph type="subTitle" idx="1"/>
          </p:nvPr>
        </p:nvSpPr>
        <p:spPr>
          <a:xfrm>
            <a:off x="2137225" y="2850039"/>
            <a:ext cx="48705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400"/>
              <a:buNone/>
              <a:defRPr sz="24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a:endParaRPr/>
          </a:p>
        </p:txBody>
      </p:sp>
      <p:sp>
        <p:nvSpPr>
          <p:cNvPr id="20" name="Google Shape;20;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1"/>
        <p:cNvGrpSpPr/>
        <p:nvPr/>
      </p:nvGrpSpPr>
      <p:grpSpPr>
        <a:xfrm>
          <a:off x="0" y="0"/>
          <a:ext cx="0" cy="0"/>
          <a:chOff x="0" y="0"/>
          <a:chExt cx="0" cy="0"/>
        </a:xfrm>
      </p:grpSpPr>
      <p:sp>
        <p:nvSpPr>
          <p:cNvPr id="22" name="Google Shape;22;p3"/>
          <p:cNvSpPr/>
          <p:nvPr/>
        </p:nvSpPr>
        <p:spPr>
          <a:xfrm>
            <a:off x="-50" y="2571900"/>
            <a:ext cx="9144000" cy="25716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3"/>
          <p:cNvSpPr txBox="1">
            <a:spLocks noGrp="1"/>
          </p:cNvSpPr>
          <p:nvPr>
            <p:ph type="title"/>
          </p:nvPr>
        </p:nvSpPr>
        <p:spPr>
          <a:xfrm>
            <a:off x="311700" y="814800"/>
            <a:ext cx="8571300" cy="9420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a:lvl1pPr>
            <a:lvl2pPr lvl="1" algn="ctr">
              <a:spcBef>
                <a:spcPts val="0"/>
              </a:spcBef>
              <a:spcAft>
                <a:spcPts val="0"/>
              </a:spcAft>
              <a:buSzPts val="3600"/>
              <a:buNone/>
              <a:defRPr/>
            </a:lvl2pPr>
            <a:lvl3pPr lvl="2" algn="ctr">
              <a:spcBef>
                <a:spcPts val="0"/>
              </a:spcBef>
              <a:spcAft>
                <a:spcPts val="0"/>
              </a:spcAft>
              <a:buSzPts val="3600"/>
              <a:buNone/>
              <a:defRPr/>
            </a:lvl3pPr>
            <a:lvl4pPr lvl="3" algn="ctr">
              <a:spcBef>
                <a:spcPts val="0"/>
              </a:spcBef>
              <a:spcAft>
                <a:spcPts val="0"/>
              </a:spcAft>
              <a:buSzPts val="3600"/>
              <a:buNone/>
              <a:defRPr/>
            </a:lvl4pPr>
            <a:lvl5pPr lvl="4" algn="ctr">
              <a:spcBef>
                <a:spcPts val="0"/>
              </a:spcBef>
              <a:spcAft>
                <a:spcPts val="0"/>
              </a:spcAft>
              <a:buSzPts val="3600"/>
              <a:buNone/>
              <a:defRPr/>
            </a:lvl5pPr>
            <a:lvl6pPr lvl="5" algn="ctr">
              <a:spcBef>
                <a:spcPts val="0"/>
              </a:spcBef>
              <a:spcAft>
                <a:spcPts val="0"/>
              </a:spcAft>
              <a:buSzPts val="3600"/>
              <a:buNone/>
              <a:defRPr/>
            </a:lvl6pPr>
            <a:lvl7pPr lvl="6" algn="ctr">
              <a:spcBef>
                <a:spcPts val="0"/>
              </a:spcBef>
              <a:spcAft>
                <a:spcPts val="0"/>
              </a:spcAft>
              <a:buSzPts val="3600"/>
              <a:buNone/>
              <a:defRPr/>
            </a:lvl7pPr>
            <a:lvl8pPr lvl="7" algn="ctr">
              <a:spcBef>
                <a:spcPts val="0"/>
              </a:spcBef>
              <a:spcAft>
                <a:spcPts val="0"/>
              </a:spcAft>
              <a:buSzPts val="3600"/>
              <a:buNone/>
              <a:defRPr/>
            </a:lvl8pPr>
            <a:lvl9pPr lvl="8" algn="ctr">
              <a:spcBef>
                <a:spcPts val="0"/>
              </a:spcBef>
              <a:spcAft>
                <a:spcPts val="0"/>
              </a:spcAft>
              <a:buSzPts val="3600"/>
              <a:buNone/>
              <a:defRPr/>
            </a:lvl9pPr>
          </a:lstStyle>
          <a:p>
            <a:endParaRPr/>
          </a:p>
        </p:txBody>
      </p:sp>
      <p:sp>
        <p:nvSpPr>
          <p:cNvPr id="24" name="Google Shape;24;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5"/>
        <p:cNvGrpSpPr/>
        <p:nvPr/>
      </p:nvGrpSpPr>
      <p:grpSpPr>
        <a:xfrm>
          <a:off x="0" y="0"/>
          <a:ext cx="0" cy="0"/>
          <a:chOff x="0" y="0"/>
          <a:chExt cx="0" cy="0"/>
        </a:xfrm>
      </p:grpSpPr>
      <p:sp>
        <p:nvSpPr>
          <p:cNvPr id="26" name="Google Shape;26;p4"/>
          <p:cNvSpPr/>
          <p:nvPr/>
        </p:nvSpPr>
        <p:spPr>
          <a:xfrm>
            <a:off x="-75" y="5045700"/>
            <a:ext cx="9144000" cy="978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4"/>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a:endParaRPr/>
          </a:p>
        </p:txBody>
      </p:sp>
      <p:sp>
        <p:nvSpPr>
          <p:cNvPr id="28" name="Google Shape;28;p4"/>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29" name="Google Shape;2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0"/>
        <p:cNvGrpSpPr/>
        <p:nvPr/>
      </p:nvGrpSpPr>
      <p:grpSpPr>
        <a:xfrm>
          <a:off x="0" y="0"/>
          <a:ext cx="0" cy="0"/>
          <a:chOff x="0" y="0"/>
          <a:chExt cx="0" cy="0"/>
        </a:xfrm>
      </p:grpSpPr>
      <p:sp>
        <p:nvSpPr>
          <p:cNvPr id="31" name="Google Shape;31;p5"/>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a:endParaRPr/>
          </a:p>
        </p:txBody>
      </p:sp>
      <p:sp>
        <p:nvSpPr>
          <p:cNvPr id="32" name="Google Shape;32;p5"/>
          <p:cNvSpPr txBox="1">
            <a:spLocks noGrp="1"/>
          </p:cNvSpPr>
          <p:nvPr>
            <p:ph type="body" idx="1"/>
          </p:nvPr>
        </p:nvSpPr>
        <p:spPr>
          <a:xfrm>
            <a:off x="311700" y="1266175"/>
            <a:ext cx="3999900" cy="33027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3" name="Google Shape;33;p5"/>
          <p:cNvSpPr txBox="1">
            <a:spLocks noGrp="1"/>
          </p:cNvSpPr>
          <p:nvPr>
            <p:ph type="body" idx="2"/>
          </p:nvPr>
        </p:nvSpPr>
        <p:spPr>
          <a:xfrm>
            <a:off x="4832400" y="1266175"/>
            <a:ext cx="3999900" cy="33027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4" name="Google Shape;3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5"/>
        <p:cNvGrpSpPr/>
        <p:nvPr/>
      </p:nvGrpSpPr>
      <p:grpSpPr>
        <a:xfrm>
          <a:off x="0" y="0"/>
          <a:ext cx="0" cy="0"/>
          <a:chOff x="0" y="0"/>
          <a:chExt cx="0" cy="0"/>
        </a:xfrm>
      </p:grpSpPr>
      <p:sp>
        <p:nvSpPr>
          <p:cNvPr id="36" name="Google Shape;36;p6"/>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a:endParaRPr/>
          </a:p>
        </p:txBody>
      </p:sp>
      <p:sp>
        <p:nvSpPr>
          <p:cNvPr id="37" name="Google Shape;3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8"/>
        <p:cNvGrpSpPr/>
        <p:nvPr/>
      </p:nvGrpSpPr>
      <p:grpSpPr>
        <a:xfrm>
          <a:off x="0" y="0"/>
          <a:ext cx="0" cy="0"/>
          <a:chOff x="0" y="0"/>
          <a:chExt cx="0" cy="0"/>
        </a:xfrm>
      </p:grpSpPr>
      <p:sp>
        <p:nvSpPr>
          <p:cNvPr id="39" name="Google Shape;3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40" name="Google Shape;4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41" name="Google Shape;4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6"/>
        </a:solidFill>
        <a:effectLst/>
      </p:bgPr>
    </p:bg>
    <p:spTree>
      <p:nvGrpSpPr>
        <p:cNvPr id="1" name="Shape 42"/>
        <p:cNvGrpSpPr/>
        <p:nvPr/>
      </p:nvGrpSpPr>
      <p:grpSpPr>
        <a:xfrm>
          <a:off x="0" y="0"/>
          <a:ext cx="0" cy="0"/>
          <a:chOff x="0" y="0"/>
          <a:chExt cx="0" cy="0"/>
        </a:xfrm>
      </p:grpSpPr>
      <p:sp>
        <p:nvSpPr>
          <p:cNvPr id="43" name="Google Shape;43;p8"/>
          <p:cNvSpPr txBox="1">
            <a:spLocks noGrp="1"/>
          </p:cNvSpPr>
          <p:nvPr>
            <p:ph type="title"/>
          </p:nvPr>
        </p:nvSpPr>
        <p:spPr>
          <a:xfrm>
            <a:off x="490250" y="526350"/>
            <a:ext cx="5613600" cy="40908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dk2"/>
              </a:buClr>
              <a:buSzPts val="5400"/>
              <a:buNone/>
              <a:defRPr sz="5400" b="0">
                <a:solidFill>
                  <a:schemeClr val="dk2"/>
                </a:solidFill>
              </a:defRPr>
            </a:lvl1pPr>
            <a:lvl2pPr lvl="1">
              <a:spcBef>
                <a:spcPts val="0"/>
              </a:spcBef>
              <a:spcAft>
                <a:spcPts val="0"/>
              </a:spcAft>
              <a:buClr>
                <a:schemeClr val="dk2"/>
              </a:buClr>
              <a:buSzPts val="5400"/>
              <a:buNone/>
              <a:defRPr sz="5400" b="0">
                <a:solidFill>
                  <a:schemeClr val="dk2"/>
                </a:solidFill>
              </a:defRPr>
            </a:lvl2pPr>
            <a:lvl3pPr lvl="2">
              <a:spcBef>
                <a:spcPts val="0"/>
              </a:spcBef>
              <a:spcAft>
                <a:spcPts val="0"/>
              </a:spcAft>
              <a:buClr>
                <a:schemeClr val="dk2"/>
              </a:buClr>
              <a:buSzPts val="5400"/>
              <a:buNone/>
              <a:defRPr sz="5400" b="0">
                <a:solidFill>
                  <a:schemeClr val="dk2"/>
                </a:solidFill>
              </a:defRPr>
            </a:lvl3pPr>
            <a:lvl4pPr lvl="3">
              <a:spcBef>
                <a:spcPts val="0"/>
              </a:spcBef>
              <a:spcAft>
                <a:spcPts val="0"/>
              </a:spcAft>
              <a:buClr>
                <a:schemeClr val="dk2"/>
              </a:buClr>
              <a:buSzPts val="5400"/>
              <a:buNone/>
              <a:defRPr sz="5400" b="0">
                <a:solidFill>
                  <a:schemeClr val="dk2"/>
                </a:solidFill>
              </a:defRPr>
            </a:lvl4pPr>
            <a:lvl5pPr lvl="4">
              <a:spcBef>
                <a:spcPts val="0"/>
              </a:spcBef>
              <a:spcAft>
                <a:spcPts val="0"/>
              </a:spcAft>
              <a:buClr>
                <a:schemeClr val="dk2"/>
              </a:buClr>
              <a:buSzPts val="5400"/>
              <a:buNone/>
              <a:defRPr sz="5400" b="0">
                <a:solidFill>
                  <a:schemeClr val="dk2"/>
                </a:solidFill>
              </a:defRPr>
            </a:lvl5pPr>
            <a:lvl6pPr lvl="5">
              <a:spcBef>
                <a:spcPts val="0"/>
              </a:spcBef>
              <a:spcAft>
                <a:spcPts val="0"/>
              </a:spcAft>
              <a:buClr>
                <a:schemeClr val="dk2"/>
              </a:buClr>
              <a:buSzPts val="5400"/>
              <a:buNone/>
              <a:defRPr sz="5400" b="0">
                <a:solidFill>
                  <a:schemeClr val="dk2"/>
                </a:solidFill>
              </a:defRPr>
            </a:lvl6pPr>
            <a:lvl7pPr lvl="6">
              <a:spcBef>
                <a:spcPts val="0"/>
              </a:spcBef>
              <a:spcAft>
                <a:spcPts val="0"/>
              </a:spcAft>
              <a:buClr>
                <a:schemeClr val="dk2"/>
              </a:buClr>
              <a:buSzPts val="5400"/>
              <a:buNone/>
              <a:defRPr sz="5400" b="0">
                <a:solidFill>
                  <a:schemeClr val="dk2"/>
                </a:solidFill>
              </a:defRPr>
            </a:lvl7pPr>
            <a:lvl8pPr lvl="7">
              <a:spcBef>
                <a:spcPts val="0"/>
              </a:spcBef>
              <a:spcAft>
                <a:spcPts val="0"/>
              </a:spcAft>
              <a:buClr>
                <a:schemeClr val="dk2"/>
              </a:buClr>
              <a:buSzPts val="5400"/>
              <a:buNone/>
              <a:defRPr sz="5400" b="0">
                <a:solidFill>
                  <a:schemeClr val="dk2"/>
                </a:solidFill>
              </a:defRPr>
            </a:lvl8pPr>
            <a:lvl9pPr lvl="8">
              <a:spcBef>
                <a:spcPts val="0"/>
              </a:spcBef>
              <a:spcAft>
                <a:spcPts val="0"/>
              </a:spcAft>
              <a:buClr>
                <a:schemeClr val="dk2"/>
              </a:buClr>
              <a:buSzPts val="5400"/>
              <a:buNone/>
              <a:defRPr sz="5400" b="0">
                <a:solidFill>
                  <a:schemeClr val="dk2"/>
                </a:solidFill>
              </a:defRPr>
            </a:lvl9pPr>
          </a:lstStyle>
          <a:p>
            <a:endParaRPr/>
          </a:p>
        </p:txBody>
      </p:sp>
      <p:sp>
        <p:nvSpPr>
          <p:cNvPr id="44" name="Google Shape;4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5"/>
        <p:cNvGrpSpPr/>
        <p:nvPr/>
      </p:nvGrpSpPr>
      <p:grpSpPr>
        <a:xfrm>
          <a:off x="0" y="0"/>
          <a:ext cx="0" cy="0"/>
          <a:chOff x="0" y="0"/>
          <a:chExt cx="0" cy="0"/>
        </a:xfrm>
      </p:grpSpPr>
      <p:sp>
        <p:nvSpPr>
          <p:cNvPr id="46" name="Google Shape;46;p9"/>
          <p:cNvSpPr/>
          <p:nvPr/>
        </p:nvSpPr>
        <p:spPr>
          <a:xfrm>
            <a:off x="4572000" y="0"/>
            <a:ext cx="4572000" cy="51435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7" name="Google Shape;47;p9"/>
          <p:cNvCxnSpPr/>
          <p:nvPr/>
        </p:nvCxnSpPr>
        <p:spPr>
          <a:xfrm>
            <a:off x="5029675" y="4495500"/>
            <a:ext cx="468300" cy="0"/>
          </a:xfrm>
          <a:prstGeom prst="straightConnector1">
            <a:avLst/>
          </a:prstGeom>
          <a:noFill/>
          <a:ln w="19050" cap="flat" cmpd="sng">
            <a:solidFill>
              <a:schemeClr val="lt1"/>
            </a:solidFill>
            <a:prstDash val="solid"/>
            <a:round/>
            <a:headEnd type="none" w="sm" len="sm"/>
            <a:tailEnd type="none" w="sm" len="sm"/>
          </a:ln>
        </p:spPr>
      </p:cxnSp>
      <p:sp>
        <p:nvSpPr>
          <p:cNvPr id="48" name="Google Shape;48;p9"/>
          <p:cNvSpPr txBox="1">
            <a:spLocks noGrp="1"/>
          </p:cNvSpPr>
          <p:nvPr>
            <p:ph type="title"/>
          </p:nvPr>
        </p:nvSpPr>
        <p:spPr>
          <a:xfrm>
            <a:off x="265500" y="1039675"/>
            <a:ext cx="4045200" cy="16758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49" name="Google Shape;49;p9"/>
          <p:cNvSpPr txBox="1">
            <a:spLocks noGrp="1"/>
          </p:cNvSpPr>
          <p:nvPr>
            <p:ph type="subTitle" idx="1"/>
          </p:nvPr>
        </p:nvSpPr>
        <p:spPr>
          <a:xfrm>
            <a:off x="265500" y="27268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50" name="Google Shape;50;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Clr>
                <a:schemeClr val="lt1"/>
              </a:buClr>
              <a:buSzPts val="1800"/>
              <a:buChar char="●"/>
              <a:defRPr>
                <a:solidFill>
                  <a:schemeClr val="lt1"/>
                </a:solidFill>
              </a:defRPr>
            </a:lvl1pPr>
            <a:lvl2pPr marL="914400" lvl="1" indent="-317500">
              <a:spcBef>
                <a:spcPts val="0"/>
              </a:spcBef>
              <a:spcAft>
                <a:spcPts val="0"/>
              </a:spcAft>
              <a:buClr>
                <a:schemeClr val="lt1"/>
              </a:buClr>
              <a:buSzPts val="1400"/>
              <a:buChar char="○"/>
              <a:defRPr>
                <a:solidFill>
                  <a:schemeClr val="lt1"/>
                </a:solidFill>
              </a:defRPr>
            </a:lvl2pPr>
            <a:lvl3pPr marL="1371600" lvl="2" indent="-317500">
              <a:spcBef>
                <a:spcPts val="0"/>
              </a:spcBef>
              <a:spcAft>
                <a:spcPts val="0"/>
              </a:spcAft>
              <a:buClr>
                <a:schemeClr val="lt1"/>
              </a:buClr>
              <a:buSzPts val="1400"/>
              <a:buChar char="■"/>
              <a:defRPr>
                <a:solidFill>
                  <a:schemeClr val="lt1"/>
                </a:solidFill>
              </a:defRPr>
            </a:lvl3pPr>
            <a:lvl4pPr marL="1828800" lvl="3" indent="-317500">
              <a:spcBef>
                <a:spcPts val="0"/>
              </a:spcBef>
              <a:spcAft>
                <a:spcPts val="0"/>
              </a:spcAft>
              <a:buClr>
                <a:schemeClr val="lt1"/>
              </a:buClr>
              <a:buSzPts val="1400"/>
              <a:buChar char="●"/>
              <a:defRPr>
                <a:solidFill>
                  <a:schemeClr val="lt1"/>
                </a:solidFill>
              </a:defRPr>
            </a:lvl4pPr>
            <a:lvl5pPr marL="2286000" lvl="4" indent="-317500">
              <a:spcBef>
                <a:spcPts val="0"/>
              </a:spcBef>
              <a:spcAft>
                <a:spcPts val="0"/>
              </a:spcAft>
              <a:buClr>
                <a:schemeClr val="lt1"/>
              </a:buClr>
              <a:buSzPts val="1400"/>
              <a:buChar char="○"/>
              <a:defRPr>
                <a:solidFill>
                  <a:schemeClr val="lt1"/>
                </a:solidFill>
              </a:defRPr>
            </a:lvl5pPr>
            <a:lvl6pPr marL="2743200" lvl="5" indent="-317500">
              <a:spcBef>
                <a:spcPts val="0"/>
              </a:spcBef>
              <a:spcAft>
                <a:spcPts val="0"/>
              </a:spcAft>
              <a:buClr>
                <a:schemeClr val="lt1"/>
              </a:buClr>
              <a:buSzPts val="1400"/>
              <a:buChar char="■"/>
              <a:defRPr>
                <a:solidFill>
                  <a:schemeClr val="lt1"/>
                </a:solidFill>
              </a:defRPr>
            </a:lvl6pPr>
            <a:lvl7pPr marL="3200400" lvl="6" indent="-317500">
              <a:spcBef>
                <a:spcPts val="0"/>
              </a:spcBef>
              <a:spcAft>
                <a:spcPts val="0"/>
              </a:spcAft>
              <a:buClr>
                <a:schemeClr val="lt1"/>
              </a:buClr>
              <a:buSzPts val="1400"/>
              <a:buChar char="●"/>
              <a:defRPr>
                <a:solidFill>
                  <a:schemeClr val="lt1"/>
                </a:solidFill>
              </a:defRPr>
            </a:lvl7pPr>
            <a:lvl8pPr marL="3657600" lvl="7" indent="-317500">
              <a:spcBef>
                <a:spcPts val="0"/>
              </a:spcBef>
              <a:spcAft>
                <a:spcPts val="0"/>
              </a:spcAft>
              <a:buClr>
                <a:schemeClr val="lt1"/>
              </a:buClr>
              <a:buSzPts val="1400"/>
              <a:buChar char="○"/>
              <a:defRPr>
                <a:solidFill>
                  <a:schemeClr val="lt1"/>
                </a:solidFill>
              </a:defRPr>
            </a:lvl8pPr>
            <a:lvl9pPr marL="4114800" lvl="8" indent="-317500">
              <a:spcBef>
                <a:spcPts val="0"/>
              </a:spcBef>
              <a:spcAft>
                <a:spcPts val="0"/>
              </a:spcAft>
              <a:buClr>
                <a:schemeClr val="lt1"/>
              </a:buClr>
              <a:buSzPts val="1400"/>
              <a:buChar char="■"/>
              <a:defRPr>
                <a:solidFill>
                  <a:schemeClr val="lt1"/>
                </a:solidFill>
              </a:defRPr>
            </a:lvl9pPr>
          </a:lstStyle>
          <a:p>
            <a:endParaRPr/>
          </a:p>
        </p:txBody>
      </p:sp>
      <p:sp>
        <p:nvSpPr>
          <p:cNvPr id="51" name="Google Shape;51;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2"/>
        <p:cNvGrpSpPr/>
        <p:nvPr/>
      </p:nvGrpSpPr>
      <p:grpSpPr>
        <a:xfrm>
          <a:off x="0" y="0"/>
          <a:ext cx="0" cy="0"/>
          <a:chOff x="0" y="0"/>
          <a:chExt cx="0" cy="0"/>
        </a:xfrm>
      </p:grpSpPr>
      <p:sp>
        <p:nvSpPr>
          <p:cNvPr id="53" name="Google Shape;53;p10"/>
          <p:cNvSpPr txBox="1">
            <a:spLocks noGrp="1"/>
          </p:cNvSpPr>
          <p:nvPr>
            <p:ph type="body" idx="1"/>
          </p:nvPr>
        </p:nvSpPr>
        <p:spPr>
          <a:xfrm>
            <a:off x="311700" y="4230725"/>
            <a:ext cx="5998800" cy="5988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2400"/>
              <a:buFont typeface="PT Sans Narrow"/>
              <a:buNone/>
              <a:defRPr sz="2400">
                <a:latin typeface="PT Sans Narrow"/>
                <a:ea typeface="PT Sans Narrow"/>
                <a:cs typeface="PT Sans Narrow"/>
                <a:sym typeface="PT Sans Narrow"/>
              </a:defRPr>
            </a:lvl1pPr>
          </a:lstStyle>
          <a:p>
            <a:endParaRPr/>
          </a:p>
        </p:txBody>
      </p:sp>
      <p:sp>
        <p:nvSpPr>
          <p:cNvPr id="54" name="Google Shape;54;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5"/>
        <p:cNvGrpSpPr/>
        <p:nvPr/>
      </p:nvGrpSpPr>
      <p:grpSpPr>
        <a:xfrm>
          <a:off x="0" y="0"/>
          <a:ext cx="0" cy="0"/>
          <a:chOff x="0" y="0"/>
          <a:chExt cx="0" cy="0"/>
        </a:xfrm>
      </p:grpSpPr>
      <p:sp>
        <p:nvSpPr>
          <p:cNvPr id="56" name="Google Shape;56;p11"/>
          <p:cNvSpPr/>
          <p:nvPr/>
        </p:nvSpPr>
        <p:spPr>
          <a:xfrm>
            <a:off x="-75"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11"/>
          <p:cNvSpPr txBox="1">
            <a:spLocks noGrp="1"/>
          </p:cNvSpPr>
          <p:nvPr>
            <p:ph type="title" hasCustomPrompt="1"/>
          </p:nvPr>
        </p:nvSpPr>
        <p:spPr>
          <a:xfrm>
            <a:off x="311700" y="1304850"/>
            <a:ext cx="8520600" cy="1538400"/>
          </a:xfrm>
          <a:prstGeom prst="rect">
            <a:avLst/>
          </a:prstGeom>
        </p:spPr>
        <p:txBody>
          <a:bodyPr spcFirstLastPara="1" wrap="square" lIns="91425" tIns="91425" rIns="91425" bIns="91425" anchor="ctr" anchorCtr="0">
            <a:normAutofit/>
          </a:bodyPr>
          <a:lstStyle>
            <a:lvl1pPr lvl="0" algn="ctr">
              <a:spcBef>
                <a:spcPts val="0"/>
              </a:spcBef>
              <a:spcAft>
                <a:spcPts val="0"/>
              </a:spcAft>
              <a:buClr>
                <a:schemeClr val="accent3"/>
              </a:buClr>
              <a:buSzPts val="13000"/>
              <a:buNone/>
              <a:defRPr sz="13000">
                <a:solidFill>
                  <a:schemeClr val="accent3"/>
                </a:solidFill>
              </a:defRPr>
            </a:lvl1pPr>
            <a:lvl2pPr lvl="1" algn="ctr">
              <a:spcBef>
                <a:spcPts val="0"/>
              </a:spcBef>
              <a:spcAft>
                <a:spcPts val="0"/>
              </a:spcAft>
              <a:buClr>
                <a:schemeClr val="accent3"/>
              </a:buClr>
              <a:buSzPts val="13000"/>
              <a:buNone/>
              <a:defRPr sz="13000">
                <a:solidFill>
                  <a:schemeClr val="accent3"/>
                </a:solidFill>
              </a:defRPr>
            </a:lvl2pPr>
            <a:lvl3pPr lvl="2" algn="ctr">
              <a:spcBef>
                <a:spcPts val="0"/>
              </a:spcBef>
              <a:spcAft>
                <a:spcPts val="0"/>
              </a:spcAft>
              <a:buClr>
                <a:schemeClr val="accent3"/>
              </a:buClr>
              <a:buSzPts val="13000"/>
              <a:buNone/>
              <a:defRPr sz="13000">
                <a:solidFill>
                  <a:schemeClr val="accent3"/>
                </a:solidFill>
              </a:defRPr>
            </a:lvl3pPr>
            <a:lvl4pPr lvl="3" algn="ctr">
              <a:spcBef>
                <a:spcPts val="0"/>
              </a:spcBef>
              <a:spcAft>
                <a:spcPts val="0"/>
              </a:spcAft>
              <a:buClr>
                <a:schemeClr val="accent3"/>
              </a:buClr>
              <a:buSzPts val="13000"/>
              <a:buNone/>
              <a:defRPr sz="13000">
                <a:solidFill>
                  <a:schemeClr val="accent3"/>
                </a:solidFill>
              </a:defRPr>
            </a:lvl4pPr>
            <a:lvl5pPr lvl="4" algn="ctr">
              <a:spcBef>
                <a:spcPts val="0"/>
              </a:spcBef>
              <a:spcAft>
                <a:spcPts val="0"/>
              </a:spcAft>
              <a:buClr>
                <a:schemeClr val="accent3"/>
              </a:buClr>
              <a:buSzPts val="13000"/>
              <a:buNone/>
              <a:defRPr sz="13000">
                <a:solidFill>
                  <a:schemeClr val="accent3"/>
                </a:solidFill>
              </a:defRPr>
            </a:lvl5pPr>
            <a:lvl6pPr lvl="5" algn="ctr">
              <a:spcBef>
                <a:spcPts val="0"/>
              </a:spcBef>
              <a:spcAft>
                <a:spcPts val="0"/>
              </a:spcAft>
              <a:buClr>
                <a:schemeClr val="accent3"/>
              </a:buClr>
              <a:buSzPts val="13000"/>
              <a:buNone/>
              <a:defRPr sz="13000">
                <a:solidFill>
                  <a:schemeClr val="accent3"/>
                </a:solidFill>
              </a:defRPr>
            </a:lvl6pPr>
            <a:lvl7pPr lvl="6" algn="ctr">
              <a:spcBef>
                <a:spcPts val="0"/>
              </a:spcBef>
              <a:spcAft>
                <a:spcPts val="0"/>
              </a:spcAft>
              <a:buClr>
                <a:schemeClr val="accent3"/>
              </a:buClr>
              <a:buSzPts val="13000"/>
              <a:buNone/>
              <a:defRPr sz="13000">
                <a:solidFill>
                  <a:schemeClr val="accent3"/>
                </a:solidFill>
              </a:defRPr>
            </a:lvl7pPr>
            <a:lvl8pPr lvl="7" algn="ctr">
              <a:spcBef>
                <a:spcPts val="0"/>
              </a:spcBef>
              <a:spcAft>
                <a:spcPts val="0"/>
              </a:spcAft>
              <a:buClr>
                <a:schemeClr val="accent3"/>
              </a:buClr>
              <a:buSzPts val="13000"/>
              <a:buNone/>
              <a:defRPr sz="13000">
                <a:solidFill>
                  <a:schemeClr val="accent3"/>
                </a:solidFill>
              </a:defRPr>
            </a:lvl8pPr>
            <a:lvl9pPr lvl="8" algn="ctr">
              <a:spcBef>
                <a:spcPts val="0"/>
              </a:spcBef>
              <a:spcAft>
                <a:spcPts val="0"/>
              </a:spcAft>
              <a:buClr>
                <a:schemeClr val="accent3"/>
              </a:buClr>
              <a:buSzPts val="13000"/>
              <a:buNone/>
              <a:defRPr sz="13000">
                <a:solidFill>
                  <a:schemeClr val="accent3"/>
                </a:solidFill>
              </a:defRPr>
            </a:lvl9pPr>
          </a:lstStyle>
          <a:p>
            <a:r>
              <a:t>xx%</a:t>
            </a:r>
          </a:p>
        </p:txBody>
      </p:sp>
      <p:sp>
        <p:nvSpPr>
          <p:cNvPr id="58" name="Google Shape;58;p11"/>
          <p:cNvSpPr txBox="1">
            <a:spLocks noGrp="1"/>
          </p:cNvSpPr>
          <p:nvPr>
            <p:ph type="body" idx="1"/>
          </p:nvPr>
        </p:nvSpPr>
        <p:spPr>
          <a:xfrm>
            <a:off x="311700" y="2995650"/>
            <a:ext cx="8520600" cy="10716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59" name="Google Shape;59;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0"/>
        <p:cNvGrpSpPr/>
        <p:nvPr/>
      </p:nvGrpSpPr>
      <p:grpSpPr>
        <a:xfrm>
          <a:off x="0" y="0"/>
          <a:ext cx="0" cy="0"/>
          <a:chOff x="0" y="0"/>
          <a:chExt cx="0" cy="0"/>
        </a:xfrm>
      </p:grpSpPr>
      <p:sp>
        <p:nvSpPr>
          <p:cNvPr id="61" name="Google Shape;61;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ropic">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7074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1pPr>
            <a:lvl2pPr lvl="1">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2pPr>
            <a:lvl3pPr lvl="2">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3pPr>
            <a:lvl4pPr lvl="3">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4pPr>
            <a:lvl5pPr lvl="4">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5pPr>
            <a:lvl6pPr lvl="5">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6pPr>
            <a:lvl7pPr lvl="6">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7pPr>
            <a:lvl8pPr lvl="7">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8pPr>
            <a:lvl9pPr lvl="8">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9pPr>
          </a:lstStyle>
          <a:p>
            <a:endParaRPr/>
          </a:p>
        </p:txBody>
      </p:sp>
      <p:sp>
        <p:nvSpPr>
          <p:cNvPr id="7" name="Google Shape;7;p1"/>
          <p:cNvSpPr txBox="1">
            <a:spLocks noGrp="1"/>
          </p:cNvSpPr>
          <p:nvPr>
            <p:ph type="body" idx="1"/>
          </p:nvPr>
        </p:nvSpPr>
        <p:spPr>
          <a:xfrm>
            <a:off x="311700" y="1266325"/>
            <a:ext cx="8520600" cy="33027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Font typeface="Open Sans"/>
              <a:buChar char="●"/>
              <a:defRPr sz="1800">
                <a:solidFill>
                  <a:schemeClr val="dk2"/>
                </a:solidFill>
                <a:latin typeface="Open Sans"/>
                <a:ea typeface="Open Sans"/>
                <a:cs typeface="Open Sans"/>
                <a:sym typeface="Open Sans"/>
              </a:defRPr>
            </a:lvl1pPr>
            <a:lvl2pPr marL="914400" lvl="1"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2pPr>
            <a:lvl3pPr marL="1371600" lvl="2"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3pPr>
            <a:lvl4pPr marL="1828800" lvl="3"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4pPr>
            <a:lvl5pPr marL="2286000" lvl="4"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5pPr>
            <a:lvl6pPr marL="2743200" lvl="5"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6pPr>
            <a:lvl7pPr marL="3200400" lvl="6"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7pPr>
            <a:lvl8pPr marL="3657600" lvl="7"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8pPr>
            <a:lvl9pPr marL="4114800" lvl="8"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latin typeface="Open Sans"/>
                <a:ea typeface="Open Sans"/>
                <a:cs typeface="Open Sans"/>
                <a:sym typeface="Open Sans"/>
              </a:defRPr>
            </a:lvl1pPr>
            <a:lvl2pPr lvl="1" algn="r">
              <a:buNone/>
              <a:defRPr sz="1000">
                <a:solidFill>
                  <a:schemeClr val="dk2"/>
                </a:solidFill>
                <a:latin typeface="Open Sans"/>
                <a:ea typeface="Open Sans"/>
                <a:cs typeface="Open Sans"/>
                <a:sym typeface="Open Sans"/>
              </a:defRPr>
            </a:lvl2pPr>
            <a:lvl3pPr lvl="2" algn="r">
              <a:buNone/>
              <a:defRPr sz="1000">
                <a:solidFill>
                  <a:schemeClr val="dk2"/>
                </a:solidFill>
                <a:latin typeface="Open Sans"/>
                <a:ea typeface="Open Sans"/>
                <a:cs typeface="Open Sans"/>
                <a:sym typeface="Open Sans"/>
              </a:defRPr>
            </a:lvl3pPr>
            <a:lvl4pPr lvl="3" algn="r">
              <a:buNone/>
              <a:defRPr sz="1000">
                <a:solidFill>
                  <a:schemeClr val="dk2"/>
                </a:solidFill>
                <a:latin typeface="Open Sans"/>
                <a:ea typeface="Open Sans"/>
                <a:cs typeface="Open Sans"/>
                <a:sym typeface="Open Sans"/>
              </a:defRPr>
            </a:lvl4pPr>
            <a:lvl5pPr lvl="4" algn="r">
              <a:buNone/>
              <a:defRPr sz="1000">
                <a:solidFill>
                  <a:schemeClr val="dk2"/>
                </a:solidFill>
                <a:latin typeface="Open Sans"/>
                <a:ea typeface="Open Sans"/>
                <a:cs typeface="Open Sans"/>
                <a:sym typeface="Open Sans"/>
              </a:defRPr>
            </a:lvl5pPr>
            <a:lvl6pPr lvl="5" algn="r">
              <a:buNone/>
              <a:defRPr sz="1000">
                <a:solidFill>
                  <a:schemeClr val="dk2"/>
                </a:solidFill>
                <a:latin typeface="Open Sans"/>
                <a:ea typeface="Open Sans"/>
                <a:cs typeface="Open Sans"/>
                <a:sym typeface="Open Sans"/>
              </a:defRPr>
            </a:lvl6pPr>
            <a:lvl7pPr lvl="6" algn="r">
              <a:buNone/>
              <a:defRPr sz="1000">
                <a:solidFill>
                  <a:schemeClr val="dk2"/>
                </a:solidFill>
                <a:latin typeface="Open Sans"/>
                <a:ea typeface="Open Sans"/>
                <a:cs typeface="Open Sans"/>
                <a:sym typeface="Open Sans"/>
              </a:defRPr>
            </a:lvl7pPr>
            <a:lvl8pPr lvl="7" algn="r">
              <a:buNone/>
              <a:defRPr sz="1000">
                <a:solidFill>
                  <a:schemeClr val="dk2"/>
                </a:solidFill>
                <a:latin typeface="Open Sans"/>
                <a:ea typeface="Open Sans"/>
                <a:cs typeface="Open Sans"/>
                <a:sym typeface="Open Sans"/>
              </a:defRPr>
            </a:lvl8pPr>
            <a:lvl9pPr lvl="8" algn="r">
              <a:buNone/>
              <a:defRPr sz="1000">
                <a:solidFill>
                  <a:schemeClr val="dk2"/>
                </a:solidFill>
                <a:latin typeface="Open Sans"/>
                <a:ea typeface="Open Sans"/>
                <a:cs typeface="Open Sans"/>
                <a:sym typeface="Open Sans"/>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0.png"/><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8" Type="http://schemas.openxmlformats.org/officeDocument/2006/relationships/hyperlink" Target="https://www.slido.com/powerpoint-polling?utm_source=powerpoint&amp;utm_medium=placeholder-slide" TargetMode="External"/><Relationship Id="rId3" Type="http://schemas.openxmlformats.org/officeDocument/2006/relationships/tags" Target="../tags/tag4.xml"/><Relationship Id="rId7" Type="http://schemas.openxmlformats.org/officeDocument/2006/relationships/image" Target="../media/image3.svg"/><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slideLayout" Target="../slideLayouts/slideLayout11.xml"/><Relationship Id="rId11" Type="http://schemas.openxmlformats.org/officeDocument/2006/relationships/image" Target="../media/image5.svg"/><Relationship Id="rId5" Type="http://schemas.openxmlformats.org/officeDocument/2006/relationships/tags" Target="../tags/tag6.xml"/><Relationship Id="rId10" Type="http://schemas.openxmlformats.org/officeDocument/2006/relationships/hyperlink" Target="https://www.slido.com/support/ppi/how-to-change-the-design" TargetMode="External"/><Relationship Id="rId4" Type="http://schemas.openxmlformats.org/officeDocument/2006/relationships/tags" Target="../tags/tag5.xml"/><Relationship Id="rId9" Type="http://schemas.openxmlformats.org/officeDocument/2006/relationships/image" Target="../media/image4.svg"/></Relationships>
</file>

<file path=ppt/slides/_rels/slide16.xml.rels><?xml version="1.0" encoding="UTF-8" standalone="yes"?>
<Relationships xmlns="http://schemas.openxmlformats.org/package/2006/relationships"><Relationship Id="rId8" Type="http://schemas.openxmlformats.org/officeDocument/2006/relationships/hyperlink" Target="https://www.slido.com/powerpoint-polling?utm_source=powerpoint&amp;utm_medium=placeholder-slide" TargetMode="External"/><Relationship Id="rId3" Type="http://schemas.openxmlformats.org/officeDocument/2006/relationships/tags" Target="../tags/tag9.xml"/><Relationship Id="rId7" Type="http://schemas.openxmlformats.org/officeDocument/2006/relationships/image" Target="../media/image3.svg"/><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slideLayout" Target="../slideLayouts/slideLayout11.xml"/><Relationship Id="rId11" Type="http://schemas.openxmlformats.org/officeDocument/2006/relationships/image" Target="../media/image5.svg"/><Relationship Id="rId5" Type="http://schemas.openxmlformats.org/officeDocument/2006/relationships/tags" Target="../tags/tag11.xml"/><Relationship Id="rId10" Type="http://schemas.openxmlformats.org/officeDocument/2006/relationships/hyperlink" Target="https://www.slido.com/support/ppi/how-to-change-the-design" TargetMode="External"/><Relationship Id="rId4" Type="http://schemas.openxmlformats.org/officeDocument/2006/relationships/tags" Target="../tags/tag10.xml"/><Relationship Id="rId9" Type="http://schemas.openxmlformats.org/officeDocument/2006/relationships/image" Target="../media/image4.sv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8" Type="http://schemas.openxmlformats.org/officeDocument/2006/relationships/hyperlink" Target="https://www.slido.com/powerpoint-polling?utm_source=powerpoint&amp;utm_medium=placeholder-slide" TargetMode="External"/><Relationship Id="rId3" Type="http://schemas.openxmlformats.org/officeDocument/2006/relationships/tags" Target="../tags/tag14.xml"/><Relationship Id="rId7" Type="http://schemas.openxmlformats.org/officeDocument/2006/relationships/image" Target="../media/image3.svg"/><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slideLayout" Target="../slideLayouts/slideLayout11.xml"/><Relationship Id="rId11" Type="http://schemas.openxmlformats.org/officeDocument/2006/relationships/image" Target="../media/image5.svg"/><Relationship Id="rId5" Type="http://schemas.openxmlformats.org/officeDocument/2006/relationships/tags" Target="../tags/tag16.xml"/><Relationship Id="rId10" Type="http://schemas.openxmlformats.org/officeDocument/2006/relationships/hyperlink" Target="https://www.slido.com/support/ppi/how-to-change-the-design" TargetMode="External"/><Relationship Id="rId4" Type="http://schemas.openxmlformats.org/officeDocument/2006/relationships/tags" Target="../tags/tag15.xml"/><Relationship Id="rId9" Type="http://schemas.openxmlformats.org/officeDocument/2006/relationships/image" Target="../media/image4.sv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xml"/><Relationship Id="rId1" Type="http://schemas.openxmlformats.org/officeDocument/2006/relationships/slideLayout" Target="../slideLayouts/slideLayout3.xml"/><Relationship Id="rId5" Type="http://schemas.openxmlformats.org/officeDocument/2006/relationships/image" Target="../media/image45.png"/><Relationship Id="rId4" Type="http://schemas.openxmlformats.org/officeDocument/2006/relationships/image" Target="../media/image2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8" Type="http://schemas.openxmlformats.org/officeDocument/2006/relationships/hyperlink" Target="https://www.slido.com/powerpoint-polling?utm_source=powerpoint&amp;utm_medium=placeholder-slide" TargetMode="External"/><Relationship Id="rId3" Type="http://schemas.openxmlformats.org/officeDocument/2006/relationships/tags" Target="../tags/tag19.xml"/><Relationship Id="rId7" Type="http://schemas.openxmlformats.org/officeDocument/2006/relationships/image" Target="../media/image3.svg"/><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slideLayout" Target="../slideLayouts/slideLayout11.xml"/><Relationship Id="rId11" Type="http://schemas.openxmlformats.org/officeDocument/2006/relationships/image" Target="../media/image5.svg"/><Relationship Id="rId5" Type="http://schemas.openxmlformats.org/officeDocument/2006/relationships/tags" Target="../tags/tag21.xml"/><Relationship Id="rId10" Type="http://schemas.openxmlformats.org/officeDocument/2006/relationships/hyperlink" Target="https://www.slido.com/support/ppi/how-to-change-the-design" TargetMode="External"/><Relationship Id="rId4" Type="http://schemas.openxmlformats.org/officeDocument/2006/relationships/tags" Target="../tags/tag20.xml"/><Relationship Id="rId9" Type="http://schemas.openxmlformats.org/officeDocument/2006/relationships/image" Target="../media/image4.sv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8" Type="http://schemas.openxmlformats.org/officeDocument/2006/relationships/hyperlink" Target="https://www.slido.com/powerpoint-polling?utm_source=powerpoint&amp;utm_medium=placeholder-slide" TargetMode="External"/><Relationship Id="rId3" Type="http://schemas.openxmlformats.org/officeDocument/2006/relationships/tags" Target="../tags/tag24.xml"/><Relationship Id="rId7" Type="http://schemas.openxmlformats.org/officeDocument/2006/relationships/image" Target="../media/image3.svg"/><Relationship Id="rId2" Type="http://schemas.openxmlformats.org/officeDocument/2006/relationships/tags" Target="../tags/tag23.xml"/><Relationship Id="rId1" Type="http://schemas.openxmlformats.org/officeDocument/2006/relationships/tags" Target="../tags/tag22.xml"/><Relationship Id="rId6" Type="http://schemas.openxmlformats.org/officeDocument/2006/relationships/slideLayout" Target="../slideLayouts/slideLayout11.xml"/><Relationship Id="rId11" Type="http://schemas.openxmlformats.org/officeDocument/2006/relationships/image" Target="../media/image5.svg"/><Relationship Id="rId5" Type="http://schemas.openxmlformats.org/officeDocument/2006/relationships/tags" Target="../tags/tag26.xml"/><Relationship Id="rId10" Type="http://schemas.openxmlformats.org/officeDocument/2006/relationships/hyperlink" Target="https://www.slido.com/support/ppi/how-to-change-the-design" TargetMode="External"/><Relationship Id="rId4" Type="http://schemas.openxmlformats.org/officeDocument/2006/relationships/tags" Target="../tags/tag25.xml"/><Relationship Id="rId9" Type="http://schemas.openxmlformats.org/officeDocument/2006/relationships/image" Target="../media/image4.svg"/></Relationships>
</file>

<file path=ppt/slides/_rels/slide41.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3.xml"/><Relationship Id="rId6" Type="http://schemas.openxmlformats.org/officeDocument/2006/relationships/image" Target="../media/image67.png"/><Relationship Id="rId5" Type="http://schemas.openxmlformats.org/officeDocument/2006/relationships/image" Target="../media/image66.png"/><Relationship Id="rId4" Type="http://schemas.openxmlformats.org/officeDocument/2006/relationships/image" Target="../media/image6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13"/>
          <p:cNvSpPr txBox="1">
            <a:spLocks noGrp="1"/>
          </p:cNvSpPr>
          <p:nvPr>
            <p:ph type="ctrTitle"/>
          </p:nvPr>
        </p:nvSpPr>
        <p:spPr>
          <a:xfrm>
            <a:off x="1004150" y="1751764"/>
            <a:ext cx="7136700" cy="1022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sz="4400" dirty="0"/>
              <a:t>Lab 7 – Singular Value Decomposition</a:t>
            </a:r>
            <a:endParaRPr sz="4400" dirty="0"/>
          </a:p>
        </p:txBody>
      </p:sp>
      <p:sp>
        <p:nvSpPr>
          <p:cNvPr id="67" name="Google Shape;67;p13"/>
          <p:cNvSpPr txBox="1">
            <a:spLocks noGrp="1"/>
          </p:cNvSpPr>
          <p:nvPr>
            <p:ph type="subTitle" idx="1"/>
          </p:nvPr>
        </p:nvSpPr>
        <p:spPr>
          <a:xfrm>
            <a:off x="2137225" y="2850039"/>
            <a:ext cx="48705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US" dirty="0"/>
              <a:t>CS 506</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B20938-FD2D-6F2B-3589-8BD35E2BF006}"/>
              </a:ext>
            </a:extLst>
          </p:cNvPr>
          <p:cNvSpPr>
            <a:spLocks noGrp="1"/>
          </p:cNvSpPr>
          <p:nvPr>
            <p:ph type="title"/>
          </p:nvPr>
        </p:nvSpPr>
        <p:spPr/>
        <p:txBody>
          <a:bodyPr>
            <a:normAutofit fontScale="90000"/>
          </a:bodyPr>
          <a:lstStyle/>
          <a:p>
            <a:r>
              <a:rPr lang="en-US" dirty="0"/>
              <a:t>Quick Review: Matrix Multiplication</a:t>
            </a:r>
          </a:p>
        </p:txBody>
      </p:sp>
      <p:sp>
        <p:nvSpPr>
          <p:cNvPr id="3" name="Text Placeholder 2">
            <a:extLst>
              <a:ext uri="{FF2B5EF4-FFF2-40B4-BE49-F238E27FC236}">
                <a16:creationId xmlns:a16="http://schemas.microsoft.com/office/drawing/2014/main" id="{CA371C69-FF63-92EF-9158-86BFFBAFEDFE}"/>
              </a:ext>
            </a:extLst>
          </p:cNvPr>
          <p:cNvSpPr>
            <a:spLocks noGrp="1"/>
          </p:cNvSpPr>
          <p:nvPr>
            <p:ph type="body" idx="1"/>
          </p:nvPr>
        </p:nvSpPr>
        <p:spPr/>
        <p:txBody>
          <a:bodyPr/>
          <a:lstStyle/>
          <a:p>
            <a:r>
              <a:rPr lang="en-US" dirty="0"/>
              <a:t>A is n × m and B is m × p → the product AB is n × p (the inner dimensions must match)</a:t>
            </a:r>
          </a:p>
          <a:p>
            <a:r>
              <a:rPr lang="en-US" dirty="0"/>
              <a:t>Each entry of AB is the dot product of a row of A and a column of B</a:t>
            </a:r>
          </a:p>
        </p:txBody>
      </p:sp>
      <p:pic>
        <p:nvPicPr>
          <p:cNvPr id="10" name="Equation"/>
          <p:cNvPicPr>
            <a:picLocks noChangeAspect="1"/>
          </p:cNvPicPr>
          <p:nvPr/>
        </p:nvPicPr>
        <p:blipFill>
          <a:blip r:embed="rId2"/>
          <a:stretch>
            <a:fillRect/>
          </a:stretch>
        </p:blipFill>
        <p:spPr>
          <a:xfrm>
            <a:off x="2535563" y="2788920"/>
            <a:ext cx="4072873" cy="1143000"/>
          </a:xfrm>
          <a:prstGeom prst="rect">
            <a:avLst/>
          </a:prstGeom>
        </p:spPr>
      </p:pic>
    </p:spTree>
    <p:extLst>
      <p:ext uri="{BB962C8B-B14F-4D97-AF65-F5344CB8AC3E}">
        <p14:creationId xmlns:p14="http://schemas.microsoft.com/office/powerpoint/2010/main" val="21903175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B20938-FD2D-6F2B-3589-8BD35E2BF006}"/>
              </a:ext>
            </a:extLst>
          </p:cNvPr>
          <p:cNvSpPr>
            <a:spLocks noGrp="1"/>
          </p:cNvSpPr>
          <p:nvPr>
            <p:ph type="title"/>
          </p:nvPr>
        </p:nvSpPr>
        <p:spPr/>
        <p:txBody>
          <a:bodyPr>
            <a:normAutofit fontScale="90000"/>
          </a:bodyPr>
          <a:lstStyle/>
          <a:p>
            <a:r>
              <a:rPr lang="en-US" dirty="0"/>
              <a:t>Quick Review: Dot Product</a:t>
            </a:r>
          </a:p>
        </p:txBody>
      </p:sp>
      <p:sp>
        <p:nvSpPr>
          <p:cNvPr id="3" name="Text Placeholder 2">
            <a:extLst>
              <a:ext uri="{FF2B5EF4-FFF2-40B4-BE49-F238E27FC236}">
                <a16:creationId xmlns:a16="http://schemas.microsoft.com/office/drawing/2014/main" id="{CA371C69-FF63-92EF-9158-86BFFBAFEDFE}"/>
              </a:ext>
            </a:extLst>
          </p:cNvPr>
          <p:cNvSpPr>
            <a:spLocks noGrp="1"/>
          </p:cNvSpPr>
          <p:nvPr>
            <p:ph type="body" idx="1"/>
          </p:nvPr>
        </p:nvSpPr>
        <p:spPr/>
        <p:txBody>
          <a:bodyPr/>
          <a:lstStyle/>
          <a:p>
            <a:r>
              <a:rPr lang="en-US" dirty="0"/>
              <a:t>Algebraically: multiply matching entries and add them up — the result is a single number (a scalar)</a:t>
            </a:r>
          </a:p>
          <a:p>
            <a:r>
              <a:rPr lang="en-US" dirty="0"/>
              <a:t>Geometrically: it measures how much two vectors point in the same direction</a:t>
            </a:r>
          </a:p>
        </p:txBody>
      </p:sp>
      <p:pic>
        <p:nvPicPr>
          <p:cNvPr id="10" name="Equation"/>
          <p:cNvPicPr>
            <a:picLocks noChangeAspect="1"/>
          </p:cNvPicPr>
          <p:nvPr/>
        </p:nvPicPr>
        <p:blipFill>
          <a:blip r:embed="rId2"/>
          <a:stretch>
            <a:fillRect/>
          </a:stretch>
        </p:blipFill>
        <p:spPr>
          <a:xfrm>
            <a:off x="1855487" y="2788920"/>
            <a:ext cx="5433026" cy="1143000"/>
          </a:xfrm>
          <a:prstGeom prst="rect">
            <a:avLst/>
          </a:prstGeom>
        </p:spPr>
      </p:pic>
      <p:sp>
        <p:nvSpPr>
          <p:cNvPr id="11" name="Closing Text"/>
          <p:cNvSpPr txBox="1"/>
          <p:nvPr/>
        </p:nvSpPr>
        <p:spPr>
          <a:xfrm>
            <a:off x="311700" y="3968496"/>
            <a:ext cx="8520600" cy="900000"/>
          </a:xfrm>
          <a:prstGeom prst="rect">
            <a:avLst/>
          </a:prstGeom>
        </p:spPr>
        <p:txBody>
          <a:bodyPr wrap="square">
            <a:normAutofit/>
          </a:bodyPr>
          <a:lstStyle/>
          <a:p>
            <a:r>
              <a:rPr lang="en-US" sz="1400" dirty="0">
                <a:solidFill>
                  <a:srgbClr val="695D46"/>
                </a:solidFill>
              </a:rPr>
              <a:t>Rearranging gives cos θ = (a ⋅ b) / (|a||b|) — the formula behind the cosine similarity we’ll use to compare documents</a:t>
            </a:r>
          </a:p>
        </p:txBody>
      </p:sp>
    </p:spTree>
    <p:extLst>
      <p:ext uri="{BB962C8B-B14F-4D97-AF65-F5344CB8AC3E}">
        <p14:creationId xmlns:p14="http://schemas.microsoft.com/office/powerpoint/2010/main" val="21903175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B20938-FD2D-6F2B-3589-8BD35E2BF006}"/>
              </a:ext>
            </a:extLst>
          </p:cNvPr>
          <p:cNvSpPr>
            <a:spLocks noGrp="1"/>
          </p:cNvSpPr>
          <p:nvPr>
            <p:ph type="title"/>
          </p:nvPr>
        </p:nvSpPr>
        <p:spPr/>
        <p:txBody>
          <a:bodyPr>
            <a:normAutofit fontScale="90000"/>
          </a:bodyPr>
          <a:lstStyle/>
          <a:p>
            <a:r>
              <a:rPr lang="en-US" dirty="0"/>
              <a:t>Feature Extraction</a:t>
            </a:r>
          </a:p>
        </p:txBody>
      </p:sp>
      <p:sp>
        <p:nvSpPr>
          <p:cNvPr id="3" name="Text Placeholder 2">
            <a:extLst>
              <a:ext uri="{FF2B5EF4-FFF2-40B4-BE49-F238E27FC236}">
                <a16:creationId xmlns:a16="http://schemas.microsoft.com/office/drawing/2014/main" id="{CA371C69-FF63-92EF-9158-86BFFBAFEDFE}"/>
              </a:ext>
            </a:extLst>
          </p:cNvPr>
          <p:cNvSpPr>
            <a:spLocks noGrp="1"/>
          </p:cNvSpPr>
          <p:nvPr>
            <p:ph type="body" idx="1"/>
          </p:nvPr>
        </p:nvSpPr>
        <p:spPr/>
        <p:txBody>
          <a:bodyPr/>
          <a:lstStyle/>
          <a:p>
            <a:r>
              <a:rPr lang="en-US" dirty="0"/>
              <a:t>Uncovering relevant features for the task at hand</a:t>
            </a:r>
          </a:p>
          <a:p>
            <a:r>
              <a:rPr lang="en-US" dirty="0"/>
              <a:t>Typically desire high variance, low correlation data</a:t>
            </a:r>
          </a:p>
        </p:txBody>
      </p:sp>
    </p:spTree>
    <p:extLst>
      <p:ext uri="{BB962C8B-B14F-4D97-AF65-F5344CB8AC3E}">
        <p14:creationId xmlns:p14="http://schemas.microsoft.com/office/powerpoint/2010/main" val="21903175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3F738C-3723-873E-FC4D-E7DDCA9B4A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FDCD05-C6CD-4E72-478F-008918820516}"/>
              </a:ext>
            </a:extLst>
          </p:cNvPr>
          <p:cNvSpPr>
            <a:spLocks noGrp="1"/>
          </p:cNvSpPr>
          <p:nvPr>
            <p:ph type="title"/>
          </p:nvPr>
        </p:nvSpPr>
        <p:spPr/>
        <p:txBody>
          <a:bodyPr>
            <a:normAutofit fontScale="90000"/>
          </a:bodyPr>
          <a:lstStyle/>
          <a:p>
            <a:r>
              <a:rPr lang="en-US" dirty="0"/>
              <a:t>Structure of dataset</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CBA0D00C-C466-031C-4B33-9C6A504FE7F3}"/>
                  </a:ext>
                </a:extLst>
              </p:cNvPr>
              <p:cNvSpPr>
                <a:spLocks noGrp="1"/>
              </p:cNvSpPr>
              <p:nvPr>
                <p:ph type="body" idx="1"/>
              </p:nvPr>
            </p:nvSpPr>
            <p:spPr/>
            <p:txBody>
              <a:bodyPr/>
              <a:lstStyle/>
              <a:p>
                <a:pPr marL="114300" indent="0">
                  <a:buNone/>
                </a:pPr>
                <a14:m>
                  <m:oMathPara xmlns:m="http://schemas.openxmlformats.org/officeDocument/2006/math">
                    <m:oMath>
                      <m:r>
                        <a:rPr lang="en-US" b="0" i="1" smtClean="0">
                          <a:latin typeface="Cambria Math" panose="02040503050406030204" pitchFamily="18" charset="0"/>
                        </a:rPr>
                        <m:t> </m:t>
                      </m:r>
                      <m:d>
                        <m:dPr>
                          <m:ctrlPr>
                            <a:rPr lang="en-US" b="0" i="1" smtClean="0">
                              <a:latin typeface="Cambria Math" panose="02040503050406030204" pitchFamily="18" charset="0"/>
                            </a:rPr>
                          </m:ctrlPr>
                        </m:dPr>
                        <m:e>
                          <m:m>
                            <m:mPr>
                              <m:plcHide m:val="on"/>
                              <m:mcs>
                                <m:mc>
                                  <m:mcPr>
                                    <m:count m:val="5"/>
                                    <m:mcJc m:val="center"/>
                                  </m:mcPr>
                                </m:mc>
                              </m:mcs>
                              <m:ctrlPr>
                                <a:rPr lang="en-US" b="0" i="1" smtClean="0">
                                  <a:latin typeface="Cambria Math" panose="02040503050406030204" pitchFamily="18" charset="0"/>
                                </a:rPr>
                              </m:ctrlPr>
                            </m:mPr>
                            <m:m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11</m:t>
                                    </m:r>
                                  </m:sub>
                                </m:sSub>
                              </m:e>
                              <m:e>
                                <m:r>
                                  <a:rPr lang="en-US" b="0" i="1" smtClean="0">
                                    <a:latin typeface="Cambria Math" panose="02040503050406030204" pitchFamily="18" charset="0"/>
                                  </a:rPr>
                                  <m:t>⋯</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r>
                                      <a:rPr lang="en-US" b="0" i="1" smtClean="0">
                                        <a:latin typeface="Cambria Math" panose="02040503050406030204" pitchFamily="18" charset="0"/>
                                      </a:rPr>
                                      <m:t>𝑗</m:t>
                                    </m:r>
                                  </m:sub>
                                </m:sSub>
                              </m:e>
                              <m:e>
                                <m:r>
                                  <a:rPr lang="en-US" b="0" i="1" smtClean="0">
                                    <a:latin typeface="Cambria Math" panose="02040503050406030204" pitchFamily="18" charset="0"/>
                                  </a:rPr>
                                  <m:t>⋯</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r>
                                      <a:rPr lang="en-US" b="0" i="1" smtClean="0">
                                        <a:latin typeface="Cambria Math" panose="02040503050406030204" pitchFamily="18" charset="0"/>
                                      </a:rPr>
                                      <m:t>𝑚</m:t>
                                    </m:r>
                                  </m:sub>
                                </m:sSub>
                              </m:e>
                            </m:mr>
                            <m:mr>
                              <m:e>
                                <m:r>
                                  <a:rPr lang="en-US" b="0" i="1" smtClean="0">
                                    <a:latin typeface="Cambria Math" panose="02040503050406030204" pitchFamily="18" charset="0"/>
                                  </a:rPr>
                                  <m:t>⋮</m:t>
                                </m:r>
                              </m:e>
                              <m:e>
                                <m:r>
                                  <a:rPr lang="en-US" b="0" i="1" smtClean="0">
                                    <a:latin typeface="Cambria Math" panose="02040503050406030204" pitchFamily="18" charset="0"/>
                                  </a:rPr>
                                  <m:t>⋱</m:t>
                                </m:r>
                              </m:e>
                              <m:e>
                                <m:r>
                                  <a:rPr lang="en-US" b="0" i="1" smtClean="0">
                                    <a:latin typeface="Cambria Math" panose="02040503050406030204" pitchFamily="18" charset="0"/>
                                  </a:rPr>
                                  <m:t>⋮</m:t>
                                </m:r>
                              </m:e>
                              <m:e>
                                <m:r>
                                  <a:rPr lang="en-US" b="0" i="1" smtClean="0">
                                    <a:latin typeface="Cambria Math" panose="02040503050406030204" pitchFamily="18" charset="0"/>
                                  </a:rPr>
                                  <m:t>⋱</m:t>
                                </m:r>
                              </m:e>
                              <m:e>
                                <m:r>
                                  <a:rPr lang="en-US" b="0" i="1" smtClean="0">
                                    <a:latin typeface="Cambria Math" panose="02040503050406030204" pitchFamily="18" charset="0"/>
                                  </a:rPr>
                                  <m:t>⋮</m:t>
                                </m:r>
                              </m:e>
                            </m:mr>
                            <m:m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r>
                                      <a:rPr lang="en-US" b="0" i="1" smtClean="0">
                                        <a:latin typeface="Cambria Math" panose="02040503050406030204" pitchFamily="18" charset="0"/>
                                      </a:rPr>
                                      <m:t>1</m:t>
                                    </m:r>
                                  </m:sub>
                                </m:sSub>
                              </m:e>
                              <m:e>
                                <m:r>
                                  <a:rPr lang="en-US" b="0" i="1" smtClean="0">
                                    <a:latin typeface="Cambria Math" panose="02040503050406030204" pitchFamily="18" charset="0"/>
                                  </a:rPr>
                                  <m:t>⋯</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𝑖𝑗</m:t>
                                    </m:r>
                                  </m:sub>
                                </m:sSub>
                              </m:e>
                              <m:e>
                                <m:r>
                                  <a:rPr lang="en-US" b="0" i="1" smtClean="0">
                                    <a:latin typeface="Cambria Math" panose="02040503050406030204" pitchFamily="18" charset="0"/>
                                  </a:rPr>
                                  <m:t>⋯</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𝑖𝑚</m:t>
                                    </m:r>
                                  </m:sub>
                                </m:sSub>
                              </m:e>
                            </m:mr>
                            <m:mr>
                              <m:e>
                                <m:r>
                                  <a:rPr lang="en-US" i="1">
                                    <a:latin typeface="Cambria Math" panose="02040503050406030204" pitchFamily="18" charset="0"/>
                                  </a:rPr>
                                  <m:t>⋮</m:t>
                                </m:r>
                              </m:e>
                              <m:e>
                                <m:r>
                                  <a:rPr lang="en-US" b="0" i="1" smtClean="0">
                                    <a:latin typeface="Cambria Math" panose="02040503050406030204" pitchFamily="18" charset="0"/>
                                  </a:rPr>
                                  <m:t>⋱</m:t>
                                </m:r>
                              </m:e>
                              <m:e>
                                <m:r>
                                  <a:rPr lang="en-US" i="1">
                                    <a:latin typeface="Cambria Math" panose="02040503050406030204" pitchFamily="18" charset="0"/>
                                  </a:rPr>
                                  <m:t>⋮</m:t>
                                </m:r>
                              </m:e>
                              <m:e>
                                <m:r>
                                  <a:rPr lang="en-US" b="0" i="1" smtClean="0">
                                    <a:latin typeface="Cambria Math" panose="02040503050406030204" pitchFamily="18" charset="0"/>
                                  </a:rPr>
                                  <m:t>⋱</m:t>
                                </m:r>
                              </m:e>
                              <m:e>
                                <m:r>
                                  <a:rPr lang="en-US" i="1">
                                    <a:latin typeface="Cambria Math" panose="02040503050406030204" pitchFamily="18" charset="0"/>
                                  </a:rPr>
                                  <m:t>⋮</m:t>
                                </m:r>
                              </m:e>
                            </m:mr>
                            <m:m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𝑛</m:t>
                                    </m:r>
                                    <m:r>
                                      <a:rPr lang="en-US" b="0" i="1" smtClean="0">
                                        <a:latin typeface="Cambria Math" panose="02040503050406030204" pitchFamily="18" charset="0"/>
                                      </a:rPr>
                                      <m:t>1</m:t>
                                    </m:r>
                                  </m:sub>
                                </m:sSub>
                              </m:e>
                              <m:e>
                                <m:r>
                                  <a:rPr lang="en-US" b="0" i="1" smtClean="0">
                                    <a:latin typeface="Cambria Math" panose="02040503050406030204" pitchFamily="18" charset="0"/>
                                  </a:rPr>
                                  <m:t>⋯</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𝑛𝑗</m:t>
                                    </m:r>
                                  </m:sub>
                                </m:sSub>
                              </m:e>
                              <m:e>
                                <m:r>
                                  <a:rPr lang="en-US" b="0" i="1" smtClean="0">
                                    <a:latin typeface="Cambria Math" panose="02040503050406030204" pitchFamily="18" charset="0"/>
                                  </a:rPr>
                                  <m:t>⋯</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𝑛𝑚</m:t>
                                    </m:r>
                                  </m:sub>
                                </m:sSub>
                              </m:e>
                            </m:mr>
                          </m:m>
                        </m:e>
                      </m:d>
                    </m:oMath>
                  </m:oMathPara>
                </a14:m>
                <a:endParaRPr lang="en-US" dirty="0"/>
              </a:p>
            </p:txBody>
          </p:sp>
        </mc:Choice>
        <mc:Fallback xmlns="">
          <p:sp>
            <p:nvSpPr>
              <p:cNvPr id="3" name="Text Placeholder 2">
                <a:extLst>
                  <a:ext uri="{FF2B5EF4-FFF2-40B4-BE49-F238E27FC236}">
                    <a16:creationId xmlns:a16="http://schemas.microsoft.com/office/drawing/2014/main" id="{CBA0D00C-C466-031C-4B33-9C6A504FE7F3}"/>
                  </a:ext>
                </a:extLst>
              </p:cNvPr>
              <p:cNvSpPr>
                <a:spLocks noGrp="1" noRot="1" noChangeAspect="1" noMove="1" noResize="1" noEditPoints="1" noAdjustHandles="1" noChangeArrowheads="1" noChangeShapeType="1" noTextEdit="1"/>
              </p:cNvSpPr>
              <p:nvPr>
                <p:ph type="body" idx="1"/>
              </p:nvPr>
            </p:nvSpPr>
            <p:spPr>
              <a:blipFill>
                <a:blip r:embed="rId2"/>
                <a:stretch>
                  <a:fillRect/>
                </a:stretch>
              </a:blipFill>
            </p:spPr>
            <p:txBody>
              <a:bodyPr/>
              <a:lstStyle/>
              <a:p>
                <a:r>
                  <a:rPr lang="en-US">
                    <a:noFill/>
                  </a:rPr>
                  <a:t> </a:t>
                </a:r>
              </a:p>
            </p:txBody>
          </p:sp>
        </mc:Fallback>
      </mc:AlternateContent>
      <p:sp>
        <p:nvSpPr>
          <p:cNvPr id="4" name="Left Brace 3">
            <a:extLst>
              <a:ext uri="{FF2B5EF4-FFF2-40B4-BE49-F238E27FC236}">
                <a16:creationId xmlns:a16="http://schemas.microsoft.com/office/drawing/2014/main" id="{957DA592-3579-1BB6-4ED6-F5D71F786D8E}"/>
              </a:ext>
            </a:extLst>
          </p:cNvPr>
          <p:cNvSpPr/>
          <p:nvPr/>
        </p:nvSpPr>
        <p:spPr>
          <a:xfrm>
            <a:off x="3031958" y="1513991"/>
            <a:ext cx="128336" cy="1403684"/>
          </a:xfrm>
          <a:prstGeom prst="leftBrace">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4D7D4237-9796-1D38-A8DE-B555A865EF09}"/>
                  </a:ext>
                </a:extLst>
              </p:cNvPr>
              <p:cNvSpPr txBox="1"/>
              <p:nvPr/>
            </p:nvSpPr>
            <p:spPr>
              <a:xfrm>
                <a:off x="1796714" y="2061944"/>
                <a:ext cx="1427748" cy="307777"/>
              </a:xfrm>
              <a:prstGeom prst="rect">
                <a:avLst/>
              </a:prstGeom>
              <a:noFill/>
            </p:spPr>
            <p:txBody>
              <a:bodyPr wrap="square" rtlCol="0">
                <a:spAutoFit/>
              </a:bodyPr>
              <a:lstStyle/>
              <a:p>
                <a14:m>
                  <m:oMath xmlns:m="http://schemas.openxmlformats.org/officeDocument/2006/math">
                    <m:r>
                      <a:rPr lang="en-US" i="1" dirty="0" smtClean="0">
                        <a:solidFill>
                          <a:schemeClr val="bg2"/>
                        </a:solidFill>
                        <a:latin typeface="Cambria Math" panose="02040503050406030204" pitchFamily="18" charset="0"/>
                      </a:rPr>
                      <m:t>𝑛</m:t>
                    </m:r>
                  </m:oMath>
                </a14:m>
                <a:r>
                  <a:rPr lang="en-US" dirty="0">
                    <a:solidFill>
                      <a:schemeClr val="bg2"/>
                    </a:solidFill>
                    <a:latin typeface="Open Sans" panose="020B0606030504020204" pitchFamily="34" charset="0"/>
                    <a:ea typeface="Open Sans" panose="020B0606030504020204" pitchFamily="34" charset="0"/>
                    <a:cs typeface="Open Sans" panose="020B0606030504020204" pitchFamily="34" charset="0"/>
                  </a:rPr>
                  <a:t> data points</a:t>
                </a:r>
              </a:p>
            </p:txBody>
          </p:sp>
        </mc:Choice>
        <mc:Fallback xmlns="">
          <p:sp>
            <p:nvSpPr>
              <p:cNvPr id="5" name="TextBox 4">
                <a:extLst>
                  <a:ext uri="{FF2B5EF4-FFF2-40B4-BE49-F238E27FC236}">
                    <a16:creationId xmlns:a16="http://schemas.microsoft.com/office/drawing/2014/main" id="{4D7D4237-9796-1D38-A8DE-B555A865EF09}"/>
                  </a:ext>
                </a:extLst>
              </p:cNvPr>
              <p:cNvSpPr txBox="1">
                <a:spLocks noRot="1" noChangeAspect="1" noMove="1" noResize="1" noEditPoints="1" noAdjustHandles="1" noChangeArrowheads="1" noChangeShapeType="1" noTextEdit="1"/>
              </p:cNvSpPr>
              <p:nvPr/>
            </p:nvSpPr>
            <p:spPr>
              <a:xfrm>
                <a:off x="1796714" y="2061944"/>
                <a:ext cx="1427748" cy="307777"/>
              </a:xfrm>
              <a:prstGeom prst="rect">
                <a:avLst/>
              </a:prstGeom>
              <a:blipFill>
                <a:blip r:embed="rId3"/>
                <a:stretch>
                  <a:fillRect t="-4000" b="-20000"/>
                </a:stretch>
              </a:blipFill>
            </p:spPr>
            <p:txBody>
              <a:bodyPr/>
              <a:lstStyle/>
              <a:p>
                <a:r>
                  <a:rPr lang="en-US">
                    <a:noFill/>
                  </a:rPr>
                  <a:t> </a:t>
                </a:r>
              </a:p>
            </p:txBody>
          </p:sp>
        </mc:Fallback>
      </mc:AlternateContent>
      <p:sp>
        <p:nvSpPr>
          <p:cNvPr id="6" name="Left Brace 5">
            <a:extLst>
              <a:ext uri="{FF2B5EF4-FFF2-40B4-BE49-F238E27FC236}">
                <a16:creationId xmlns:a16="http://schemas.microsoft.com/office/drawing/2014/main" id="{7C20F541-C4E9-C076-4EC3-7A5D3FE9CD57}"/>
              </a:ext>
            </a:extLst>
          </p:cNvPr>
          <p:cNvSpPr/>
          <p:nvPr/>
        </p:nvSpPr>
        <p:spPr>
          <a:xfrm rot="16200000">
            <a:off x="4494726" y="2036416"/>
            <a:ext cx="106422" cy="2017296"/>
          </a:xfrm>
          <a:prstGeom prst="leftBrace">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BB383779-5F6C-1816-48D4-2B43320CE8CC}"/>
                  </a:ext>
                </a:extLst>
              </p:cNvPr>
              <p:cNvSpPr txBox="1"/>
              <p:nvPr/>
            </p:nvSpPr>
            <p:spPr>
              <a:xfrm>
                <a:off x="3906252" y="3098276"/>
                <a:ext cx="1427748" cy="307777"/>
              </a:xfrm>
              <a:prstGeom prst="rect">
                <a:avLst/>
              </a:prstGeom>
              <a:noFill/>
            </p:spPr>
            <p:txBody>
              <a:bodyPr wrap="square" rtlCol="0">
                <a:spAutoFit/>
              </a:bodyPr>
              <a:lstStyle/>
              <a:p>
                <a14:m>
                  <m:oMath xmlns:m="http://schemas.openxmlformats.org/officeDocument/2006/math">
                    <m:r>
                      <a:rPr lang="en-US" b="0" i="1"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𝑚</m:t>
                    </m:r>
                  </m:oMath>
                </a14:m>
                <a:r>
                  <a:rPr lang="en-US" dirty="0">
                    <a:solidFill>
                      <a:schemeClr val="bg2"/>
                    </a:solidFill>
                    <a:latin typeface="Open Sans" panose="020B0606030504020204" pitchFamily="34" charset="0"/>
                    <a:ea typeface="Open Sans" panose="020B0606030504020204" pitchFamily="34" charset="0"/>
                    <a:cs typeface="Open Sans" panose="020B0606030504020204" pitchFamily="34" charset="0"/>
                  </a:rPr>
                  <a:t> features</a:t>
                </a:r>
              </a:p>
            </p:txBody>
          </p:sp>
        </mc:Choice>
        <mc:Fallback xmlns="">
          <p:sp>
            <p:nvSpPr>
              <p:cNvPr id="7" name="TextBox 6">
                <a:extLst>
                  <a:ext uri="{FF2B5EF4-FFF2-40B4-BE49-F238E27FC236}">
                    <a16:creationId xmlns:a16="http://schemas.microsoft.com/office/drawing/2014/main" id="{BB383779-5F6C-1816-48D4-2B43320CE8CC}"/>
                  </a:ext>
                </a:extLst>
              </p:cNvPr>
              <p:cNvSpPr txBox="1">
                <a:spLocks noRot="1" noChangeAspect="1" noMove="1" noResize="1" noEditPoints="1" noAdjustHandles="1" noChangeArrowheads="1" noChangeShapeType="1" noTextEdit="1"/>
              </p:cNvSpPr>
              <p:nvPr/>
            </p:nvSpPr>
            <p:spPr>
              <a:xfrm>
                <a:off x="3906252" y="3098276"/>
                <a:ext cx="1427748" cy="307777"/>
              </a:xfrm>
              <a:prstGeom prst="rect">
                <a:avLst/>
              </a:prstGeom>
              <a:blipFill>
                <a:blip r:embed="rId4"/>
                <a:stretch>
                  <a:fillRect t="-3846" b="-19231"/>
                </a:stretch>
              </a:blipFill>
            </p:spPr>
            <p:txBody>
              <a:bodyPr/>
              <a:lstStyle/>
              <a:p>
                <a:r>
                  <a:rPr lang="en-US">
                    <a:noFill/>
                  </a:rPr>
                  <a:t> </a:t>
                </a:r>
              </a:p>
            </p:txBody>
          </p:sp>
        </mc:Fallback>
      </mc:AlternateContent>
    </p:spTree>
    <p:extLst>
      <p:ext uri="{BB962C8B-B14F-4D97-AF65-F5344CB8AC3E}">
        <p14:creationId xmlns:p14="http://schemas.microsoft.com/office/powerpoint/2010/main" val="39755365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A4635-0399-B14F-5A18-D9BCA97CE308}"/>
              </a:ext>
            </a:extLst>
          </p:cNvPr>
          <p:cNvSpPr>
            <a:spLocks noGrp="1"/>
          </p:cNvSpPr>
          <p:nvPr>
            <p:ph type="title"/>
          </p:nvPr>
        </p:nvSpPr>
        <p:spPr/>
        <p:txBody>
          <a:bodyPr>
            <a:normAutofit fontScale="90000"/>
          </a:bodyPr>
          <a:lstStyle/>
          <a:p>
            <a:r>
              <a:rPr lang="en-US" dirty="0"/>
              <a:t>Recall: Rank</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9379774F-E026-3AC0-A3CF-696BB80ECF74}"/>
                  </a:ext>
                </a:extLst>
              </p:cNvPr>
              <p:cNvSpPr>
                <a:spLocks noGrp="1"/>
              </p:cNvSpPr>
              <p:nvPr>
                <p:ph type="body" idx="1"/>
              </p:nvPr>
            </p:nvSpPr>
            <p:spPr/>
            <p:txBody>
              <a:bodyPr/>
              <a:lstStyle/>
              <a:p>
                <a:r>
                  <a:rPr lang="en-US" dirty="0"/>
                  <a:t>The rank of a matrix </a:t>
                </a:r>
                <a14:m>
                  <m:oMath xmlns:m="http://schemas.openxmlformats.org/officeDocument/2006/math">
                    <m:r>
                      <a:rPr lang="en-US" b="0" i="1" smtClean="0">
                        <a:latin typeface="Cambria Math" panose="02040503050406030204" pitchFamily="18" charset="0"/>
                      </a:rPr>
                      <m:t>𝐴</m:t>
                    </m:r>
                  </m:oMath>
                </a14:m>
                <a:r>
                  <a:rPr lang="en-US" b="0" dirty="0"/>
                  <a:t> </a:t>
                </a:r>
                <a:r>
                  <a:rPr lang="en-US" dirty="0"/>
                  <a:t>is the maximal number of linearly independent columns/rows of </a:t>
                </a:r>
                <a14:m>
                  <m:oMath xmlns:m="http://schemas.openxmlformats.org/officeDocument/2006/math">
                    <m:r>
                      <a:rPr lang="en-US" b="0" i="1" smtClean="0">
                        <a:latin typeface="Cambria Math" panose="02040503050406030204" pitchFamily="18" charset="0"/>
                      </a:rPr>
                      <m:t>𝐴</m:t>
                    </m:r>
                  </m:oMath>
                </a14:m>
                <a:endParaRPr lang="en-US" b="0" dirty="0"/>
              </a:p>
              <a:p>
                <a14:m>
                  <m:oMath xmlns:m="http://schemas.openxmlformats.org/officeDocument/2006/math">
                    <m:r>
                      <a:rPr lang="en-US" b="0" i="1" smtClean="0">
                        <a:latin typeface="Cambria Math" panose="02040503050406030204" pitchFamily="18" charset="0"/>
                      </a:rPr>
                      <m:t>𝐴</m:t>
                    </m:r>
                  </m:oMath>
                </a14:m>
                <a:r>
                  <a:rPr lang="en-US" b="0" dirty="0"/>
                  <a:t> is full rank i.f.f.</a:t>
                </a:r>
                <a:r>
                  <a:rPr lang="en-US" dirty="0"/>
                  <a:t> </a:t>
                </a:r>
                <a14:m>
                  <m:oMath xmlns:m="http://schemas.openxmlformats.org/officeDocument/2006/math">
                    <m:r>
                      <a:rPr lang="en-US" b="0" i="1" smtClean="0">
                        <a:latin typeface="Cambria Math" panose="02040503050406030204" pitchFamily="18" charset="0"/>
                      </a:rPr>
                      <m:t>𝑟𝑎𝑛𝑘</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e>
                    </m:d>
                    <m:r>
                      <a:rPr lang="en-US" b="0" i="1" smtClean="0">
                        <a:latin typeface="Cambria Math" panose="02040503050406030204" pitchFamily="18" charset="0"/>
                      </a:rPr>
                      <m:t>=</m:t>
                    </m:r>
                    <m:func>
                      <m:funcPr>
                        <m:ctrlPr>
                          <a:rPr lang="en-US" b="0" i="0" smtClean="0">
                            <a:latin typeface="Cambria Math" panose="02040503050406030204" pitchFamily="18" charset="0"/>
                          </a:rPr>
                        </m:ctrlPr>
                      </m:funcPr>
                      <m:fName>
                        <m:r>
                          <m:rPr>
                            <m:sty m:val="p"/>
                          </m:rPr>
                          <a:rPr lang="en-US" b="0" i="0" smtClean="0">
                            <a:latin typeface="Cambria Math" panose="02040503050406030204" pitchFamily="18" charset="0"/>
                          </a:rPr>
                          <m:t>min</m:t>
                        </m:r>
                      </m:fName>
                      <m:e>
                        <m:d>
                          <m:dPr>
                            <m:ctrlPr>
                              <a:rPr lang="en-US" b="0" i="1" smtClean="0">
                                <a:latin typeface="Cambria Math" panose="02040503050406030204" pitchFamily="18" charset="0"/>
                              </a:rPr>
                            </m:ctrlPr>
                          </m:dPr>
                          <m:e>
                            <m:r>
                              <a:rPr lang="en-US" b="0" i="1" smtClean="0">
                                <a:latin typeface="Cambria Math" panose="02040503050406030204" pitchFamily="18" charset="0"/>
                              </a:rPr>
                              <m:t>𝑚</m:t>
                            </m:r>
                            <m:r>
                              <a:rPr lang="en-US" b="0" i="1" smtClean="0">
                                <a:latin typeface="Cambria Math" panose="02040503050406030204" pitchFamily="18" charset="0"/>
                              </a:rPr>
                              <m:t>,</m:t>
                            </m:r>
                            <m:r>
                              <a:rPr lang="en-US" b="0" i="1" smtClean="0">
                                <a:latin typeface="Cambria Math" panose="02040503050406030204" pitchFamily="18" charset="0"/>
                              </a:rPr>
                              <m:t>𝑛</m:t>
                            </m:r>
                          </m:e>
                        </m:d>
                      </m:e>
                    </m:func>
                  </m:oMath>
                </a14:m>
                <a:r>
                  <a:rPr lang="en-US" b="0" dirty="0"/>
                  <a:t> where </a:t>
                </a:r>
                <a14:m>
                  <m:oMath xmlns:m="http://schemas.openxmlformats.org/officeDocument/2006/math">
                    <m:r>
                      <a:rPr lang="en-US" b="0" i="1" smtClean="0">
                        <a:latin typeface="Cambria Math" panose="02040503050406030204" pitchFamily="18" charset="0"/>
                      </a:rPr>
                      <m:t>𝐴</m:t>
                    </m:r>
                  </m:oMath>
                </a14:m>
                <a:r>
                  <a:rPr lang="en-US" b="0" dirty="0"/>
                  <a:t> is </a:t>
                </a:r>
                <a14:m>
                  <m:oMath xmlns:m="http://schemas.openxmlformats.org/officeDocument/2006/math">
                    <m:r>
                      <a:rPr lang="en-US" b="0" i="1" smtClean="0">
                        <a:latin typeface="Cambria Math" panose="02040503050406030204" pitchFamily="18" charset="0"/>
                      </a:rPr>
                      <m:t>𝑚</m:t>
                    </m:r>
                    <m:r>
                      <a:rPr lang="en-US" b="0" i="1" smtClean="0">
                        <a:latin typeface="Cambria Math" panose="02040503050406030204" pitchFamily="18" charset="0"/>
                      </a:rPr>
                      <m:t> × </m:t>
                    </m:r>
                    <m:r>
                      <a:rPr lang="en-US" b="0" i="1" smtClean="0">
                        <a:latin typeface="Cambria Math" panose="02040503050406030204" pitchFamily="18" charset="0"/>
                      </a:rPr>
                      <m:t>𝑛</m:t>
                    </m:r>
                  </m:oMath>
                </a14:m>
                <a:endParaRPr lang="en-US" b="0" dirty="0"/>
              </a:p>
              <a:p>
                <a:r>
                  <a:rPr lang="en-US" b="0" dirty="0"/>
                  <a:t>To find the rank of matrix </a:t>
                </a:r>
                <a14:m>
                  <m:oMath xmlns:m="http://schemas.openxmlformats.org/officeDocument/2006/math">
                    <m:r>
                      <a:rPr lang="en-US" b="0" i="1" smtClean="0">
                        <a:latin typeface="Cambria Math" panose="02040503050406030204" pitchFamily="18" charset="0"/>
                      </a:rPr>
                      <m:t>𝐴</m:t>
                    </m:r>
                  </m:oMath>
                </a14:m>
                <a:r>
                  <a:rPr lang="en-US" b="0" dirty="0"/>
                  <a:t>, we can reduce it to R.E.F or R.R.E.F and count the number of non-zero rows (which corresponds to the number of linearly independent columns)</a:t>
                </a:r>
              </a:p>
              <a:p>
                <a:endParaRPr lang="en-US" b="0" dirty="0"/>
              </a:p>
              <a:p>
                <a:endParaRPr lang="en-US" b="0" dirty="0"/>
              </a:p>
              <a:p>
                <a:endParaRPr lang="en-US" b="0" dirty="0"/>
              </a:p>
              <a:p>
                <a:endParaRPr lang="en-US" b="0" dirty="0"/>
              </a:p>
              <a:p>
                <a:endParaRPr lang="en-US" b="0" dirty="0"/>
              </a:p>
              <a:p>
                <a:endParaRPr lang="en-US" dirty="0"/>
              </a:p>
            </p:txBody>
          </p:sp>
        </mc:Choice>
        <mc:Fallback xmlns="">
          <p:sp>
            <p:nvSpPr>
              <p:cNvPr id="3" name="Text Placeholder 2">
                <a:extLst>
                  <a:ext uri="{FF2B5EF4-FFF2-40B4-BE49-F238E27FC236}">
                    <a16:creationId xmlns:a16="http://schemas.microsoft.com/office/drawing/2014/main" id="{9379774F-E026-3AC0-A3CF-696BB80ECF74}"/>
                  </a:ext>
                </a:extLst>
              </p:cNvPr>
              <p:cNvSpPr>
                <a:spLocks noGrp="1" noRot="1" noChangeAspect="1" noMove="1" noResize="1" noEditPoints="1" noAdjustHandles="1" noChangeArrowheads="1" noChangeShapeType="1" noTextEdit="1"/>
              </p:cNvSpPr>
              <p:nvPr>
                <p:ph type="body" idx="1"/>
              </p:nvPr>
            </p:nvSpPr>
            <p:spPr>
              <a:blipFill>
                <a:blip r:embed="rId2"/>
                <a:stretch>
                  <a:fillRect r="-298"/>
                </a:stretch>
              </a:blipFill>
            </p:spPr>
            <p:txBody>
              <a:bodyPr/>
              <a:lstStyle/>
              <a:p>
                <a:r>
                  <a:rPr lang="en-US">
                    <a:noFill/>
                  </a:rPr>
                  <a:t> </a:t>
                </a:r>
              </a:p>
            </p:txBody>
          </p:sp>
        </mc:Fallback>
      </mc:AlternateContent>
    </p:spTree>
    <p:extLst>
      <p:ext uri="{BB962C8B-B14F-4D97-AF65-F5344CB8AC3E}">
        <p14:creationId xmlns:p14="http://schemas.microsoft.com/office/powerpoint/2010/main" val="26310117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74C8F8-9358-363B-A126-AC6BE1A152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814869-556B-6967-F5EF-83DE3E14CE5F}"/>
              </a:ext>
            </a:extLst>
          </p:cNvPr>
          <p:cNvSpPr>
            <a:spLocks noGrp="1"/>
          </p:cNvSpPr>
          <p:nvPr>
            <p:ph type="title"/>
          </p:nvPr>
        </p:nvSpPr>
        <p:spPr/>
        <p:txBody>
          <a:bodyPr>
            <a:normAutofit fontScale="90000"/>
          </a:bodyPr>
          <a:lstStyle/>
          <a:p>
            <a:r>
              <a:rPr lang="en-US" dirty="0"/>
              <a:t>Recall: Matrix Factorization</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E7C74FCA-C7EE-42B3-D4E5-946AAAAC6596}"/>
                  </a:ext>
                </a:extLst>
              </p:cNvPr>
              <p:cNvSpPr>
                <a:spLocks noGrp="1"/>
              </p:cNvSpPr>
              <p:nvPr>
                <p:ph type="body" idx="1"/>
              </p:nvPr>
            </p:nvSpPr>
            <p:spPr/>
            <p:txBody>
              <a:bodyPr/>
              <a:lstStyle/>
              <a:p>
                <a:pPr marL="114300" indent="0">
                  <a:buNone/>
                </a:pPr>
                <a:r>
                  <a:rPr lang="en-US" dirty="0"/>
                  <a:t>Any matrix </a:t>
                </a:r>
                <a14:m>
                  <m:oMath xmlns:m="http://schemas.openxmlformats.org/officeDocument/2006/math">
                    <m:r>
                      <a:rPr lang="en-US" b="0" i="1" smtClean="0">
                        <a:latin typeface="Cambria Math" panose="02040503050406030204" pitchFamily="18" charset="0"/>
                      </a:rPr>
                      <m:t>𝐴</m:t>
                    </m:r>
                  </m:oMath>
                </a14:m>
                <a:r>
                  <a:rPr lang="en-US" dirty="0"/>
                  <a:t> of rank </a:t>
                </a:r>
                <a14:m>
                  <m:oMath xmlns:m="http://schemas.openxmlformats.org/officeDocument/2006/math">
                    <m:r>
                      <a:rPr lang="en-US" b="0" i="1" smtClean="0">
                        <a:latin typeface="Cambria Math" panose="02040503050406030204" pitchFamily="18" charset="0"/>
                      </a:rPr>
                      <m:t>𝑘</m:t>
                    </m:r>
                  </m:oMath>
                </a14:m>
                <a:r>
                  <a:rPr lang="en-US" b="0" dirty="0"/>
                  <a:t> can be factored as </a:t>
                </a:r>
              </a:p>
              <a:p>
                <a:pPr marL="114300" indent="0">
                  <a:buNone/>
                </a:pPr>
                <a14:m>
                  <m:oMathPara xmlns:m="http://schemas.openxmlformats.org/officeDocument/2006/math">
                    <m:oMath>
                      <m:r>
                        <a:rPr lang="en-US" b="0" i="1" smtClean="0">
                          <a:latin typeface="Cambria Math" panose="02040503050406030204" pitchFamily="18" charset="0"/>
                        </a:rPr>
                        <m:t>𝐴</m:t>
                      </m:r>
                      <m:r>
                        <a:rPr lang="en-US" b="0" i="1" smtClean="0">
                          <a:latin typeface="Cambria Math" panose="02040503050406030204" pitchFamily="18" charset="0"/>
                        </a:rPr>
                        <m:t> = </m:t>
                      </m:r>
                      <m:r>
                        <a:rPr lang="en-US" b="0" i="1" smtClean="0">
                          <a:latin typeface="Cambria Math" panose="02040503050406030204" pitchFamily="18" charset="0"/>
                        </a:rPr>
                        <m:t>𝑈𝑉</m:t>
                      </m:r>
                    </m:oMath>
                  </m:oMathPara>
                </a14:m>
                <a:endParaRPr lang="en-US" b="0" dirty="0"/>
              </a:p>
              <a:p>
                <a:pPr marL="114300" indent="0">
                  <a:buNone/>
                </a:pPr>
                <a:r>
                  <a:rPr lang="en-US" dirty="0"/>
                  <a:t>Where </a:t>
                </a:r>
                <a14:m>
                  <m:oMath xmlns:m="http://schemas.openxmlformats.org/officeDocument/2006/math">
                    <m:r>
                      <a:rPr lang="en-US" b="0" i="1" smtClean="0">
                        <a:latin typeface="Cambria Math" panose="02040503050406030204" pitchFamily="18" charset="0"/>
                      </a:rPr>
                      <m:t>𝑈</m:t>
                    </m:r>
                  </m:oMath>
                </a14:m>
                <a:r>
                  <a:rPr lang="en-US" b="0" dirty="0"/>
                  <a:t> is </a:t>
                </a:r>
                <a14:m>
                  <m:oMath xmlns:m="http://schemas.openxmlformats.org/officeDocument/2006/math">
                    <m:r>
                      <a:rPr lang="en-US" b="0" i="1" smtClean="0">
                        <a:latin typeface="Cambria Math" panose="02040503050406030204" pitchFamily="18" charset="0"/>
                      </a:rPr>
                      <m:t>𝑛</m:t>
                    </m:r>
                    <m:r>
                      <a:rPr lang="en-US" b="0" i="1" smtClean="0">
                        <a:latin typeface="Cambria Math" panose="02040503050406030204" pitchFamily="18" charset="0"/>
                      </a:rPr>
                      <m:t> × </m:t>
                    </m:r>
                    <m:r>
                      <a:rPr lang="en-US" b="0" i="1" smtClean="0">
                        <a:latin typeface="Cambria Math" panose="02040503050406030204" pitchFamily="18" charset="0"/>
                      </a:rPr>
                      <m:t>𝑘</m:t>
                    </m:r>
                  </m:oMath>
                </a14:m>
                <a:r>
                  <a:rPr lang="en-US" b="0" dirty="0"/>
                  <a:t> and </a:t>
                </a:r>
                <a14:m>
                  <m:oMath xmlns:m="http://schemas.openxmlformats.org/officeDocument/2006/math">
                    <m:r>
                      <a:rPr lang="en-US" b="0" i="1" smtClean="0">
                        <a:latin typeface="Cambria Math" panose="02040503050406030204" pitchFamily="18" charset="0"/>
                      </a:rPr>
                      <m:t>𝑉</m:t>
                    </m:r>
                  </m:oMath>
                </a14:m>
                <a:r>
                  <a:rPr lang="en-US" b="0" dirty="0"/>
                  <a:t> is </a:t>
                </a:r>
                <a14:m>
                  <m:oMath xmlns:m="http://schemas.openxmlformats.org/officeDocument/2006/math">
                    <m:r>
                      <a:rPr lang="en-US" b="0" i="1" smtClean="0">
                        <a:latin typeface="Cambria Math" panose="02040503050406030204" pitchFamily="18" charset="0"/>
                      </a:rPr>
                      <m:t>𝑘</m:t>
                    </m:r>
                    <m:r>
                      <a:rPr lang="en-US" b="0" i="1" smtClean="0">
                        <a:latin typeface="Cambria Math" panose="02040503050406030204" pitchFamily="18" charset="0"/>
                      </a:rPr>
                      <m:t> × </m:t>
                    </m:r>
                    <m:r>
                      <a:rPr lang="en-US" b="0" i="1" smtClean="0">
                        <a:latin typeface="Cambria Math" panose="02040503050406030204" pitchFamily="18" charset="0"/>
                      </a:rPr>
                      <m:t>𝑚</m:t>
                    </m:r>
                  </m:oMath>
                </a14:m>
                <a:endParaRPr lang="en-US" b="0" dirty="0"/>
              </a:p>
              <a:p>
                <a:pPr marL="114300" indent="0">
                  <a:buNone/>
                </a:pPr>
                <a:endParaRPr lang="en-US" dirty="0"/>
              </a:p>
              <a:p>
                <a:pPr marL="114300" indent="0">
                  <a:buNone/>
                </a:pPr>
                <a:r>
                  <a:rPr lang="en-US" b="0" dirty="0"/>
                  <a:t>Most datasets are full rank despite containing lots of redundant/similar information.</a:t>
                </a:r>
              </a:p>
              <a:p>
                <a:pPr marL="114300" indent="0">
                  <a:buNone/>
                </a:pPr>
                <a:endParaRPr lang="en-US" dirty="0"/>
              </a:p>
              <a:p>
                <a:pPr marL="114300" indent="0">
                  <a:buNone/>
                </a:pPr>
                <a:r>
                  <a:rPr lang="en-US" b="0" dirty="0"/>
                  <a:t>But we might be able to approximate the dataset with a lower rank matrix containing similar information</a:t>
                </a:r>
              </a:p>
              <a:p>
                <a:pPr marL="114300" indent="0">
                  <a:buNone/>
                </a:pPr>
                <a:endParaRPr lang="en-US" b="0" dirty="0"/>
              </a:p>
              <a:p>
                <a:pPr marL="114300" indent="0">
                  <a:buNone/>
                </a:pPr>
                <a:endParaRPr lang="en-US" b="0" dirty="0"/>
              </a:p>
              <a:p>
                <a:pPr marL="114300" indent="0">
                  <a:buNone/>
                </a:pPr>
                <a:endParaRPr lang="en-US" b="0" dirty="0"/>
              </a:p>
              <a:p>
                <a:pPr marL="114300" indent="0">
                  <a:buNone/>
                </a:pPr>
                <a:endParaRPr lang="en-US" b="0" dirty="0"/>
              </a:p>
              <a:p>
                <a:pPr marL="114300" indent="0">
                  <a:buNone/>
                </a:pPr>
                <a:endParaRPr lang="en-US" b="0" dirty="0"/>
              </a:p>
              <a:p>
                <a:pPr marL="114300" indent="0">
                  <a:buNone/>
                </a:pPr>
                <a:endParaRPr lang="en-US" b="0" dirty="0"/>
              </a:p>
              <a:p>
                <a:pPr marL="114300" indent="0">
                  <a:buNone/>
                </a:pPr>
                <a:endParaRPr lang="en-US" b="0" dirty="0"/>
              </a:p>
              <a:p>
                <a:pPr marL="114300" indent="0">
                  <a:buNone/>
                </a:pPr>
                <a:endParaRPr lang="en-US" dirty="0"/>
              </a:p>
            </p:txBody>
          </p:sp>
        </mc:Choice>
        <mc:Fallback xmlns="">
          <p:sp>
            <p:nvSpPr>
              <p:cNvPr id="3" name="Text Placeholder 2">
                <a:extLst>
                  <a:ext uri="{FF2B5EF4-FFF2-40B4-BE49-F238E27FC236}">
                    <a16:creationId xmlns:a16="http://schemas.microsoft.com/office/drawing/2014/main" id="{E7C74FCA-C7EE-42B3-D4E5-946AAAAC6596}"/>
                  </a:ext>
                </a:extLst>
              </p:cNvPr>
              <p:cNvSpPr>
                <a:spLocks noGrp="1" noRot="1" noChangeAspect="1" noMove="1" noResize="1" noEditPoints="1" noAdjustHandles="1" noChangeArrowheads="1" noChangeShapeType="1" noTextEdit="1"/>
              </p:cNvSpPr>
              <p:nvPr>
                <p:ph type="body" idx="1"/>
              </p:nvPr>
            </p:nvSpPr>
            <p:spPr>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7560618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ACE6DC-D346-9B7A-A90B-BC6333857D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CCC9D4-5839-1FF8-F369-CA966824A31C}"/>
              </a:ext>
            </a:extLst>
          </p:cNvPr>
          <p:cNvSpPr>
            <a:spLocks noGrp="1"/>
          </p:cNvSpPr>
          <p:nvPr>
            <p:ph type="title"/>
          </p:nvPr>
        </p:nvSpPr>
        <p:spPr/>
        <p:txBody>
          <a:bodyPr>
            <a:normAutofit fontScale="90000"/>
          </a:bodyPr>
          <a:lstStyle/>
          <a:p>
            <a:r>
              <a:rPr lang="en-US" dirty="0"/>
              <a:t>Goal</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D8FAE34E-8BD0-1FF1-84B4-2412023DDD27}"/>
                  </a:ext>
                </a:extLst>
              </p:cNvPr>
              <p:cNvSpPr>
                <a:spLocks noGrp="1"/>
              </p:cNvSpPr>
              <p:nvPr>
                <p:ph type="body" idx="1"/>
              </p:nvPr>
            </p:nvSpPr>
            <p:spPr/>
            <p:txBody>
              <a:bodyPr/>
              <a:lstStyle/>
              <a:p>
                <a:pPr marL="114300" indent="0">
                  <a:buNone/>
                </a:pPr>
                <a:r>
                  <a:rPr lang="en-US" dirty="0"/>
                  <a:t>Examine </a:t>
                </a:r>
                <a14:m>
                  <m:oMath xmlns:m="http://schemas.openxmlformats.org/officeDocument/2006/math">
                    <m:r>
                      <a:rPr lang="en-US" b="0" i="1" smtClean="0">
                        <a:latin typeface="Cambria Math" panose="02040503050406030204" pitchFamily="18" charset="0"/>
                      </a:rPr>
                      <m:t>𝐴</m:t>
                    </m:r>
                  </m:oMath>
                </a14:m>
                <a:r>
                  <a:rPr lang="en-US" b="0" dirty="0"/>
                  <a:t> and uncover its linear algebraic properties to:</a:t>
                </a:r>
              </a:p>
              <a:p>
                <a:pPr>
                  <a:buFont typeface="+mj-lt"/>
                  <a:buAutoNum type="arabicPeriod"/>
                </a:pPr>
                <a:r>
                  <a:rPr lang="en-US" b="0" dirty="0"/>
                  <a:t>Approximate </a:t>
                </a:r>
                <a14:m>
                  <m:oMath xmlns:m="http://schemas.openxmlformats.org/officeDocument/2006/math">
                    <m:r>
                      <a:rPr lang="en-US" b="0" i="1" smtClean="0">
                        <a:latin typeface="Cambria Math" panose="02040503050406030204" pitchFamily="18" charset="0"/>
                      </a:rPr>
                      <m:t>𝐴</m:t>
                    </m:r>
                  </m:oMath>
                </a14:m>
                <a:r>
                  <a:rPr lang="en-US" b="0" dirty="0"/>
                  <a:t> with a smaller matrix that is easier to store but contains similar information as </a:t>
                </a:r>
                <a14:m>
                  <m:oMath xmlns:m="http://schemas.openxmlformats.org/officeDocument/2006/math">
                    <m:r>
                      <a:rPr lang="en-US" b="0" i="1" smtClean="0">
                        <a:latin typeface="Cambria Math" panose="02040503050406030204" pitchFamily="18" charset="0"/>
                      </a:rPr>
                      <m:t>𝐴</m:t>
                    </m:r>
                  </m:oMath>
                </a14:m>
                <a:endParaRPr lang="en-US" b="0" dirty="0"/>
              </a:p>
              <a:p>
                <a:pPr lvl="1"/>
                <a:r>
                  <a:rPr lang="en-US" dirty="0"/>
                  <a:t> "</a:t>
                </a:r>
                <a:r>
                  <a:rPr lang="en-US" b="0" dirty="0"/>
                  <a:t>Rank reduction”</a:t>
                </a:r>
              </a:p>
              <a:p>
                <a:pPr>
                  <a:buFont typeface="+mj-lt"/>
                  <a:buAutoNum type="arabicPeriod"/>
                </a:pPr>
                <a:r>
                  <a:rPr lang="en-US" dirty="0"/>
                  <a:t>Dimensionality reduction/feature extraction</a:t>
                </a:r>
              </a:p>
              <a:p>
                <a:pPr lvl="1"/>
                <a:r>
                  <a:rPr lang="en-US" b="0" dirty="0"/>
                  <a:t>Start with </a:t>
                </a:r>
                <a14:m>
                  <m:oMath xmlns:m="http://schemas.openxmlformats.org/officeDocument/2006/math">
                    <m:r>
                      <a:rPr lang="en-US" b="0" i="1" smtClean="0">
                        <a:latin typeface="Cambria Math" panose="02040503050406030204" pitchFamily="18" charset="0"/>
                      </a:rPr>
                      <m:t>𝑚</m:t>
                    </m:r>
                  </m:oMath>
                </a14:m>
                <a:r>
                  <a:rPr lang="en-US" b="0" dirty="0"/>
                  <a:t> features then extract </a:t>
                </a:r>
                <a14:m>
                  <m:oMath xmlns:m="http://schemas.openxmlformats.org/officeDocument/2006/math">
                    <m:r>
                      <a:rPr lang="en-US" b="0" i="1" smtClean="0">
                        <a:latin typeface="Cambria Math" panose="02040503050406030204" pitchFamily="18" charset="0"/>
                      </a:rPr>
                      <m:t>𝑗</m:t>
                    </m:r>
                  </m:oMath>
                </a14:m>
                <a:r>
                  <a:rPr lang="en-US" b="0" dirty="0"/>
                  <a:t> features</a:t>
                </a:r>
              </a:p>
              <a:p>
                <a:pPr>
                  <a:buFont typeface="+mj-lt"/>
                  <a:buAutoNum type="arabicPeriod"/>
                </a:pPr>
                <a:r>
                  <a:rPr lang="en-US" dirty="0"/>
                  <a:t>Anomaly detection &amp; denoising</a:t>
                </a:r>
              </a:p>
              <a:p>
                <a:pPr>
                  <a:buFont typeface="+mj-lt"/>
                  <a:buAutoNum type="arabicPeriod"/>
                </a:pPr>
                <a:endParaRPr lang="en-US" b="0" dirty="0"/>
              </a:p>
              <a:p>
                <a:pPr marL="114300" indent="0">
                  <a:buNone/>
                </a:pPr>
                <a:r>
                  <a:rPr lang="en-US" dirty="0"/>
                  <a:t>We are going to look at how SVD can tackle each of these goals</a:t>
                </a:r>
                <a:endParaRPr lang="en-US" b="0" dirty="0"/>
              </a:p>
              <a:p>
                <a:pPr lvl="1"/>
                <a:endParaRPr lang="en-US" b="0" dirty="0"/>
              </a:p>
              <a:p>
                <a:pPr marL="114300" indent="0">
                  <a:buNone/>
                </a:pPr>
                <a:endParaRPr lang="en-US" b="0" dirty="0"/>
              </a:p>
              <a:p>
                <a:pPr>
                  <a:buFont typeface="+mj-lt"/>
                  <a:buAutoNum type="arabicPeriod"/>
                </a:pPr>
                <a:endParaRPr lang="en-US" b="0" dirty="0"/>
              </a:p>
              <a:p>
                <a:pPr marL="114300" indent="0">
                  <a:buNone/>
                </a:pPr>
                <a:endParaRPr lang="en-US" dirty="0"/>
              </a:p>
            </p:txBody>
          </p:sp>
        </mc:Choice>
        <mc:Fallback xmlns="">
          <p:sp>
            <p:nvSpPr>
              <p:cNvPr id="3" name="Text Placeholder 2">
                <a:extLst>
                  <a:ext uri="{FF2B5EF4-FFF2-40B4-BE49-F238E27FC236}">
                    <a16:creationId xmlns:a16="http://schemas.microsoft.com/office/drawing/2014/main" id="{D8FAE34E-8BD0-1FF1-84B4-2412023DDD27}"/>
                  </a:ext>
                </a:extLst>
              </p:cNvPr>
              <p:cNvSpPr>
                <a:spLocks noGrp="1" noRot="1" noChangeAspect="1" noMove="1" noResize="1" noEditPoints="1" noAdjustHandles="1" noChangeArrowheads="1" noChangeShapeType="1" noTextEdit="1"/>
              </p:cNvSpPr>
              <p:nvPr>
                <p:ph type="body" idx="1"/>
              </p:nvPr>
            </p:nvSpPr>
            <p:spPr>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8359290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F7DD80-5C0C-7C88-5D8C-9AF8D00F57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646C92-0793-9394-839C-551624B0B9A4}"/>
              </a:ext>
            </a:extLst>
          </p:cNvPr>
          <p:cNvSpPr>
            <a:spLocks noGrp="1"/>
          </p:cNvSpPr>
          <p:nvPr>
            <p:ph type="title"/>
          </p:nvPr>
        </p:nvSpPr>
        <p:spPr/>
        <p:txBody>
          <a:bodyPr>
            <a:normAutofit fontScale="90000"/>
          </a:bodyPr>
          <a:lstStyle/>
          <a:p>
            <a:r>
              <a:rPr lang="en-US" dirty="0"/>
              <a:t>Singular Value Decomposition (SVD)</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C72DF9A3-1139-B7D4-06C0-3AD5679750AB}"/>
                  </a:ext>
                </a:extLst>
              </p:cNvPr>
              <p:cNvSpPr>
                <a:spLocks noGrp="1"/>
              </p:cNvSpPr>
              <p:nvPr>
                <p:ph type="body" idx="1"/>
              </p:nvPr>
            </p:nvSpPr>
            <p:spPr/>
            <p:txBody>
              <a:bodyPr>
                <a:normAutofit lnSpcReduction="10000"/>
              </a:bodyPr>
              <a:lstStyle/>
              <a:p>
                <a:pPr marL="114300" indent="0">
                  <a:buNone/>
                </a:pPr>
                <a:r>
                  <a:rPr lang="en-US" dirty="0"/>
                  <a:t>SVD is a tool for processing data to extract high variance and linearly independent features</a:t>
                </a:r>
              </a:p>
              <a:p>
                <a:pPr marL="114300" indent="0">
                  <a:buNone/>
                </a:pPr>
                <a:endParaRPr lang="en-US" dirty="0"/>
              </a:p>
              <a:p>
                <a:pPr marL="114300" indent="0">
                  <a:buNone/>
                </a:pPr>
                <a:r>
                  <a:rPr lang="en-US" dirty="0"/>
                  <a:t>SVD can decompose </a:t>
                </a:r>
                <a:r>
                  <a:rPr lang="en-US" b="1" dirty="0"/>
                  <a:t>any</a:t>
                </a:r>
                <a:r>
                  <a:rPr lang="en-US" dirty="0"/>
                  <a:t> </a:t>
                </a:r>
                <a14:m>
                  <m:oMath xmlns:m="http://schemas.openxmlformats.org/officeDocument/2006/math">
                    <m:r>
                      <a:rPr lang="en-US" b="0" i="1" smtClean="0">
                        <a:latin typeface="Cambria Math" panose="02040503050406030204" pitchFamily="18" charset="0"/>
                      </a:rPr>
                      <m:t>𝑛</m:t>
                    </m:r>
                    <m:r>
                      <a:rPr lang="en-US" b="0" i="1" smtClean="0">
                        <a:latin typeface="Cambria Math" panose="02040503050406030204" pitchFamily="18" charset="0"/>
                      </a:rPr>
                      <m:t> × </m:t>
                    </m:r>
                    <m:r>
                      <a:rPr lang="en-US" b="0" i="1" smtClean="0">
                        <a:latin typeface="Cambria Math" panose="02040503050406030204" pitchFamily="18" charset="0"/>
                      </a:rPr>
                      <m:t>𝑚</m:t>
                    </m:r>
                  </m:oMath>
                </a14:m>
                <a:r>
                  <a:rPr lang="en-US" b="0" dirty="0"/>
                  <a:t> matrix </a:t>
                </a:r>
                <a14:m>
                  <m:oMath xmlns:m="http://schemas.openxmlformats.org/officeDocument/2006/math">
                    <m:r>
                      <a:rPr lang="en-US" b="0" i="1" smtClean="0">
                        <a:latin typeface="Cambria Math" panose="02040503050406030204" pitchFamily="18" charset="0"/>
                      </a:rPr>
                      <m:t>𝐴</m:t>
                    </m:r>
                  </m:oMath>
                </a14:m>
                <a:r>
                  <a:rPr lang="en-US" b="0" dirty="0"/>
                  <a:t> of rank </a:t>
                </a:r>
                <a14:m>
                  <m:oMath xmlns:m="http://schemas.openxmlformats.org/officeDocument/2006/math">
                    <m:r>
                      <a:rPr lang="en-US" b="0" i="1" smtClean="0">
                        <a:latin typeface="Cambria Math" panose="02040503050406030204" pitchFamily="18" charset="0"/>
                      </a:rPr>
                      <m:t>𝑟</m:t>
                    </m:r>
                  </m:oMath>
                </a14:m>
                <a:r>
                  <a:rPr lang="en-US" b="0" dirty="0"/>
                  <a:t> into </a:t>
                </a:r>
              </a:p>
              <a:p>
                <a:pPr marL="114300" indent="0">
                  <a:buNone/>
                </a:pPr>
                <a14:m>
                  <m:oMathPara xmlns:m="http://schemas.openxmlformats.org/officeDocument/2006/math">
                    <m:oMath>
                      <m:r>
                        <a:rPr lang="en-US" b="0" i="1" smtClean="0">
                          <a:latin typeface="Cambria Math" panose="02040503050406030204" pitchFamily="18" charset="0"/>
                        </a:rPr>
                        <m:t>𝐴</m:t>
                      </m:r>
                      <m:r>
                        <a:rPr lang="en-US" b="0" i="1" smtClean="0">
                          <a:latin typeface="Cambria Math" panose="02040503050406030204" pitchFamily="18" charset="0"/>
                        </a:rPr>
                        <m:t>=</m:t>
                      </m:r>
                      <m:r>
                        <a:rPr lang="en-US" b="0" i="1" smtClean="0">
                          <a:latin typeface="Cambria Math" panose="02040503050406030204" pitchFamily="18" charset="0"/>
                        </a:rPr>
                        <m:t>𝑈</m:t>
                      </m:r>
                      <m:r>
                        <m:rPr>
                          <m:sty m:val="p"/>
                        </m:rPr>
                        <a:rPr lang="en-US" b="0" i="0" smtClean="0">
                          <a:latin typeface="Cambria Math" panose="02040503050406030204" pitchFamily="18" charset="0"/>
                        </a:rPr>
                        <m:t>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𝑉</m:t>
                          </m:r>
                        </m:e>
                        <m:sup>
                          <m:r>
                            <a:rPr lang="en-US" b="0" i="1" smtClean="0">
                              <a:latin typeface="Cambria Math" panose="02040503050406030204" pitchFamily="18" charset="0"/>
                            </a:rPr>
                            <m:t>𝑇</m:t>
                          </m:r>
                        </m:sup>
                      </m:sSup>
                    </m:oMath>
                  </m:oMathPara>
                </a14:m>
                <a:endParaRPr lang="en-US" b="0" dirty="0"/>
              </a:p>
              <a:p>
                <a:pPr marL="114300" indent="0">
                  <a:buNone/>
                </a:pPr>
                <a:endParaRPr lang="en-US" b="0" dirty="0"/>
              </a:p>
              <a:p>
                <a:pPr marL="114300" indent="0">
                  <a:buNone/>
                </a:pPr>
                <a:r>
                  <a:rPr lang="en-US" b="0" dirty="0"/>
                  <a:t>Where</a:t>
                </a:r>
              </a:p>
              <a:p>
                <a14:m>
                  <m:oMath xmlns:m="http://schemas.openxmlformats.org/officeDocument/2006/math">
                    <m:r>
                      <a:rPr lang="en-US" b="0" i="1" smtClean="0">
                        <a:latin typeface="Cambria Math" panose="02040503050406030204" pitchFamily="18" charset="0"/>
                      </a:rPr>
                      <m:t>𝑈</m:t>
                    </m:r>
                  </m:oMath>
                </a14:m>
                <a:r>
                  <a:rPr lang="en-US" b="0" dirty="0"/>
                  <a:t> is </a:t>
                </a:r>
                <a14:m>
                  <m:oMath xmlns:m="http://schemas.openxmlformats.org/officeDocument/2006/math">
                    <m:r>
                      <a:rPr lang="en-US" b="0" i="1" smtClean="0">
                        <a:latin typeface="Cambria Math" panose="02040503050406030204" pitchFamily="18" charset="0"/>
                      </a:rPr>
                      <m:t>𝑛</m:t>
                    </m:r>
                    <m:r>
                      <a:rPr lang="en-US" b="0" i="1" smtClean="0">
                        <a:latin typeface="Cambria Math" panose="02040503050406030204" pitchFamily="18" charset="0"/>
                      </a:rPr>
                      <m:t> × </m:t>
                    </m:r>
                    <m:r>
                      <a:rPr lang="en-US" b="0" i="1" smtClean="0">
                        <a:latin typeface="Cambria Math" panose="02040503050406030204" pitchFamily="18" charset="0"/>
                      </a:rPr>
                      <m:t>𝑟</m:t>
                    </m:r>
                  </m:oMath>
                </a14:m>
                <a:endParaRPr lang="en-US" b="0" dirty="0"/>
              </a:p>
              <a:p>
                <a14:m>
                  <m:oMath xmlns:m="http://schemas.openxmlformats.org/officeDocument/2006/math">
                    <m:r>
                      <m:rPr>
                        <m:sty m:val="p"/>
                      </m:rPr>
                      <a:rPr lang="en-US" b="0" i="1" smtClean="0">
                        <a:latin typeface="Cambria Math" panose="02040503050406030204" pitchFamily="18" charset="0"/>
                      </a:rPr>
                      <m:t>Σ</m:t>
                    </m:r>
                  </m:oMath>
                </a14:m>
                <a:r>
                  <a:rPr lang="en-US" b="0" dirty="0"/>
                  <a:t> is </a:t>
                </a:r>
                <a14:m>
                  <m:oMath xmlns:m="http://schemas.openxmlformats.org/officeDocument/2006/math">
                    <m:r>
                      <a:rPr lang="en-US" b="0" i="1" smtClean="0">
                        <a:latin typeface="Cambria Math" panose="02040503050406030204" pitchFamily="18" charset="0"/>
                      </a:rPr>
                      <m:t>𝑟</m:t>
                    </m:r>
                    <m:r>
                      <a:rPr lang="en-US" b="0" i="1" smtClean="0">
                        <a:latin typeface="Cambria Math" panose="02040503050406030204" pitchFamily="18" charset="0"/>
                      </a:rPr>
                      <m:t> × </m:t>
                    </m:r>
                    <m:r>
                      <a:rPr lang="en-US" b="0" i="1" smtClean="0">
                        <a:latin typeface="Cambria Math" panose="02040503050406030204" pitchFamily="18" charset="0"/>
                      </a:rPr>
                      <m:t>𝑟</m:t>
                    </m:r>
                  </m:oMath>
                </a14:m>
                <a:r>
                  <a:rPr lang="en-US" b="0" dirty="0"/>
                  <a:t> (diagonal matrix)</a:t>
                </a:r>
              </a:p>
              <a:p>
                <a14:m>
                  <m:oMath xmlns:m="http://schemas.openxmlformats.org/officeDocument/2006/math">
                    <m:r>
                      <a:rPr lang="en-US" b="0" i="1" smtClean="0">
                        <a:latin typeface="Cambria Math" panose="02040503050406030204" pitchFamily="18" charset="0"/>
                      </a:rPr>
                      <m:t>𝑉</m:t>
                    </m:r>
                  </m:oMath>
                </a14:m>
                <a:r>
                  <a:rPr lang="en-US" b="0" dirty="0"/>
                  <a:t> is </a:t>
                </a:r>
                <a14:m>
                  <m:oMath xmlns:m="http://schemas.openxmlformats.org/officeDocument/2006/math">
                    <m:r>
                      <a:rPr lang="en-US" b="0" i="1" smtClean="0">
                        <a:latin typeface="Cambria Math" panose="02040503050406030204" pitchFamily="18" charset="0"/>
                      </a:rPr>
                      <m:t>𝑚</m:t>
                    </m:r>
                    <m:r>
                      <a:rPr lang="en-US" b="0" i="1" smtClean="0">
                        <a:latin typeface="Cambria Math" panose="02040503050406030204" pitchFamily="18" charset="0"/>
                      </a:rPr>
                      <m:t> × </m:t>
                    </m:r>
                    <m:r>
                      <a:rPr lang="en-US" b="0" i="1" smtClean="0">
                        <a:latin typeface="Cambria Math" panose="02040503050406030204" pitchFamily="18" charset="0"/>
                      </a:rPr>
                      <m:t>𝑟</m:t>
                    </m:r>
                  </m:oMath>
                </a14:m>
                <a:endParaRPr lang="en-US" b="0" dirty="0"/>
              </a:p>
              <a:p>
                <a:endParaRPr lang="en-US" b="0" dirty="0"/>
              </a:p>
              <a:p>
                <a:endParaRPr lang="en-US" b="0" dirty="0"/>
              </a:p>
              <a:p>
                <a:endParaRPr lang="en-US" b="0" dirty="0"/>
              </a:p>
              <a:p>
                <a:pPr marL="114300" indent="0">
                  <a:buNone/>
                </a:pPr>
                <a:endParaRPr lang="en-US" b="0" dirty="0"/>
              </a:p>
              <a:p>
                <a:pPr marL="114300" indent="0">
                  <a:buNone/>
                </a:pPr>
                <a:endParaRPr lang="en-US" b="0" dirty="0"/>
              </a:p>
              <a:p>
                <a:pPr marL="114300" indent="0">
                  <a:buNone/>
                </a:pPr>
                <a:endParaRPr lang="en-US" b="0" dirty="0"/>
              </a:p>
              <a:p>
                <a:pPr marL="114300" indent="0">
                  <a:buNone/>
                </a:pPr>
                <a:endParaRPr lang="en-US" b="0" dirty="0"/>
              </a:p>
              <a:p>
                <a:pPr marL="114300" indent="0">
                  <a:buNone/>
                </a:pPr>
                <a:endParaRPr lang="en-US" b="0" dirty="0"/>
              </a:p>
              <a:p>
                <a:pPr marL="114300" indent="0">
                  <a:buNone/>
                </a:pPr>
                <a:endParaRPr lang="en-US" b="0" dirty="0"/>
              </a:p>
              <a:p>
                <a:pPr marL="114300" indent="0">
                  <a:buNone/>
                </a:pPr>
                <a:endParaRPr lang="en-US" b="0" dirty="0"/>
              </a:p>
              <a:p>
                <a:pPr marL="114300" indent="0">
                  <a:buNone/>
                </a:pPr>
                <a:endParaRPr lang="en-US" dirty="0"/>
              </a:p>
            </p:txBody>
          </p:sp>
        </mc:Choice>
        <mc:Fallback xmlns="">
          <p:sp>
            <p:nvSpPr>
              <p:cNvPr id="3" name="Text Placeholder 2">
                <a:extLst>
                  <a:ext uri="{FF2B5EF4-FFF2-40B4-BE49-F238E27FC236}">
                    <a16:creationId xmlns:a16="http://schemas.microsoft.com/office/drawing/2014/main" id="{C72DF9A3-1139-B7D4-06C0-3AD5679750AB}"/>
                  </a:ext>
                </a:extLst>
              </p:cNvPr>
              <p:cNvSpPr>
                <a:spLocks noGrp="1" noRot="1" noChangeAspect="1" noMove="1" noResize="1" noEditPoints="1" noAdjustHandles="1" noChangeArrowheads="1" noChangeShapeType="1" noTextEdit="1"/>
              </p:cNvSpPr>
              <p:nvPr>
                <p:ph type="body" idx="1"/>
              </p:nvPr>
            </p:nvSpPr>
            <p:spPr>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2834824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2D5487-0E59-779C-9760-320FC575E3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0579F2-0889-AE26-02D1-899A5EAA40DC}"/>
              </a:ext>
            </a:extLst>
          </p:cNvPr>
          <p:cNvSpPr>
            <a:spLocks noGrp="1"/>
          </p:cNvSpPr>
          <p:nvPr>
            <p:ph type="title"/>
          </p:nvPr>
        </p:nvSpPr>
        <p:spPr/>
        <p:txBody>
          <a:bodyPr>
            <a:normAutofit fontScale="90000"/>
          </a:bodyPr>
          <a:lstStyle/>
          <a:p>
            <a:r>
              <a:rPr lang="en-US" dirty="0"/>
              <a:t>SVD Matrix Decomposition</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38097F90-E875-A95D-124F-561BB46F914E}"/>
                  </a:ext>
                </a:extLst>
              </p:cNvPr>
              <p:cNvSpPr>
                <a:spLocks noGrp="1"/>
              </p:cNvSpPr>
              <p:nvPr>
                <p:ph type="body" idx="1"/>
              </p:nvPr>
            </p:nvSpPr>
            <p:spPr/>
            <p:txBody>
              <a:bodyPr/>
              <a:lstStyle/>
              <a:p>
                <a:pPr marL="114300" indent="0">
                  <a:buNone/>
                </a:pPr>
                <a14:m>
                  <m:oMathPara xmlns:m="http://schemas.openxmlformats.org/officeDocument/2006/math">
                    <m:oMath>
                      <m:r>
                        <a:rPr lang="en-US" i="1" smtClean="0">
                          <a:latin typeface="Cambria Math" panose="02040503050406030204" pitchFamily="18" charset="0"/>
                        </a:rPr>
                        <m:t>𝐴</m:t>
                      </m:r>
                      <m:r>
                        <a:rPr lang="en-US" i="1" smtClean="0">
                          <a:latin typeface="Cambria Math" panose="02040503050406030204" pitchFamily="18" charset="0"/>
                        </a:rPr>
                        <m:t>=</m:t>
                      </m:r>
                      <m:r>
                        <a:rPr lang="en-US" i="1" smtClean="0">
                          <a:latin typeface="Cambria Math" panose="02040503050406030204" pitchFamily="18" charset="0"/>
                        </a:rPr>
                        <m:t>𝑈</m:t>
                      </m:r>
                      <m:r>
                        <m:rPr>
                          <m:sty m:val="p"/>
                        </m:rPr>
                        <a:rPr lang="en-US">
                          <a:latin typeface="Cambria Math" panose="02040503050406030204" pitchFamily="18" charset="0"/>
                        </a:rPr>
                        <m:t>Σ</m:t>
                      </m:r>
                      <m:sSup>
                        <m:sSupPr>
                          <m:ctrlPr>
                            <a:rPr lang="en-US" i="1">
                              <a:latin typeface="Cambria Math" panose="02040503050406030204" pitchFamily="18" charset="0"/>
                            </a:rPr>
                          </m:ctrlPr>
                        </m:sSupPr>
                        <m:e>
                          <m:r>
                            <a:rPr lang="en-US" i="1">
                              <a:latin typeface="Cambria Math" panose="02040503050406030204" pitchFamily="18" charset="0"/>
                            </a:rPr>
                            <m:t>𝑉</m:t>
                          </m:r>
                        </m:e>
                        <m:sup>
                          <m:r>
                            <a:rPr lang="en-US" i="1">
                              <a:latin typeface="Cambria Math" panose="02040503050406030204" pitchFamily="18" charset="0"/>
                            </a:rPr>
                            <m:t>𝑇</m:t>
                          </m:r>
                        </m:sup>
                      </m:sSup>
                      <m:r>
                        <a:rPr lang="en-US" b="0" i="1" smtClean="0">
                          <a:latin typeface="Cambria Math" panose="02040503050406030204" pitchFamily="18" charset="0"/>
                        </a:rPr>
                        <m:t>,</m:t>
                      </m:r>
                      <m:r>
                        <a:rPr lang="en-US" b="0" i="1" smtClean="0">
                          <a:latin typeface="Cambria Math" panose="02040503050406030204" pitchFamily="18" charset="0"/>
                        </a:rPr>
                        <m:t>𝑈</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ℝ</m:t>
                          </m:r>
                        </m:e>
                        <m:sup>
                          <m:r>
                            <a:rPr lang="en-US" b="0" i="1" smtClean="0">
                              <a:latin typeface="Cambria Math" panose="02040503050406030204" pitchFamily="18" charset="0"/>
                            </a:rPr>
                            <m:t>𝑛</m:t>
                          </m:r>
                          <m:r>
                            <a:rPr lang="en-US" b="0" i="1" smtClean="0">
                              <a:latin typeface="Cambria Math" panose="02040503050406030204" pitchFamily="18" charset="0"/>
                            </a:rPr>
                            <m:t>×</m:t>
                          </m:r>
                          <m:r>
                            <a:rPr lang="en-US" b="0" i="1" smtClean="0">
                              <a:latin typeface="Cambria Math" panose="02040503050406030204" pitchFamily="18" charset="0"/>
                            </a:rPr>
                            <m:t>𝑟</m:t>
                          </m:r>
                        </m:sup>
                      </m:sSup>
                      <m:r>
                        <a:rPr lang="en-US" b="0" i="1" smtClean="0">
                          <a:latin typeface="Cambria Math" panose="02040503050406030204" pitchFamily="18" charset="0"/>
                        </a:rPr>
                        <m:t>,</m:t>
                      </m:r>
                      <m:r>
                        <m:rPr>
                          <m:sty m:val="p"/>
                        </m:rPr>
                        <a:rPr lang="en-US" b="0" i="0" smtClean="0">
                          <a:latin typeface="Cambria Math" panose="02040503050406030204" pitchFamily="18" charset="0"/>
                        </a:rPr>
                        <m:t>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ℝ</m:t>
                          </m:r>
                        </m:e>
                        <m:sup>
                          <m:r>
                            <a:rPr lang="en-US" b="0" i="1" smtClean="0">
                              <a:latin typeface="Cambria Math" panose="02040503050406030204" pitchFamily="18" charset="0"/>
                            </a:rPr>
                            <m:t>𝑟</m:t>
                          </m:r>
                          <m:r>
                            <a:rPr lang="en-US" b="0" i="1" smtClean="0">
                              <a:latin typeface="Cambria Math" panose="02040503050406030204" pitchFamily="18" charset="0"/>
                            </a:rPr>
                            <m:t>×</m:t>
                          </m:r>
                          <m:r>
                            <a:rPr lang="en-US" b="0" i="1" smtClean="0">
                              <a:latin typeface="Cambria Math" panose="02040503050406030204" pitchFamily="18" charset="0"/>
                            </a:rPr>
                            <m:t>𝑟</m:t>
                          </m:r>
                        </m:sup>
                      </m:sSup>
                      <m:r>
                        <a:rPr lang="en-US" b="0" i="1" smtClean="0">
                          <a:latin typeface="Cambria Math" panose="02040503050406030204" pitchFamily="18" charset="0"/>
                        </a:rPr>
                        <m:t>,</m:t>
                      </m:r>
                      <m:r>
                        <a:rPr lang="en-US" b="0" i="1" smtClean="0">
                          <a:latin typeface="Cambria Math" panose="02040503050406030204" pitchFamily="18" charset="0"/>
                        </a:rPr>
                        <m:t>𝑉</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ℝ</m:t>
                          </m:r>
                        </m:e>
                        <m:sup>
                          <m:r>
                            <a:rPr lang="en-US" b="0" i="1" smtClean="0">
                              <a:latin typeface="Cambria Math" panose="02040503050406030204" pitchFamily="18" charset="0"/>
                            </a:rPr>
                            <m:t>𝑚</m:t>
                          </m:r>
                          <m:r>
                            <a:rPr lang="en-US" b="0" i="1" smtClean="0">
                              <a:latin typeface="Cambria Math" panose="02040503050406030204" pitchFamily="18" charset="0"/>
                            </a:rPr>
                            <m:t>×</m:t>
                          </m:r>
                          <m:r>
                            <a:rPr lang="en-US" b="0" i="1" smtClean="0">
                              <a:latin typeface="Cambria Math" panose="02040503050406030204" pitchFamily="18" charset="0"/>
                            </a:rPr>
                            <m:t>𝑟</m:t>
                          </m:r>
                        </m:sup>
                      </m:sSup>
                    </m:oMath>
                  </m:oMathPara>
                </a14:m>
                <a:endParaRPr lang="en-US" b="0" dirty="0"/>
              </a:p>
              <a:p>
                <a:r>
                  <a:rPr lang="en-US" dirty="0"/>
                  <a:t>Diagonal entries of </a:t>
                </a:r>
                <a14:m>
                  <m:oMath xmlns:m="http://schemas.openxmlformats.org/officeDocument/2006/math">
                    <m:r>
                      <m:rPr>
                        <m:sty m:val="p"/>
                      </m:rPr>
                      <a:rPr lang="en-US" b="0" i="1" smtClean="0">
                        <a:latin typeface="Cambria Math" panose="02040503050406030204" pitchFamily="18" charset="0"/>
                      </a:rPr>
                      <m:t>Σ</m:t>
                    </m:r>
                  </m:oMath>
                </a14:m>
                <a:r>
                  <a:rPr lang="en-US" dirty="0"/>
                  <a:t> are referred to as </a:t>
                </a:r>
                <a:r>
                  <a:rPr lang="en-US" b="1" dirty="0"/>
                  <a:t>singular values </a:t>
                </a:r>
                <a:r>
                  <a:rPr lang="en-US" dirty="0"/>
                  <a:t>and correspond to how much of the variance in the data is explained by corresponding right singular vectors (or columns) of </a:t>
                </a:r>
                <a14:m>
                  <m:oMath xmlns:m="http://schemas.openxmlformats.org/officeDocument/2006/math">
                    <m:r>
                      <a:rPr lang="en-US" b="0" i="1" smtClean="0">
                        <a:latin typeface="Cambria Math" panose="02040503050406030204" pitchFamily="18" charset="0"/>
                      </a:rPr>
                      <m:t>𝑉</m:t>
                    </m:r>
                  </m:oMath>
                </a14:m>
                <a:endParaRPr lang="en-US" b="0" dirty="0"/>
              </a:p>
              <a:p>
                <a:pPr lvl="1"/>
                <a:r>
                  <a:rPr lang="en-US" dirty="0"/>
                  <a:t>Also ordered </a:t>
                </a:r>
                <a14:m>
                  <m:oMath xmlns:m="http://schemas.openxmlformats.org/officeDocument/2006/math">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𝜎</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𝜎</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𝜎</m:t>
                        </m:r>
                      </m:e>
                      <m:sub>
                        <m:r>
                          <a:rPr lang="en-US" b="0" i="1" smtClean="0">
                            <a:latin typeface="Cambria Math" panose="02040503050406030204" pitchFamily="18" charset="0"/>
                          </a:rPr>
                          <m:t>𝑟</m:t>
                        </m:r>
                      </m:sub>
                    </m:sSub>
                  </m:oMath>
                </a14:m>
                <a:endParaRPr lang="en-US" dirty="0"/>
              </a:p>
              <a:p>
                <a14:m>
                  <m:oMath xmlns:m="http://schemas.openxmlformats.org/officeDocument/2006/math">
                    <m:sSubSup>
                      <m:sSubSupPr>
                        <m:ctrlPr>
                          <a:rPr lang="en-US" i="1">
                            <a:latin typeface="Cambria Math" panose="02040503050406030204" pitchFamily="18" charset="0"/>
                          </a:rPr>
                        </m:ctrlPr>
                      </m:sSubSupPr>
                      <m:e>
                        <m:r>
                          <a:rPr lang="en-US" i="1">
                            <a:latin typeface="Cambria Math" panose="02040503050406030204" pitchFamily="18" charset="0"/>
                          </a:rPr>
                          <m:t>𝜎</m:t>
                        </m:r>
                      </m:e>
                      <m:sub>
                        <m:r>
                          <a:rPr lang="en-US" i="1">
                            <a:latin typeface="Cambria Math" panose="02040503050406030204" pitchFamily="18" charset="0"/>
                          </a:rPr>
                          <m:t>𝑖</m:t>
                        </m:r>
                      </m:sub>
                      <m:sup>
                        <m:r>
                          <a:rPr lang="en-US" i="1">
                            <a:latin typeface="Cambria Math" panose="02040503050406030204" pitchFamily="18" charset="0"/>
                          </a:rPr>
                          <m:t>2</m:t>
                        </m:r>
                      </m:sup>
                    </m:sSubSup>
                  </m:oMath>
                </a14:m>
                <a:r>
                  <a:rPr lang="en-US" dirty="0"/>
                  <a:t> tells us how much variance is captured along direction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𝑣</m:t>
                        </m:r>
                      </m:e>
                      <m:sub>
                        <m:r>
                          <a:rPr lang="en-US" i="1">
                            <a:latin typeface="Cambria Math" panose="02040503050406030204" pitchFamily="18" charset="0"/>
                          </a:rPr>
                          <m:t>𝑖</m:t>
                        </m:r>
                      </m:sub>
                    </m:sSub>
                  </m:oMath>
                </a14:m>
                <a:endParaRPr lang="en-US" dirty="0"/>
              </a:p>
              <a:p>
                <a:pPr lvl="1"/>
                <a:r>
                  <a:rPr lang="en-US" dirty="0"/>
                  <a:t>The most variance is always captured by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1</m:t>
                        </m:r>
                      </m:sub>
                    </m:sSub>
                  </m:oMath>
                </a14:m>
                <a:r>
                  <a:rPr lang="en-US" b="0" dirty="0"/>
                  <a:t>!</a:t>
                </a:r>
              </a:p>
              <a:p>
                <a:pPr marL="596900" lvl="1" indent="0">
                  <a:buNone/>
                </a:pPr>
                <a:endParaRPr lang="en-US" b="0" dirty="0"/>
              </a:p>
              <a:p>
                <a:endParaRPr lang="en-US" b="0" dirty="0"/>
              </a:p>
              <a:p>
                <a:endParaRPr lang="en-US" b="0" dirty="0"/>
              </a:p>
              <a:p>
                <a:pPr lvl="1"/>
                <a:endParaRPr lang="en-US" b="0" dirty="0"/>
              </a:p>
              <a:p>
                <a:endParaRPr lang="en-US" b="0" dirty="0"/>
              </a:p>
            </p:txBody>
          </p:sp>
        </mc:Choice>
        <mc:Fallback xmlns="">
          <p:sp>
            <p:nvSpPr>
              <p:cNvPr id="3" name="Text Placeholder 2">
                <a:extLst>
                  <a:ext uri="{FF2B5EF4-FFF2-40B4-BE49-F238E27FC236}">
                    <a16:creationId xmlns:a16="http://schemas.microsoft.com/office/drawing/2014/main" id="{38097F90-E875-A95D-124F-561BB46F914E}"/>
                  </a:ext>
                </a:extLst>
              </p:cNvPr>
              <p:cNvSpPr>
                <a:spLocks noGrp="1" noRot="1" noChangeAspect="1" noMove="1" noResize="1" noEditPoints="1" noAdjustHandles="1" noChangeArrowheads="1" noChangeShapeType="1" noTextEdit="1"/>
              </p:cNvSpPr>
              <p:nvPr>
                <p:ph type="body" idx="1"/>
              </p:nvPr>
            </p:nvSpPr>
            <p:spPr>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2729749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900C23-CC00-98FD-83C3-3ADE1E2845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5D0C00-C9E1-29B1-71F5-73A44F3A537D}"/>
              </a:ext>
            </a:extLst>
          </p:cNvPr>
          <p:cNvSpPr>
            <a:spLocks noGrp="1"/>
          </p:cNvSpPr>
          <p:nvPr>
            <p:ph type="title"/>
          </p:nvPr>
        </p:nvSpPr>
        <p:spPr/>
        <p:txBody>
          <a:bodyPr>
            <a:normAutofit fontScale="90000"/>
          </a:bodyPr>
          <a:lstStyle/>
          <a:p>
            <a:r>
              <a:rPr lang="en-US" dirty="0"/>
              <a:t>SVD Matrix Decomposition</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C037D0E4-2FE9-FF3E-6C17-5916DA322D3A}"/>
                  </a:ext>
                </a:extLst>
              </p:cNvPr>
              <p:cNvSpPr>
                <a:spLocks noGrp="1"/>
              </p:cNvSpPr>
              <p:nvPr>
                <p:ph type="body" idx="1"/>
              </p:nvPr>
            </p:nvSpPr>
            <p:spPr/>
            <p:txBody>
              <a:bodyPr/>
              <a:lstStyle/>
              <a:p>
                <a:pPr marL="114300" indent="0">
                  <a:buNone/>
                </a:pPr>
                <a14:m>
                  <m:oMathPara xmlns:m="http://schemas.openxmlformats.org/officeDocument/2006/math">
                    <m:oMath>
                      <m:r>
                        <a:rPr lang="en-US" i="1" smtClean="0">
                          <a:latin typeface="Cambria Math" panose="02040503050406030204" pitchFamily="18" charset="0"/>
                        </a:rPr>
                        <m:t>𝐴</m:t>
                      </m:r>
                      <m:r>
                        <a:rPr lang="en-US" i="1" smtClean="0">
                          <a:latin typeface="Cambria Math" panose="02040503050406030204" pitchFamily="18" charset="0"/>
                        </a:rPr>
                        <m:t>=</m:t>
                      </m:r>
                      <m:r>
                        <a:rPr lang="en-US" i="1" smtClean="0">
                          <a:latin typeface="Cambria Math" panose="02040503050406030204" pitchFamily="18" charset="0"/>
                        </a:rPr>
                        <m:t>𝑈</m:t>
                      </m:r>
                      <m:r>
                        <m:rPr>
                          <m:sty m:val="p"/>
                        </m:rPr>
                        <a:rPr lang="en-US">
                          <a:latin typeface="Cambria Math" panose="02040503050406030204" pitchFamily="18" charset="0"/>
                        </a:rPr>
                        <m:t>Σ</m:t>
                      </m:r>
                      <m:sSup>
                        <m:sSupPr>
                          <m:ctrlPr>
                            <a:rPr lang="en-US" i="1">
                              <a:latin typeface="Cambria Math" panose="02040503050406030204" pitchFamily="18" charset="0"/>
                            </a:rPr>
                          </m:ctrlPr>
                        </m:sSupPr>
                        <m:e>
                          <m:r>
                            <a:rPr lang="en-US" i="1">
                              <a:latin typeface="Cambria Math" panose="02040503050406030204" pitchFamily="18" charset="0"/>
                            </a:rPr>
                            <m:t>𝑉</m:t>
                          </m:r>
                        </m:e>
                        <m:sup>
                          <m:r>
                            <a:rPr lang="en-US" i="1">
                              <a:latin typeface="Cambria Math" panose="02040503050406030204" pitchFamily="18" charset="0"/>
                            </a:rPr>
                            <m:t>𝑇</m:t>
                          </m:r>
                        </m:sup>
                      </m:sSup>
                      <m:r>
                        <a:rPr lang="en-US" b="0" i="1" smtClean="0">
                          <a:latin typeface="Cambria Math" panose="02040503050406030204" pitchFamily="18" charset="0"/>
                        </a:rPr>
                        <m:t>,</m:t>
                      </m:r>
                      <m:r>
                        <a:rPr lang="en-US" b="0" i="1" smtClean="0">
                          <a:latin typeface="Cambria Math" panose="02040503050406030204" pitchFamily="18" charset="0"/>
                        </a:rPr>
                        <m:t>𝑈</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ℝ</m:t>
                          </m:r>
                        </m:e>
                        <m:sup>
                          <m:r>
                            <a:rPr lang="en-US" b="0" i="1" smtClean="0">
                              <a:latin typeface="Cambria Math" panose="02040503050406030204" pitchFamily="18" charset="0"/>
                            </a:rPr>
                            <m:t>𝑛</m:t>
                          </m:r>
                          <m:r>
                            <a:rPr lang="en-US" b="0" i="1" smtClean="0">
                              <a:latin typeface="Cambria Math" panose="02040503050406030204" pitchFamily="18" charset="0"/>
                            </a:rPr>
                            <m:t>×</m:t>
                          </m:r>
                          <m:r>
                            <a:rPr lang="en-US" b="0" i="1" smtClean="0">
                              <a:latin typeface="Cambria Math" panose="02040503050406030204" pitchFamily="18" charset="0"/>
                            </a:rPr>
                            <m:t>𝑟</m:t>
                          </m:r>
                        </m:sup>
                      </m:sSup>
                      <m:r>
                        <a:rPr lang="en-US" b="0" i="1" smtClean="0">
                          <a:latin typeface="Cambria Math" panose="02040503050406030204" pitchFamily="18" charset="0"/>
                        </a:rPr>
                        <m:t>,</m:t>
                      </m:r>
                      <m:r>
                        <m:rPr>
                          <m:sty m:val="p"/>
                        </m:rPr>
                        <a:rPr lang="en-US" b="0" i="0" smtClean="0">
                          <a:latin typeface="Cambria Math" panose="02040503050406030204" pitchFamily="18" charset="0"/>
                        </a:rPr>
                        <m:t>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ℝ</m:t>
                          </m:r>
                        </m:e>
                        <m:sup>
                          <m:r>
                            <a:rPr lang="en-US" b="0" i="1" smtClean="0">
                              <a:latin typeface="Cambria Math" panose="02040503050406030204" pitchFamily="18" charset="0"/>
                            </a:rPr>
                            <m:t>𝑟</m:t>
                          </m:r>
                          <m:r>
                            <a:rPr lang="en-US" b="0" i="1" smtClean="0">
                              <a:latin typeface="Cambria Math" panose="02040503050406030204" pitchFamily="18" charset="0"/>
                            </a:rPr>
                            <m:t>×</m:t>
                          </m:r>
                          <m:r>
                            <a:rPr lang="en-US" b="0" i="1" smtClean="0">
                              <a:latin typeface="Cambria Math" panose="02040503050406030204" pitchFamily="18" charset="0"/>
                            </a:rPr>
                            <m:t>𝑟</m:t>
                          </m:r>
                        </m:sup>
                      </m:sSup>
                      <m:r>
                        <a:rPr lang="en-US" b="0" i="1" smtClean="0">
                          <a:latin typeface="Cambria Math" panose="02040503050406030204" pitchFamily="18" charset="0"/>
                        </a:rPr>
                        <m:t>,</m:t>
                      </m:r>
                      <m:r>
                        <a:rPr lang="en-US" b="0" i="1" smtClean="0">
                          <a:latin typeface="Cambria Math" panose="02040503050406030204" pitchFamily="18" charset="0"/>
                        </a:rPr>
                        <m:t>𝑉</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ℝ</m:t>
                          </m:r>
                        </m:e>
                        <m:sup>
                          <m:r>
                            <a:rPr lang="en-US" b="0" i="1" smtClean="0">
                              <a:latin typeface="Cambria Math" panose="02040503050406030204" pitchFamily="18" charset="0"/>
                            </a:rPr>
                            <m:t>𝑚</m:t>
                          </m:r>
                          <m:r>
                            <a:rPr lang="en-US" b="0" i="1" smtClean="0">
                              <a:latin typeface="Cambria Math" panose="02040503050406030204" pitchFamily="18" charset="0"/>
                            </a:rPr>
                            <m:t>×</m:t>
                          </m:r>
                          <m:r>
                            <a:rPr lang="en-US" b="0" i="1" smtClean="0">
                              <a:latin typeface="Cambria Math" panose="02040503050406030204" pitchFamily="18" charset="0"/>
                            </a:rPr>
                            <m:t>𝑟</m:t>
                          </m:r>
                        </m:sup>
                      </m:sSup>
                    </m:oMath>
                  </m:oMathPara>
                </a14:m>
                <a:endParaRPr lang="en-US" b="0" dirty="0"/>
              </a:p>
              <a:p>
                <a14:m>
                  <m:oMath xmlns:m="http://schemas.openxmlformats.org/officeDocument/2006/math">
                    <m:r>
                      <a:rPr lang="en-US" b="0" i="1" smtClean="0">
                        <a:latin typeface="Cambria Math" panose="02040503050406030204" pitchFamily="18" charset="0"/>
                      </a:rPr>
                      <m:t>𝑈</m:t>
                    </m:r>
                  </m:oMath>
                </a14:m>
                <a:r>
                  <a:rPr lang="en-US" b="0" dirty="0"/>
                  <a:t> contains the normalized coordinates of samples with respect to the component directions in </a:t>
                </a:r>
                <a14:m>
                  <m:oMath xmlns:m="http://schemas.openxmlformats.org/officeDocument/2006/math">
                    <m:r>
                      <a:rPr lang="en-US" b="0" i="1" smtClean="0">
                        <a:latin typeface="Cambria Math" panose="02040503050406030204" pitchFamily="18" charset="0"/>
                      </a:rPr>
                      <m:t>𝑉</m:t>
                    </m:r>
                  </m:oMath>
                </a14:m>
                <a:endParaRPr lang="en-US" b="0" dirty="0"/>
              </a:p>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sub>
                    </m:sSub>
                  </m:oMath>
                </a14:m>
                <a:r>
                  <a:rPr lang="en-US" b="0" dirty="0"/>
                  <a:t>= normalized coordinat</a:t>
                </a:r>
                <a:r>
                  <a:rPr lang="en-US" dirty="0"/>
                  <a:t>e </a:t>
                </a:r>
                <a:r>
                  <a:rPr lang="en-US" b="0" dirty="0"/>
                  <a:t>of data point </a:t>
                </a:r>
                <a14:m>
                  <m:oMath xmlns:m="http://schemas.openxmlformats.org/officeDocument/2006/math">
                    <m:r>
                      <a:rPr lang="en-US" b="0" i="1" smtClean="0">
                        <a:latin typeface="Cambria Math" panose="02040503050406030204" pitchFamily="18" charset="0"/>
                      </a:rPr>
                      <m:t>𝑖</m:t>
                    </m:r>
                  </m:oMath>
                </a14:m>
                <a:r>
                  <a:rPr lang="en-US" b="0" dirty="0"/>
                  <a:t> to component </a:t>
                </a:r>
                <a14:m>
                  <m:oMath xmlns:m="http://schemas.openxmlformats.org/officeDocument/2006/math">
                    <m:r>
                      <a:rPr lang="en-US" b="0" i="1" smtClean="0">
                        <a:latin typeface="Cambria Math" panose="02040503050406030204" pitchFamily="18" charset="0"/>
                      </a:rPr>
                      <m:t>𝑗</m:t>
                    </m:r>
                  </m:oMath>
                </a14:m>
                <a:endParaRPr lang="en-US" b="0" dirty="0"/>
              </a:p>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𝜎</m:t>
                        </m:r>
                      </m:e>
                      <m:sub>
                        <m:r>
                          <a:rPr lang="en-US" b="0" i="1" smtClean="0">
                            <a:latin typeface="Cambria Math" panose="02040503050406030204" pitchFamily="18" charset="0"/>
                          </a:rPr>
                          <m:t>𝑗</m:t>
                        </m:r>
                      </m:sub>
                    </m:sSub>
                  </m:oMath>
                </a14:m>
                <a:r>
                  <a:rPr lang="en-US" b="0" dirty="0"/>
                  <a:t> = actual score/position of sample </a:t>
                </a:r>
                <a14:m>
                  <m:oMath xmlns:m="http://schemas.openxmlformats.org/officeDocument/2006/math">
                    <m:r>
                      <a:rPr lang="en-US" b="0" i="1" smtClean="0">
                        <a:latin typeface="Cambria Math" panose="02040503050406030204" pitchFamily="18" charset="0"/>
                      </a:rPr>
                      <m:t>𝑖</m:t>
                    </m:r>
                  </m:oMath>
                </a14:m>
                <a:r>
                  <a:rPr lang="en-US" b="0" dirty="0"/>
                  <a:t> along direction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𝑗</m:t>
                        </m:r>
                      </m:sub>
                    </m:sSub>
                  </m:oMath>
                </a14:m>
                <a:endParaRPr lang="en-US" b="0" dirty="0"/>
              </a:p>
              <a:p>
                <a:r>
                  <a:rPr lang="en-US" b="0" dirty="0"/>
                  <a:t>Columns </a:t>
                </a:r>
                <a:r>
                  <a:rPr lang="en-US" dirty="0"/>
                  <a:t>of </a:t>
                </a:r>
                <a14:m>
                  <m:oMath xmlns:m="http://schemas.openxmlformats.org/officeDocument/2006/math">
                    <m:r>
                      <a:rPr lang="en-US" b="0" i="1" smtClean="0">
                        <a:latin typeface="Cambria Math" panose="02040503050406030204" pitchFamily="18" charset="0"/>
                      </a:rPr>
                      <m:t>𝑈</m:t>
                    </m:r>
                  </m:oMath>
                </a14:m>
                <a:r>
                  <a:rPr lang="en-US" b="0" dirty="0"/>
                  <a:t> </a:t>
                </a:r>
                <a:r>
                  <a:rPr lang="en-US" dirty="0"/>
                  <a:t>are orthonormal eigenvectors of </a:t>
                </a:r>
                <a14:m>
                  <m:oMath xmlns:m="http://schemas.openxmlformats.org/officeDocument/2006/math">
                    <m:r>
                      <a:rPr lang="en-US" i="1">
                        <a:latin typeface="Cambria Math" panose="02040503050406030204" pitchFamily="18" charset="0"/>
                      </a:rPr>
                      <m:t>𝐴</m:t>
                    </m:r>
                    <m:sSup>
                      <m:sSupPr>
                        <m:ctrlPr>
                          <a:rPr lang="en-US" i="1">
                            <a:latin typeface="Cambria Math" panose="02040503050406030204" pitchFamily="18" charset="0"/>
                          </a:rPr>
                        </m:ctrlPr>
                      </m:sSupPr>
                      <m:e>
                        <m:r>
                          <a:rPr lang="en-US" i="1">
                            <a:latin typeface="Cambria Math" panose="02040503050406030204" pitchFamily="18" charset="0"/>
                          </a:rPr>
                          <m:t>𝐴</m:t>
                        </m:r>
                      </m:e>
                      <m:sup>
                        <m:r>
                          <a:rPr lang="en-US" i="1">
                            <a:latin typeface="Cambria Math" panose="02040503050406030204" pitchFamily="18" charset="0"/>
                          </a:rPr>
                          <m:t>𝑇</m:t>
                        </m:r>
                      </m:sup>
                    </m:sSup>
                  </m:oMath>
                </a14:m>
                <a:r>
                  <a:rPr lang="en-US" b="0" dirty="0"/>
                  <a:t>and are referred to as left singular vectors</a:t>
                </a:r>
              </a:p>
              <a:p>
                <a:r>
                  <a:rPr lang="en-US" dirty="0"/>
                  <a:t>Columns of </a:t>
                </a:r>
                <a14:m>
                  <m:oMath xmlns:m="http://schemas.openxmlformats.org/officeDocument/2006/math">
                    <m:r>
                      <a:rPr lang="en-US" i="1">
                        <a:latin typeface="Cambria Math" panose="02040503050406030204" pitchFamily="18" charset="0"/>
                      </a:rPr>
                      <m:t>𝑉</m:t>
                    </m:r>
                  </m:oMath>
                </a14:m>
                <a:r>
                  <a:rPr lang="en-US" b="0" dirty="0"/>
                  <a:t> are orthonormal eigenvectors of </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𝐴</m:t>
                        </m:r>
                      </m:e>
                      <m:sup>
                        <m:r>
                          <a:rPr lang="en-US" i="1">
                            <a:latin typeface="Cambria Math" panose="02040503050406030204" pitchFamily="18" charset="0"/>
                          </a:rPr>
                          <m:t>𝑇</m:t>
                        </m:r>
                      </m:sup>
                    </m:sSup>
                    <m:r>
                      <a:rPr lang="en-US" b="0" i="1" smtClean="0">
                        <a:latin typeface="Cambria Math" panose="02040503050406030204" pitchFamily="18" charset="0"/>
                      </a:rPr>
                      <m:t>𝐴</m:t>
                    </m:r>
                  </m:oMath>
                </a14:m>
                <a:r>
                  <a:rPr lang="en-US" b="0" dirty="0"/>
                  <a:t> and are referred to as right singular vectors</a:t>
                </a:r>
              </a:p>
              <a:p>
                <a:pPr lvl="1"/>
                <a:endParaRPr lang="en-US" b="0" dirty="0"/>
              </a:p>
              <a:p>
                <a:endParaRPr lang="en-US" b="0" dirty="0"/>
              </a:p>
              <a:p>
                <a:endParaRPr lang="en-US" b="0" dirty="0"/>
              </a:p>
              <a:p>
                <a:pPr marL="114300" indent="0">
                  <a:buNone/>
                </a:pPr>
                <a:endParaRPr lang="en-US" b="0" dirty="0"/>
              </a:p>
              <a:p>
                <a:endParaRPr lang="en-US" b="0" dirty="0"/>
              </a:p>
              <a:p>
                <a:endParaRPr lang="en-US" b="0" dirty="0"/>
              </a:p>
              <a:p>
                <a:endParaRPr lang="en-US" b="0" dirty="0"/>
              </a:p>
              <a:p>
                <a:endParaRPr lang="en-US" b="0" dirty="0"/>
              </a:p>
              <a:p>
                <a:endParaRPr lang="en-US" b="0" dirty="0"/>
              </a:p>
            </p:txBody>
          </p:sp>
        </mc:Choice>
        <mc:Fallback xmlns="">
          <p:sp>
            <p:nvSpPr>
              <p:cNvPr id="3" name="Text Placeholder 2">
                <a:extLst>
                  <a:ext uri="{FF2B5EF4-FFF2-40B4-BE49-F238E27FC236}">
                    <a16:creationId xmlns:a16="http://schemas.microsoft.com/office/drawing/2014/main" id="{C037D0E4-2FE9-FF3E-6C17-5916DA322D3A}"/>
                  </a:ext>
                </a:extLst>
              </p:cNvPr>
              <p:cNvSpPr>
                <a:spLocks noGrp="1" noRot="1" noChangeAspect="1" noMove="1" noResize="1" noEditPoints="1" noAdjustHandles="1" noChangeArrowheads="1" noChangeShapeType="1" noTextEdit="1"/>
              </p:cNvSpPr>
              <p:nvPr>
                <p:ph type="body" idx="1"/>
              </p:nvPr>
            </p:nvSpPr>
            <p:spPr>
              <a:blipFill>
                <a:blip r:embed="rId2"/>
                <a:stretch>
                  <a:fillRect r="-149"/>
                </a:stretch>
              </a:blipFill>
            </p:spPr>
            <p:txBody>
              <a:bodyPr/>
              <a:lstStyle/>
              <a:p>
                <a:r>
                  <a:rPr lang="en-US">
                    <a:noFill/>
                  </a:rPr>
                  <a:t> </a:t>
                </a:r>
              </a:p>
            </p:txBody>
          </p:sp>
        </mc:Fallback>
      </mc:AlternateContent>
    </p:spTree>
    <p:extLst>
      <p:ext uri="{BB962C8B-B14F-4D97-AF65-F5344CB8AC3E}">
        <p14:creationId xmlns:p14="http://schemas.microsoft.com/office/powerpoint/2010/main" val="23367880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34B790-A557-D5E3-FD07-6251EB62A0E2}"/>
              </a:ext>
            </a:extLst>
          </p:cNvPr>
          <p:cNvSpPr>
            <a:spLocks noGrp="1"/>
          </p:cNvSpPr>
          <p:nvPr>
            <p:ph type="title"/>
          </p:nvPr>
        </p:nvSpPr>
        <p:spPr>
          <a:xfrm>
            <a:off x="311700" y="2218050"/>
            <a:ext cx="8520600" cy="707400"/>
          </a:xfrm>
        </p:spPr>
        <p:txBody>
          <a:bodyPr>
            <a:normAutofit fontScale="90000"/>
          </a:bodyPr>
          <a:lstStyle/>
          <a:p>
            <a:pPr algn="ctr"/>
            <a:r>
              <a:rPr lang="en-US" dirty="0"/>
              <a:t>SVD for Rank Reduction</a:t>
            </a:r>
          </a:p>
        </p:txBody>
      </p:sp>
    </p:spTree>
    <p:extLst>
      <p:ext uri="{BB962C8B-B14F-4D97-AF65-F5344CB8AC3E}">
        <p14:creationId xmlns:p14="http://schemas.microsoft.com/office/powerpoint/2010/main" val="3634180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4746F3-9B56-F70B-ED19-ECCD280857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38C38F-9493-1A64-A1F8-658FC6635274}"/>
              </a:ext>
            </a:extLst>
          </p:cNvPr>
          <p:cNvSpPr>
            <a:spLocks noGrp="1"/>
          </p:cNvSpPr>
          <p:nvPr>
            <p:ph type="title"/>
          </p:nvPr>
        </p:nvSpPr>
        <p:spPr/>
        <p:txBody>
          <a:bodyPr>
            <a:normAutofit fontScale="90000"/>
          </a:bodyPr>
          <a:lstStyle/>
          <a:p>
            <a:r>
              <a:rPr lang="en-US" dirty="0"/>
              <a:t>Approximation for A</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1387E3F2-F46F-C118-6936-014943F5F619}"/>
                  </a:ext>
                </a:extLst>
              </p:cNvPr>
              <p:cNvSpPr>
                <a:spLocks noGrp="1"/>
              </p:cNvSpPr>
              <p:nvPr>
                <p:ph type="body" idx="1"/>
              </p:nvPr>
            </p:nvSpPr>
            <p:spPr>
              <a:xfrm>
                <a:off x="311700" y="1266324"/>
                <a:ext cx="8520600" cy="2410326"/>
              </a:xfrm>
            </p:spPr>
            <p:txBody>
              <a:bodyPr>
                <a:normAutofit/>
              </a:bodyPr>
              <a:lstStyle/>
              <a:p>
                <a:pPr marL="114300" indent="0">
                  <a:buNone/>
                </a:pPr>
                <a:r>
                  <a:rPr lang="en-US" dirty="0"/>
                  <a:t>Goal: Approximate </a:t>
                </a:r>
                <a14:m>
                  <m:oMath xmlns:m="http://schemas.openxmlformats.org/officeDocument/2006/math">
                    <m:r>
                      <a:rPr lang="en-US" b="0" i="1" smtClean="0">
                        <a:latin typeface="Cambria Math" panose="02040503050406030204" pitchFamily="18" charset="0"/>
                      </a:rPr>
                      <m:t>𝑚</m:t>
                    </m:r>
                    <m:r>
                      <a:rPr lang="en-US" b="0" i="1" smtClean="0">
                        <a:latin typeface="Cambria Math" panose="02040503050406030204" pitchFamily="18" charset="0"/>
                      </a:rPr>
                      <m:t> × </m:t>
                    </m:r>
                    <m:r>
                      <a:rPr lang="en-US" b="0" i="1" smtClean="0">
                        <a:latin typeface="Cambria Math" panose="02040503050406030204" pitchFamily="18" charset="0"/>
                      </a:rPr>
                      <m:t>𝑛</m:t>
                    </m:r>
                  </m:oMath>
                </a14:m>
                <a:r>
                  <a:rPr lang="en-US" b="0" dirty="0"/>
                  <a:t> matrix </a:t>
                </a:r>
                <a14:m>
                  <m:oMath xmlns:m="http://schemas.openxmlformats.org/officeDocument/2006/math">
                    <m:r>
                      <a:rPr lang="en-US" b="0" i="1" smtClean="0">
                        <a:latin typeface="Cambria Math" panose="02040503050406030204" pitchFamily="18" charset="0"/>
                      </a:rPr>
                      <m:t>𝐴</m:t>
                    </m:r>
                  </m:oMath>
                </a14:m>
                <a:r>
                  <a:rPr lang="en-US" b="0" dirty="0"/>
                  <a:t> with rank-k matrix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d>
                          <m:dPr>
                            <m:ctrlPr>
                              <a:rPr lang="en-US" b="0" i="1" smtClean="0">
                                <a:latin typeface="Cambria Math" panose="02040503050406030204" pitchFamily="18" charset="0"/>
                              </a:rPr>
                            </m:ctrlPr>
                          </m:dPr>
                          <m:e>
                            <m:r>
                              <a:rPr lang="en-US" b="0" i="1" smtClean="0">
                                <a:latin typeface="Cambria Math" panose="02040503050406030204" pitchFamily="18" charset="0"/>
                              </a:rPr>
                              <m:t>𝑘</m:t>
                            </m:r>
                          </m:e>
                        </m:d>
                      </m:sup>
                    </m:sSup>
                  </m:oMath>
                </a14:m>
                <a:r>
                  <a:rPr lang="en-US" b="0" dirty="0"/>
                  <a:t> such that</a:t>
                </a:r>
              </a:p>
              <a:p>
                <a:pPr>
                  <a:buFont typeface="+mj-lt"/>
                  <a:buAutoNum type="arabicPeriod"/>
                </a:pPr>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𝑑</m:t>
                        </m:r>
                      </m:e>
                      <m:sub>
                        <m:r>
                          <a:rPr lang="en-US" i="1">
                            <a:latin typeface="Cambria Math" panose="02040503050406030204" pitchFamily="18" charset="0"/>
                          </a:rPr>
                          <m:t>𝐹</m:t>
                        </m:r>
                      </m:sub>
                    </m:sSub>
                    <m:d>
                      <m:dPr>
                        <m:ctrlPr>
                          <a:rPr lang="en-US" i="1">
                            <a:latin typeface="Cambria Math" panose="02040503050406030204" pitchFamily="18" charset="0"/>
                          </a:rPr>
                        </m:ctrlPr>
                      </m:dPr>
                      <m:e>
                        <m:r>
                          <a:rPr lang="en-US" i="1">
                            <a:latin typeface="Cambria Math" panose="02040503050406030204" pitchFamily="18" charset="0"/>
                          </a:rPr>
                          <m:t>𝐴</m:t>
                        </m:r>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𝐴</m:t>
                            </m:r>
                          </m:e>
                          <m:sup>
                            <m:d>
                              <m:dPr>
                                <m:ctrlPr>
                                  <a:rPr lang="en-US" i="1">
                                    <a:latin typeface="Cambria Math" panose="02040503050406030204" pitchFamily="18" charset="0"/>
                                  </a:rPr>
                                </m:ctrlPr>
                              </m:dPr>
                              <m:e>
                                <m:r>
                                  <a:rPr lang="en-US" i="1">
                                    <a:latin typeface="Cambria Math" panose="02040503050406030204" pitchFamily="18" charset="0"/>
                                  </a:rPr>
                                  <m:t>𝑘</m:t>
                                </m:r>
                              </m:e>
                            </m:d>
                          </m:sup>
                        </m:sSup>
                      </m:e>
                    </m:d>
                  </m:oMath>
                </a14:m>
                <a:r>
                  <a:rPr lang="en-US" dirty="0"/>
                  <a:t> small</a:t>
                </a:r>
              </a:p>
              <a:p>
                <a:pPr>
                  <a:buFont typeface="+mj-lt"/>
                  <a:buAutoNum type="arabicPeriod"/>
                </a:pPr>
                <a:r>
                  <a:rPr lang="en-US" b="0" dirty="0"/>
                  <a:t> </a:t>
                </a:r>
                <a14:m>
                  <m:oMath xmlns:m="http://schemas.openxmlformats.org/officeDocument/2006/math">
                    <m:r>
                      <a:rPr lang="en-US" b="0" i="1" smtClean="0">
                        <a:latin typeface="Cambria Math" panose="02040503050406030204" pitchFamily="18" charset="0"/>
                      </a:rPr>
                      <m:t>𝑘</m:t>
                    </m:r>
                  </m:oMath>
                </a14:m>
                <a:r>
                  <a:rPr lang="en-US" b="0" dirty="0"/>
                  <a:t> small compared to </a:t>
                </a:r>
                <a14:m>
                  <m:oMath xmlns:m="http://schemas.openxmlformats.org/officeDocument/2006/math">
                    <m:r>
                      <a:rPr lang="en-US" b="0" i="1" smtClean="0">
                        <a:latin typeface="Cambria Math" panose="02040503050406030204" pitchFamily="18" charset="0"/>
                      </a:rPr>
                      <m:t>𝑚</m:t>
                    </m:r>
                    <m:r>
                      <a:rPr lang="en-US" b="0" i="1" smtClean="0">
                        <a:latin typeface="Cambria Math" panose="02040503050406030204" pitchFamily="18" charset="0"/>
                      </a:rPr>
                      <m:t> &amp; </m:t>
                    </m:r>
                    <m:r>
                      <a:rPr lang="en-US" b="0" i="1" smtClean="0">
                        <a:latin typeface="Cambria Math" panose="02040503050406030204" pitchFamily="18" charset="0"/>
                      </a:rPr>
                      <m:t>𝑛</m:t>
                    </m:r>
                  </m:oMath>
                </a14:m>
                <a:endParaRPr lang="en-US" b="0" dirty="0"/>
              </a:p>
              <a:p>
                <a:pPr marL="114300" indent="0">
                  <a:buNone/>
                </a:pPr>
                <a:endParaRPr lang="en-US" dirty="0"/>
              </a:p>
              <a:p>
                <a:pPr marL="114300" indent="0">
                  <a:buNone/>
                </a:pPr>
                <a:r>
                  <a:rPr lang="en-US" b="0" dirty="0"/>
                  <a:t>When </a:t>
                </a:r>
                <a14:m>
                  <m:oMath xmlns:m="http://schemas.openxmlformats.org/officeDocument/2006/math">
                    <m:r>
                      <a:rPr lang="en-US" b="0" i="1" smtClean="0">
                        <a:latin typeface="Cambria Math" panose="02040503050406030204" pitchFamily="18" charset="0"/>
                      </a:rPr>
                      <m:t>𝑘</m:t>
                    </m:r>
                    <m:r>
                      <a:rPr lang="en-US" b="0" i="1" smtClean="0">
                        <a:latin typeface="Cambria Math" panose="02040503050406030204" pitchFamily="18" charset="0"/>
                      </a:rPr>
                      <m:t>&lt;</m:t>
                    </m:r>
                    <m:r>
                      <a:rPr lang="en-US" b="0" i="1" smtClean="0">
                        <a:latin typeface="Cambria Math" panose="02040503050406030204" pitchFamily="18" charset="0"/>
                      </a:rPr>
                      <m:t>𝑟𝑎𝑛𝑘</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e>
                    </m:d>
                  </m:oMath>
                </a14:m>
                <a:r>
                  <a:rPr lang="en-US" b="0" dirty="0"/>
                  <a:t>, the rank </a:t>
                </a:r>
                <a14:m>
                  <m:oMath xmlns:m="http://schemas.openxmlformats.org/officeDocument/2006/math">
                    <m:r>
                      <a:rPr lang="en-US" b="0" i="1" smtClean="0">
                        <a:latin typeface="Cambria Math" panose="02040503050406030204" pitchFamily="18" charset="0"/>
                      </a:rPr>
                      <m:t>𝑘</m:t>
                    </m:r>
                  </m:oMath>
                </a14:m>
                <a:r>
                  <a:rPr lang="en-US" b="0" dirty="0"/>
                  <a:t> approximation of A is </a:t>
                </a:r>
                <a:r>
                  <a:rPr lang="en-US" dirty="0"/>
                  <a:t>given by</a:t>
                </a:r>
              </a:p>
              <a:p>
                <a:pPr marL="114300" indent="0">
                  <a:buNone/>
                </a:pPr>
                <a14:m>
                  <m:oMathPara xmlns:m="http://schemas.openxmlformats.org/officeDocument/2006/math">
                    <m:oMath>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r>
                            <a:rPr lang="en-US" b="0" i="1" smtClean="0">
                              <a:latin typeface="Cambria Math" panose="02040503050406030204" pitchFamily="18" charset="0"/>
                            </a:rPr>
                            <m:t>𝑘</m:t>
                          </m:r>
                          <m:r>
                            <a:rPr lang="en-US" b="0" i="1" smtClean="0">
                              <a:latin typeface="Cambria Math" panose="02040503050406030204" pitchFamily="18" charset="0"/>
                            </a:rPr>
                            <m:t>)</m:t>
                          </m:r>
                        </m:sup>
                      </m:sSup>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func>
                            <m:funcPr>
                              <m:ctrlPr>
                                <a:rPr lang="en-US" b="0" i="1" smtClean="0">
                                  <a:latin typeface="Cambria Math" panose="02040503050406030204" pitchFamily="18" charset="0"/>
                                </a:rPr>
                              </m:ctrlPr>
                            </m:funcPr>
                            <m:fName>
                              <m:limLow>
                                <m:limLowPr>
                                  <m:ctrlPr>
                                    <a:rPr lang="en-US" b="0" i="0" smtClean="0">
                                      <a:latin typeface="Cambria Math" panose="02040503050406030204" pitchFamily="18" charset="0"/>
                                    </a:rPr>
                                  </m:ctrlPr>
                                </m:limLowPr>
                                <m:e>
                                  <m:r>
                                    <m:rPr>
                                      <m:sty m:val="p"/>
                                    </m:rPr>
                                    <a:rPr lang="en-US" b="0" i="0" smtClean="0">
                                      <a:latin typeface="Cambria Math" panose="02040503050406030204" pitchFamily="18" charset="0"/>
                                    </a:rPr>
                                    <m:t>argmin</m:t>
                                  </m:r>
                                </m:e>
                                <m:lim>
                                  <m:r>
                                    <a:rPr lang="en-US" b="0" i="1" smtClean="0">
                                      <a:latin typeface="Cambria Math" panose="02040503050406030204" pitchFamily="18" charset="0"/>
                                    </a:rPr>
                                    <m:t>{</m:t>
                                  </m:r>
                                  <m:r>
                                    <a:rPr lang="en-US" b="0" i="1" smtClean="0">
                                      <a:latin typeface="Cambria Math" panose="02040503050406030204" pitchFamily="18" charset="0"/>
                                    </a:rPr>
                                    <m:t>𝐵</m:t>
                                  </m:r>
                                  <m:r>
                                    <a:rPr lang="en-US" b="0" i="1" smtClean="0">
                                      <a:latin typeface="Cambria Math" panose="02040503050406030204" pitchFamily="18" charset="0"/>
                                    </a:rPr>
                                    <m:t>|</m:t>
                                  </m:r>
                                  <m:r>
                                    <a:rPr lang="en-US" b="0" i="1" smtClean="0">
                                      <a:latin typeface="Cambria Math" panose="02040503050406030204" pitchFamily="18" charset="0"/>
                                    </a:rPr>
                                    <m:t>𝑟𝑎𝑛𝑘</m:t>
                                  </m:r>
                                  <m:d>
                                    <m:dPr>
                                      <m:ctrlPr>
                                        <a:rPr lang="en-US" b="0" i="1" smtClean="0">
                                          <a:latin typeface="Cambria Math" panose="02040503050406030204" pitchFamily="18" charset="0"/>
                                        </a:rPr>
                                      </m:ctrlPr>
                                    </m:dPr>
                                    <m:e>
                                      <m:r>
                                        <a:rPr lang="en-US" b="0" i="1" smtClean="0">
                                          <a:latin typeface="Cambria Math" panose="02040503050406030204" pitchFamily="18" charset="0"/>
                                        </a:rPr>
                                        <m:t>𝐵</m:t>
                                      </m:r>
                                    </m:e>
                                  </m:d>
                                  <m:r>
                                    <a:rPr lang="en-US" b="0" i="1" smtClean="0">
                                      <a:latin typeface="Cambria Math" panose="02040503050406030204" pitchFamily="18" charset="0"/>
                                    </a:rPr>
                                    <m:t>=</m:t>
                                  </m:r>
                                  <m:r>
                                    <a:rPr lang="en-US" b="0" i="1" smtClean="0">
                                      <a:latin typeface="Cambria Math" panose="02040503050406030204" pitchFamily="18" charset="0"/>
                                    </a:rPr>
                                    <m:t>𝑘</m:t>
                                  </m:r>
                                  <m:r>
                                    <a:rPr lang="en-US" b="0" i="1" smtClean="0">
                                      <a:latin typeface="Cambria Math" panose="02040503050406030204" pitchFamily="18" charset="0"/>
                                    </a:rPr>
                                    <m:t>}</m:t>
                                  </m:r>
                                </m:lim>
                              </m:limLow>
                            </m:fNa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𝑑</m:t>
                                  </m:r>
                                </m:e>
                                <m:sub>
                                  <m:r>
                                    <a:rPr lang="en-US" b="0" i="1" smtClean="0">
                                      <a:latin typeface="Cambria Math" panose="02040503050406030204" pitchFamily="18" charset="0"/>
                                    </a:rPr>
                                    <m:t>𝐹</m:t>
                                  </m:r>
                                </m:sub>
                              </m:sSub>
                            </m:e>
                          </m:func>
                        </m:fName>
                        <m:e>
                          <m:r>
                            <a:rPr lang="en-US" b="0" i="1" smtClean="0">
                              <a:latin typeface="Cambria Math" panose="02040503050406030204" pitchFamily="18" charset="0"/>
                            </a:rPr>
                            <m:t>(</m:t>
                          </m:r>
                          <m:r>
                            <a:rPr lang="en-US" b="0" i="1" smtClean="0">
                              <a:latin typeface="Cambria Math" panose="02040503050406030204" pitchFamily="18" charset="0"/>
                            </a:rPr>
                            <m:t>𝐴</m:t>
                          </m:r>
                          <m:r>
                            <a:rPr lang="en-US" b="0" i="1" smtClean="0">
                              <a:latin typeface="Cambria Math" panose="02040503050406030204" pitchFamily="18" charset="0"/>
                            </a:rPr>
                            <m:t>,</m:t>
                          </m:r>
                          <m:r>
                            <a:rPr lang="en-US" b="0" i="1" smtClean="0">
                              <a:latin typeface="Cambria Math" panose="02040503050406030204" pitchFamily="18" charset="0"/>
                            </a:rPr>
                            <m:t>𝐵</m:t>
                          </m:r>
                          <m:r>
                            <a:rPr lang="en-US" b="0" i="1" smtClean="0">
                              <a:latin typeface="Cambria Math" panose="02040503050406030204" pitchFamily="18" charset="0"/>
                            </a:rPr>
                            <m:t>)</m:t>
                          </m:r>
                        </m:e>
                      </m:func>
                    </m:oMath>
                  </m:oMathPara>
                </a14:m>
                <a:endParaRPr lang="en-US" b="0" dirty="0"/>
              </a:p>
              <a:p>
                <a:pPr>
                  <a:buFont typeface="+mj-lt"/>
                  <a:buAutoNum type="arabicPeriod"/>
                </a:pPr>
                <a:endParaRPr lang="en-US" b="0" dirty="0"/>
              </a:p>
              <a:p>
                <a:pPr marL="114300" indent="0">
                  <a:buNone/>
                </a:pPr>
                <a:endParaRPr lang="en-US" b="0" dirty="0"/>
              </a:p>
              <a:p>
                <a:pPr marL="114300" indent="0">
                  <a:buNone/>
                </a:pPr>
                <a:endParaRPr lang="en-US" b="0" dirty="0"/>
              </a:p>
              <a:p>
                <a:pPr marL="114300" indent="0">
                  <a:buNone/>
                </a:pPr>
                <a:endParaRPr lang="en-US" dirty="0"/>
              </a:p>
            </p:txBody>
          </p:sp>
        </mc:Choice>
        <mc:Fallback xmlns="">
          <p:sp>
            <p:nvSpPr>
              <p:cNvPr id="3" name="Text Placeholder 2">
                <a:extLst>
                  <a:ext uri="{FF2B5EF4-FFF2-40B4-BE49-F238E27FC236}">
                    <a16:creationId xmlns:a16="http://schemas.microsoft.com/office/drawing/2014/main" id="{1387E3F2-F46F-C118-6936-014943F5F619}"/>
                  </a:ext>
                </a:extLst>
              </p:cNvPr>
              <p:cNvSpPr>
                <a:spLocks noGrp="1" noRot="1" noChangeAspect="1" noMove="1" noResize="1" noEditPoints="1" noAdjustHandles="1" noChangeArrowheads="1" noChangeShapeType="1" noTextEdit="1"/>
              </p:cNvSpPr>
              <p:nvPr>
                <p:ph type="body" idx="1"/>
              </p:nvPr>
            </p:nvSpPr>
            <p:spPr>
              <a:xfrm>
                <a:off x="311700" y="1266324"/>
                <a:ext cx="8520600" cy="2410326"/>
              </a:xfr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D44B75AE-3363-4043-4F98-5E1ED95CAF66}"/>
                  </a:ext>
                </a:extLst>
              </p:cNvPr>
              <p:cNvSpPr txBox="1"/>
              <p:nvPr/>
            </p:nvSpPr>
            <p:spPr>
              <a:xfrm>
                <a:off x="390525" y="3893821"/>
                <a:ext cx="2914650" cy="930511"/>
              </a:xfrm>
              <a:prstGeom prst="rect">
                <a:avLst/>
              </a:prstGeom>
              <a:noFill/>
            </p:spPr>
            <p:txBody>
              <a:bodyPr wrap="square" rtlCol="0">
                <a:spAutoFit/>
              </a:bodyPr>
              <a:lstStyle/>
              <a:p>
                <a:pPr marL="114300">
                  <a:buClr>
                    <a:schemeClr val="dk2"/>
                  </a:buClr>
                  <a:buSzPts val="1800"/>
                </a:pPr>
                <a14:m>
                  <m:oMathPara xmlns:m="http://schemas.openxmlformats.org/officeDocument/2006/math">
                    <m:oMath>
                      <m:sSub>
                        <m:sSubPr>
                          <m:ctrlPr>
                            <a:rPr lang="en-US" i="1">
                              <a:solidFill>
                                <a:schemeClr val="bg2"/>
                              </a:solidFill>
                              <a:latin typeface="Cambria Math" panose="02040503050406030204" pitchFamily="18" charset="0"/>
                            </a:rPr>
                          </m:ctrlPr>
                        </m:sSubPr>
                        <m:e>
                          <m:r>
                            <a:rPr lang="en-US" i="1">
                              <a:solidFill>
                                <a:schemeClr val="bg2"/>
                              </a:solidFill>
                              <a:latin typeface="Cambria Math" panose="02040503050406030204" pitchFamily="18" charset="0"/>
                            </a:rPr>
                            <m:t>𝑑</m:t>
                          </m:r>
                        </m:e>
                        <m:sub>
                          <m:r>
                            <a:rPr lang="en-US" b="0" i="1" smtClean="0">
                              <a:solidFill>
                                <a:schemeClr val="bg2"/>
                              </a:solidFill>
                              <a:latin typeface="Cambria Math" panose="02040503050406030204" pitchFamily="18" charset="0"/>
                            </a:rPr>
                            <m:t>𝐹</m:t>
                          </m:r>
                        </m:sub>
                      </m:sSub>
                      <m:r>
                        <a:rPr lang="en-US" i="1">
                          <a:solidFill>
                            <a:schemeClr val="bg2"/>
                          </a:solidFill>
                          <a:latin typeface="Cambria Math" panose="02040503050406030204" pitchFamily="18" charset="0"/>
                        </a:rPr>
                        <m:t>(</m:t>
                      </m:r>
                      <m:r>
                        <a:rPr lang="en-US" i="1">
                          <a:solidFill>
                            <a:schemeClr val="bg2"/>
                          </a:solidFill>
                          <a:latin typeface="Cambria Math" panose="02040503050406030204" pitchFamily="18" charset="0"/>
                        </a:rPr>
                        <m:t>𝐴</m:t>
                      </m:r>
                      <m:r>
                        <a:rPr lang="en-US" i="1">
                          <a:solidFill>
                            <a:schemeClr val="bg2"/>
                          </a:solidFill>
                          <a:latin typeface="Cambria Math" panose="02040503050406030204" pitchFamily="18" charset="0"/>
                        </a:rPr>
                        <m:t>,</m:t>
                      </m:r>
                      <m:r>
                        <a:rPr lang="en-US" i="1">
                          <a:solidFill>
                            <a:schemeClr val="bg2"/>
                          </a:solidFill>
                          <a:latin typeface="Cambria Math" panose="02040503050406030204" pitchFamily="18" charset="0"/>
                        </a:rPr>
                        <m:t>𝐵</m:t>
                      </m:r>
                      <m:r>
                        <a:rPr lang="en-US" i="1">
                          <a:solidFill>
                            <a:schemeClr val="bg2"/>
                          </a:solidFill>
                          <a:latin typeface="Cambria Math" panose="02040503050406030204" pitchFamily="18" charset="0"/>
                        </a:rPr>
                        <m:t>)=</m:t>
                      </m:r>
                      <m:rad>
                        <m:radPr>
                          <m:degHide m:val="on"/>
                          <m:ctrlPr>
                            <a:rPr lang="en-US" i="1">
                              <a:solidFill>
                                <a:schemeClr val="bg2"/>
                              </a:solidFill>
                              <a:latin typeface="Cambria Math" panose="02040503050406030204" pitchFamily="18" charset="0"/>
                            </a:rPr>
                          </m:ctrlPr>
                        </m:radPr>
                        <m:deg/>
                        <m:e>
                          <m:nary>
                            <m:naryPr>
                              <m:chr m:val="∑"/>
                              <m:ctrlPr>
                                <a:rPr lang="en-US" i="1">
                                  <a:solidFill>
                                    <a:schemeClr val="bg2"/>
                                  </a:solidFill>
                                  <a:latin typeface="Cambria Math" panose="02040503050406030204" pitchFamily="18" charset="0"/>
                                </a:rPr>
                              </m:ctrlPr>
                            </m:naryPr>
                            <m:sub>
                              <m:r>
                                <m:rPr>
                                  <m:brk m:alnAt="23"/>
                                </m:rPr>
                                <a:rPr lang="en-US" i="1">
                                  <a:solidFill>
                                    <a:schemeClr val="bg2"/>
                                  </a:solidFill>
                                  <a:latin typeface="Cambria Math" panose="02040503050406030204" pitchFamily="18" charset="0"/>
                                </a:rPr>
                                <m:t>𝑖</m:t>
                              </m:r>
                              <m:r>
                                <m:rPr>
                                  <m:brk m:alnAt="23"/>
                                </m:rPr>
                                <a:rPr lang="en-US" i="1">
                                  <a:solidFill>
                                    <a:schemeClr val="bg2"/>
                                  </a:solidFill>
                                  <a:latin typeface="Cambria Math" panose="02040503050406030204" pitchFamily="18" charset="0"/>
                                </a:rPr>
                                <m:t>=</m:t>
                              </m:r>
                              <m:r>
                                <m:rPr>
                                  <m:brk m:alnAt="23"/>
                                </m:rPr>
                                <a:rPr lang="en-US" i="1">
                                  <a:solidFill>
                                    <a:schemeClr val="bg2"/>
                                  </a:solidFill>
                                  <a:latin typeface="Cambria Math" panose="02040503050406030204" pitchFamily="18" charset="0"/>
                                </a:rPr>
                                <m:t>1</m:t>
                              </m:r>
                            </m:sub>
                            <m:sup>
                              <m:r>
                                <a:rPr lang="en-US" i="1">
                                  <a:solidFill>
                                    <a:schemeClr val="bg2"/>
                                  </a:solidFill>
                                  <a:latin typeface="Cambria Math" panose="02040503050406030204" pitchFamily="18" charset="0"/>
                                </a:rPr>
                                <m:t>𝑚</m:t>
                              </m:r>
                            </m:sup>
                            <m:e>
                              <m:nary>
                                <m:naryPr>
                                  <m:chr m:val="∑"/>
                                  <m:ctrlPr>
                                    <a:rPr lang="en-US" i="1">
                                      <a:solidFill>
                                        <a:schemeClr val="bg2"/>
                                      </a:solidFill>
                                      <a:latin typeface="Cambria Math" panose="02040503050406030204" pitchFamily="18" charset="0"/>
                                    </a:rPr>
                                  </m:ctrlPr>
                                </m:naryPr>
                                <m:sub>
                                  <m:r>
                                    <m:rPr>
                                      <m:brk m:alnAt="23"/>
                                    </m:rPr>
                                    <a:rPr lang="en-US" i="1">
                                      <a:solidFill>
                                        <a:schemeClr val="bg2"/>
                                      </a:solidFill>
                                      <a:latin typeface="Cambria Math" panose="02040503050406030204" pitchFamily="18" charset="0"/>
                                    </a:rPr>
                                    <m:t>𝑗</m:t>
                                  </m:r>
                                  <m:r>
                                    <m:rPr>
                                      <m:brk m:alnAt="23"/>
                                    </m:rPr>
                                    <a:rPr lang="en-US" i="1">
                                      <a:solidFill>
                                        <a:schemeClr val="bg2"/>
                                      </a:solidFill>
                                      <a:latin typeface="Cambria Math" panose="02040503050406030204" pitchFamily="18" charset="0"/>
                                    </a:rPr>
                                    <m:t>=</m:t>
                                  </m:r>
                                  <m:r>
                                    <m:rPr>
                                      <m:brk m:alnAt="23"/>
                                    </m:rPr>
                                    <a:rPr lang="en-US" i="1">
                                      <a:solidFill>
                                        <a:schemeClr val="bg2"/>
                                      </a:solidFill>
                                      <a:latin typeface="Cambria Math" panose="02040503050406030204" pitchFamily="18" charset="0"/>
                                    </a:rPr>
                                    <m:t>1</m:t>
                                  </m:r>
                                </m:sub>
                                <m:sup>
                                  <m:r>
                                    <a:rPr lang="en-US" i="1">
                                      <a:solidFill>
                                        <a:schemeClr val="bg2"/>
                                      </a:solidFill>
                                      <a:latin typeface="Cambria Math" panose="02040503050406030204" pitchFamily="18" charset="0"/>
                                    </a:rPr>
                                    <m:t>𝑛</m:t>
                                  </m:r>
                                </m:sup>
                                <m:e>
                                  <m:sSup>
                                    <m:sSupPr>
                                      <m:ctrlPr>
                                        <a:rPr lang="en-US" i="1">
                                          <a:solidFill>
                                            <a:schemeClr val="bg2"/>
                                          </a:solidFill>
                                          <a:latin typeface="Cambria Math" panose="02040503050406030204" pitchFamily="18" charset="0"/>
                                        </a:rPr>
                                      </m:ctrlPr>
                                    </m:sSupPr>
                                    <m:e>
                                      <m:r>
                                        <a:rPr lang="en-US" i="1">
                                          <a:solidFill>
                                            <a:schemeClr val="bg2"/>
                                          </a:solidFill>
                                          <a:latin typeface="Cambria Math" panose="02040503050406030204" pitchFamily="18" charset="0"/>
                                        </a:rPr>
                                        <m:t>|</m:t>
                                      </m:r>
                                      <m:sSub>
                                        <m:sSubPr>
                                          <m:ctrlPr>
                                            <a:rPr lang="en-US" i="1">
                                              <a:solidFill>
                                                <a:schemeClr val="bg2"/>
                                              </a:solidFill>
                                              <a:latin typeface="Cambria Math" panose="02040503050406030204" pitchFamily="18" charset="0"/>
                                            </a:rPr>
                                          </m:ctrlPr>
                                        </m:sSubPr>
                                        <m:e>
                                          <m:r>
                                            <a:rPr lang="en-US" i="1">
                                              <a:solidFill>
                                                <a:schemeClr val="bg2"/>
                                              </a:solidFill>
                                              <a:latin typeface="Cambria Math" panose="02040503050406030204" pitchFamily="18" charset="0"/>
                                            </a:rPr>
                                            <m:t>𝑎</m:t>
                                          </m:r>
                                        </m:e>
                                        <m:sub>
                                          <m:r>
                                            <a:rPr lang="en-US" i="1">
                                              <a:solidFill>
                                                <a:schemeClr val="bg2"/>
                                              </a:solidFill>
                                              <a:latin typeface="Cambria Math" panose="02040503050406030204" pitchFamily="18" charset="0"/>
                                            </a:rPr>
                                            <m:t>𝑖𝑗</m:t>
                                          </m:r>
                                        </m:sub>
                                      </m:sSub>
                                      <m:r>
                                        <a:rPr lang="en-US" i="1">
                                          <a:solidFill>
                                            <a:schemeClr val="bg2"/>
                                          </a:solidFill>
                                          <a:latin typeface="Cambria Math" panose="02040503050406030204" pitchFamily="18" charset="0"/>
                                        </a:rPr>
                                        <m:t>−</m:t>
                                      </m:r>
                                      <m:sSub>
                                        <m:sSubPr>
                                          <m:ctrlPr>
                                            <a:rPr lang="en-US" i="1">
                                              <a:solidFill>
                                                <a:schemeClr val="bg2"/>
                                              </a:solidFill>
                                              <a:latin typeface="Cambria Math" panose="02040503050406030204" pitchFamily="18" charset="0"/>
                                            </a:rPr>
                                          </m:ctrlPr>
                                        </m:sSubPr>
                                        <m:e>
                                          <m:r>
                                            <a:rPr lang="en-US" i="1">
                                              <a:solidFill>
                                                <a:schemeClr val="bg2"/>
                                              </a:solidFill>
                                              <a:latin typeface="Cambria Math" panose="02040503050406030204" pitchFamily="18" charset="0"/>
                                            </a:rPr>
                                            <m:t>𝑏</m:t>
                                          </m:r>
                                        </m:e>
                                        <m:sub>
                                          <m:r>
                                            <a:rPr lang="en-US" i="1">
                                              <a:solidFill>
                                                <a:schemeClr val="bg2"/>
                                              </a:solidFill>
                                              <a:latin typeface="Cambria Math" panose="02040503050406030204" pitchFamily="18" charset="0"/>
                                            </a:rPr>
                                            <m:t>𝑖𝑗</m:t>
                                          </m:r>
                                        </m:sub>
                                      </m:sSub>
                                      <m:r>
                                        <a:rPr lang="en-US" i="1">
                                          <a:solidFill>
                                            <a:schemeClr val="bg2"/>
                                          </a:solidFill>
                                          <a:latin typeface="Cambria Math" panose="02040503050406030204" pitchFamily="18" charset="0"/>
                                        </a:rPr>
                                        <m:t>|</m:t>
                                      </m:r>
                                    </m:e>
                                    <m:sup>
                                      <m:r>
                                        <a:rPr lang="en-US" i="1">
                                          <a:solidFill>
                                            <a:schemeClr val="bg2"/>
                                          </a:solidFill>
                                          <a:latin typeface="Cambria Math" panose="02040503050406030204" pitchFamily="18" charset="0"/>
                                        </a:rPr>
                                        <m:t>2</m:t>
                                      </m:r>
                                    </m:sup>
                                  </m:sSup>
                                </m:e>
                              </m:nary>
                            </m:e>
                          </m:nary>
                        </m:e>
                      </m:rad>
                    </m:oMath>
                  </m:oMathPara>
                </a14:m>
                <a:endParaRPr lang="en-US" dirty="0">
                  <a:solidFill>
                    <a:schemeClr val="bg2"/>
                  </a:solidFill>
                </a:endParaRPr>
              </a:p>
            </p:txBody>
          </p:sp>
        </mc:Choice>
        <mc:Fallback xmlns="">
          <p:sp>
            <p:nvSpPr>
              <p:cNvPr id="6" name="TextBox 5">
                <a:extLst>
                  <a:ext uri="{FF2B5EF4-FFF2-40B4-BE49-F238E27FC236}">
                    <a16:creationId xmlns:a16="http://schemas.microsoft.com/office/drawing/2014/main" id="{D44B75AE-3363-4043-4F98-5E1ED95CAF66}"/>
                  </a:ext>
                </a:extLst>
              </p:cNvPr>
              <p:cNvSpPr txBox="1">
                <a:spLocks noRot="1" noChangeAspect="1" noMove="1" noResize="1" noEditPoints="1" noAdjustHandles="1" noChangeArrowheads="1" noChangeShapeType="1" noTextEdit="1"/>
              </p:cNvSpPr>
              <p:nvPr/>
            </p:nvSpPr>
            <p:spPr>
              <a:xfrm>
                <a:off x="390525" y="3893821"/>
                <a:ext cx="2914650" cy="930511"/>
              </a:xfrm>
              <a:prstGeom prst="rect">
                <a:avLst/>
              </a:prstGeom>
              <a:blipFill>
                <a:blip r:embed="rId3"/>
                <a:stretch>
                  <a:fillRect t="-56757" b="-100000"/>
                </a:stretch>
              </a:blipFill>
            </p:spPr>
            <p:txBody>
              <a:bodyPr/>
              <a:lstStyle/>
              <a:p>
                <a:r>
                  <a:rPr lang="en-US">
                    <a:noFill/>
                  </a:rPr>
                  <a:t> </a:t>
                </a:r>
              </a:p>
            </p:txBody>
          </p:sp>
        </mc:Fallback>
      </mc:AlternateContent>
    </p:spTree>
    <p:extLst>
      <p:ext uri="{BB962C8B-B14F-4D97-AF65-F5344CB8AC3E}">
        <p14:creationId xmlns:p14="http://schemas.microsoft.com/office/powerpoint/2010/main" val="14482152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F8248E-0785-94E4-19FD-756EBBB798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4D54DE-F263-BE62-3D55-7DD9B070D886}"/>
              </a:ext>
            </a:extLst>
          </p:cNvPr>
          <p:cNvSpPr>
            <a:spLocks noGrp="1"/>
          </p:cNvSpPr>
          <p:nvPr>
            <p:ph type="title"/>
          </p:nvPr>
        </p:nvSpPr>
        <p:spPr/>
        <p:txBody>
          <a:bodyPr>
            <a:normAutofit fontScale="90000"/>
          </a:bodyPr>
          <a:lstStyle/>
          <a:p>
            <a:r>
              <a:rPr lang="en-US" dirty="0"/>
              <a:t>Rank-k approximation using SVD</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77510D0D-16FC-11F1-993E-27AD2EAD6A54}"/>
                  </a:ext>
                </a:extLst>
              </p:cNvPr>
              <p:cNvSpPr>
                <a:spLocks noGrp="1"/>
              </p:cNvSpPr>
              <p:nvPr>
                <p:ph type="body" idx="1"/>
              </p:nvPr>
            </p:nvSpPr>
            <p:spPr/>
            <p:txBody>
              <a:bodyPr/>
              <a:lstStyle/>
              <a:p>
                <a:pPr marL="114300" indent="0">
                  <a:buNone/>
                </a:pPr>
                <a14:m>
                  <m:oMathPara xmlns:m="http://schemas.openxmlformats.org/officeDocument/2006/math">
                    <m:oMath>
                      <m:r>
                        <a:rPr lang="en-US" i="1" smtClean="0">
                          <a:latin typeface="Cambria Math" panose="02040503050406030204" pitchFamily="18" charset="0"/>
                        </a:rPr>
                        <m:t>𝐴</m:t>
                      </m:r>
                      <m:r>
                        <a:rPr lang="en-US" i="1" smtClean="0">
                          <a:latin typeface="Cambria Math" panose="02040503050406030204" pitchFamily="18" charset="0"/>
                        </a:rPr>
                        <m:t>=</m:t>
                      </m:r>
                      <m:r>
                        <a:rPr lang="en-US" i="1" smtClean="0">
                          <a:latin typeface="Cambria Math" panose="02040503050406030204" pitchFamily="18" charset="0"/>
                        </a:rPr>
                        <m:t>𝑈</m:t>
                      </m:r>
                      <m:r>
                        <m:rPr>
                          <m:sty m:val="p"/>
                        </m:rPr>
                        <a:rPr lang="en-US">
                          <a:latin typeface="Cambria Math" panose="02040503050406030204" pitchFamily="18" charset="0"/>
                        </a:rPr>
                        <m:t>Σ</m:t>
                      </m:r>
                      <m:sSup>
                        <m:sSupPr>
                          <m:ctrlPr>
                            <a:rPr lang="en-US" i="1">
                              <a:latin typeface="Cambria Math" panose="02040503050406030204" pitchFamily="18" charset="0"/>
                            </a:rPr>
                          </m:ctrlPr>
                        </m:sSupPr>
                        <m:e>
                          <m:r>
                            <a:rPr lang="en-US" i="1">
                              <a:latin typeface="Cambria Math" panose="02040503050406030204" pitchFamily="18" charset="0"/>
                            </a:rPr>
                            <m:t>𝑉</m:t>
                          </m:r>
                        </m:e>
                        <m:sup>
                          <m:r>
                            <a:rPr lang="en-US" i="1">
                              <a:latin typeface="Cambria Math" panose="02040503050406030204" pitchFamily="18" charset="0"/>
                            </a:rPr>
                            <m:t>𝑇</m:t>
                          </m:r>
                        </m:sup>
                      </m:sSup>
                      <m:r>
                        <a:rPr lang="en-US" i="1">
                          <a:latin typeface="Cambria Math" panose="02040503050406030204" pitchFamily="18" charset="0"/>
                        </a:rPr>
                        <m:t>,</m:t>
                      </m:r>
                      <m:r>
                        <a:rPr lang="en-US" i="1">
                          <a:latin typeface="Cambria Math" panose="02040503050406030204" pitchFamily="18" charset="0"/>
                        </a:rPr>
                        <m:t>𝑈</m:t>
                      </m:r>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ℝ</m:t>
                          </m:r>
                        </m:e>
                        <m:sup>
                          <m:r>
                            <a:rPr lang="en-US" i="1">
                              <a:latin typeface="Cambria Math" panose="02040503050406030204" pitchFamily="18" charset="0"/>
                            </a:rPr>
                            <m:t>𝑛</m:t>
                          </m:r>
                          <m:r>
                            <a:rPr lang="en-US" i="1">
                              <a:latin typeface="Cambria Math" panose="02040503050406030204" pitchFamily="18" charset="0"/>
                            </a:rPr>
                            <m:t>×</m:t>
                          </m:r>
                          <m:r>
                            <a:rPr lang="en-US" i="1">
                              <a:latin typeface="Cambria Math" panose="02040503050406030204" pitchFamily="18" charset="0"/>
                            </a:rPr>
                            <m:t>𝑟</m:t>
                          </m:r>
                        </m:sup>
                      </m:sSup>
                      <m:r>
                        <a:rPr lang="en-US" i="1">
                          <a:latin typeface="Cambria Math" panose="02040503050406030204" pitchFamily="18" charset="0"/>
                        </a:rPr>
                        <m:t>,</m:t>
                      </m:r>
                      <m:r>
                        <m:rPr>
                          <m:sty m:val="p"/>
                        </m:rPr>
                        <a:rPr lang="en-US">
                          <a:latin typeface="Cambria Math" panose="02040503050406030204" pitchFamily="18" charset="0"/>
                        </a:rPr>
                        <m:t>Σ</m:t>
                      </m:r>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ℝ</m:t>
                          </m:r>
                        </m:e>
                        <m:sup>
                          <m:r>
                            <a:rPr lang="en-US" i="1">
                              <a:latin typeface="Cambria Math" panose="02040503050406030204" pitchFamily="18" charset="0"/>
                            </a:rPr>
                            <m:t>𝑟</m:t>
                          </m:r>
                          <m:r>
                            <a:rPr lang="en-US" i="1">
                              <a:latin typeface="Cambria Math" panose="02040503050406030204" pitchFamily="18" charset="0"/>
                            </a:rPr>
                            <m:t>×</m:t>
                          </m:r>
                          <m:r>
                            <a:rPr lang="en-US" i="1">
                              <a:latin typeface="Cambria Math" panose="02040503050406030204" pitchFamily="18" charset="0"/>
                            </a:rPr>
                            <m:t>𝑟</m:t>
                          </m:r>
                        </m:sup>
                      </m:sSup>
                      <m:r>
                        <a:rPr lang="en-US" i="1">
                          <a:latin typeface="Cambria Math" panose="02040503050406030204" pitchFamily="18" charset="0"/>
                        </a:rPr>
                        <m:t>,</m:t>
                      </m:r>
                      <m:r>
                        <a:rPr lang="en-US" i="1">
                          <a:latin typeface="Cambria Math" panose="02040503050406030204" pitchFamily="18" charset="0"/>
                        </a:rPr>
                        <m:t>𝑉</m:t>
                      </m:r>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ℝ</m:t>
                          </m:r>
                        </m:e>
                        <m:sup>
                          <m:r>
                            <a:rPr lang="en-US" i="1">
                              <a:latin typeface="Cambria Math" panose="02040503050406030204" pitchFamily="18" charset="0"/>
                            </a:rPr>
                            <m:t>𝑚</m:t>
                          </m:r>
                          <m:r>
                            <a:rPr lang="en-US" i="1">
                              <a:latin typeface="Cambria Math" panose="02040503050406030204" pitchFamily="18" charset="0"/>
                            </a:rPr>
                            <m:t>×</m:t>
                          </m:r>
                          <m:r>
                            <a:rPr lang="en-US" i="1">
                              <a:latin typeface="Cambria Math" panose="02040503050406030204" pitchFamily="18" charset="0"/>
                            </a:rPr>
                            <m:t>𝑟</m:t>
                          </m:r>
                        </m:sup>
                      </m:sSup>
                    </m:oMath>
                  </m:oMathPara>
                </a14:m>
                <a:endParaRPr lang="en-US" dirty="0"/>
              </a:p>
              <a:p>
                <a:pPr marL="114300" indent="0">
                  <a:buNone/>
                </a:pPr>
                <a:r>
                  <a:rPr lang="en-US" dirty="0"/>
                  <a:t>To get a rank-</a:t>
                </a:r>
                <a14:m>
                  <m:oMath xmlns:m="http://schemas.openxmlformats.org/officeDocument/2006/math">
                    <m:r>
                      <a:rPr lang="en-US" b="0" i="1" smtClean="0">
                        <a:latin typeface="Cambria Math" panose="02040503050406030204" pitchFamily="18" charset="0"/>
                      </a:rPr>
                      <m:t>𝑘</m:t>
                    </m:r>
                  </m:oMath>
                </a14:m>
                <a:r>
                  <a:rPr lang="en-US" b="0" dirty="0"/>
                  <a:t> approximation of </a:t>
                </a:r>
                <a14:m>
                  <m:oMath xmlns:m="http://schemas.openxmlformats.org/officeDocument/2006/math">
                    <m:r>
                      <a:rPr lang="en-US" b="0" i="1" smtClean="0">
                        <a:latin typeface="Cambria Math" panose="02040503050406030204" pitchFamily="18" charset="0"/>
                      </a:rPr>
                      <m:t>𝐴</m:t>
                    </m:r>
                  </m:oMath>
                </a14:m>
                <a:r>
                  <a:rPr lang="en-US" b="0" dirty="0"/>
                  <a:t> (</a:t>
                </a:r>
                <a14:m>
                  <m:oMath xmlns:m="http://schemas.openxmlformats.org/officeDocument/2006/math">
                    <m:r>
                      <a:rPr lang="en-US" b="0" i="1" dirty="0" smtClean="0">
                        <a:latin typeface="Cambria Math" panose="02040503050406030204" pitchFamily="18" charset="0"/>
                      </a:rPr>
                      <m:t>𝑘</m:t>
                    </m:r>
                    <m:r>
                      <a:rPr lang="en-US" b="0" i="1" dirty="0" smtClean="0">
                        <a:latin typeface="Cambria Math" panose="02040503050406030204" pitchFamily="18" charset="0"/>
                      </a:rPr>
                      <m:t> &lt; </m:t>
                    </m:r>
                    <m:r>
                      <a:rPr lang="en-US" b="0" i="1" dirty="0" smtClean="0">
                        <a:latin typeface="Cambria Math" panose="02040503050406030204" pitchFamily="18" charset="0"/>
                      </a:rPr>
                      <m:t>𝑟</m:t>
                    </m:r>
                  </m:oMath>
                </a14:m>
                <a:r>
                  <a:rPr lang="en-US" b="0" dirty="0"/>
                  <a:t>) using the SVD decomposition, we compute the following</a:t>
                </a:r>
                <a:endParaRPr lang="en-US" dirty="0"/>
              </a:p>
              <a:p>
                <a:pPr marL="114300" indent="0">
                  <a:buNone/>
                </a:pPr>
                <a14:m>
                  <m:oMathPara xmlns:m="http://schemas.openxmlformats.org/officeDocument/2006/math">
                    <m:oMath>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r>
                            <a:rPr lang="en-US" b="0" i="1" smtClean="0">
                              <a:latin typeface="Cambria Math" panose="02040503050406030204" pitchFamily="18" charset="0"/>
                            </a:rPr>
                            <m:t>𝑘</m:t>
                          </m:r>
                          <m:r>
                            <a:rPr lang="en-US" b="0" i="1" smtClean="0">
                              <a:latin typeface="Cambria Math" panose="02040503050406030204" pitchFamily="18" charset="0"/>
                            </a:rPr>
                            <m:t>)</m:t>
                          </m:r>
                        </m:sup>
                      </m:sSup>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𝜎</m:t>
                          </m:r>
                        </m:e>
                        <m:sub>
                          <m:r>
                            <a:rPr lang="en-US" b="0" i="1" smtClean="0">
                              <a:latin typeface="Cambria Math" panose="02040503050406030204" pitchFamily="18" charset="0"/>
                            </a:rPr>
                            <m:t>1</m:t>
                          </m:r>
                        </m:sub>
                      </m:sSub>
                      <m:sSub>
                        <m:sSubPr>
                          <m:ctrlPr>
                            <a:rPr lang="en-US" b="1" i="1" smtClean="0">
                              <a:latin typeface="Cambria Math" panose="02040503050406030204" pitchFamily="18" charset="0"/>
                            </a:rPr>
                          </m:ctrlPr>
                        </m:sSubPr>
                        <m:e>
                          <m:r>
                            <a:rPr lang="en-US" b="1" i="1" smtClean="0">
                              <a:latin typeface="Cambria Math" panose="02040503050406030204" pitchFamily="18" charset="0"/>
                            </a:rPr>
                            <m:t>𝒖</m:t>
                          </m:r>
                        </m:e>
                        <m:sub>
                          <m:r>
                            <a:rPr lang="en-US" b="1" i="1" smtClean="0">
                              <a:latin typeface="Cambria Math" panose="02040503050406030204" pitchFamily="18" charset="0"/>
                            </a:rPr>
                            <m:t>𝟏</m:t>
                          </m:r>
                        </m:sub>
                      </m:sSub>
                      <m:sSubSup>
                        <m:sSubSupPr>
                          <m:ctrlPr>
                            <a:rPr lang="en-US" b="1" i="1" smtClean="0">
                              <a:latin typeface="Cambria Math" panose="02040503050406030204" pitchFamily="18" charset="0"/>
                            </a:rPr>
                          </m:ctrlPr>
                        </m:sSubSupPr>
                        <m:e>
                          <m:r>
                            <a:rPr lang="en-US" b="1" i="1" smtClean="0">
                              <a:latin typeface="Cambria Math" panose="02040503050406030204" pitchFamily="18" charset="0"/>
                            </a:rPr>
                            <m:t>𝒗</m:t>
                          </m:r>
                        </m:e>
                        <m:sub>
                          <m:r>
                            <a:rPr lang="en-US" b="1" i="1" smtClean="0">
                              <a:latin typeface="Cambria Math" panose="02040503050406030204" pitchFamily="18" charset="0"/>
                            </a:rPr>
                            <m:t>𝟏</m:t>
                          </m:r>
                        </m:sub>
                        <m:sup>
                          <m:r>
                            <a:rPr lang="en-US" b="0" i="1" smtClean="0">
                              <a:latin typeface="Cambria Math" panose="02040503050406030204" pitchFamily="18" charset="0"/>
                            </a:rPr>
                            <m:t>𝑇</m:t>
                          </m:r>
                        </m:sup>
                      </m:sSubSup>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𝜎</m:t>
                          </m:r>
                        </m:e>
                        <m:sub>
                          <m:r>
                            <a:rPr lang="en-US" b="0" i="1" smtClean="0">
                              <a:latin typeface="Cambria Math" panose="02040503050406030204" pitchFamily="18" charset="0"/>
                            </a:rPr>
                            <m:t>2</m:t>
                          </m:r>
                        </m:sub>
                      </m:sSub>
                      <m:sSub>
                        <m:sSubPr>
                          <m:ctrlPr>
                            <a:rPr lang="en-US" b="1" i="1">
                              <a:latin typeface="Cambria Math" panose="02040503050406030204" pitchFamily="18" charset="0"/>
                            </a:rPr>
                          </m:ctrlPr>
                        </m:sSubPr>
                        <m:e>
                          <m:r>
                            <a:rPr lang="en-US" b="1" i="1">
                              <a:latin typeface="Cambria Math" panose="02040503050406030204" pitchFamily="18" charset="0"/>
                            </a:rPr>
                            <m:t>𝒖</m:t>
                          </m:r>
                        </m:e>
                        <m:sub>
                          <m:r>
                            <a:rPr lang="en-US" b="1" i="1" smtClean="0">
                              <a:latin typeface="Cambria Math" panose="02040503050406030204" pitchFamily="18" charset="0"/>
                            </a:rPr>
                            <m:t>𝟐</m:t>
                          </m:r>
                        </m:sub>
                      </m:sSub>
                      <m:sSubSup>
                        <m:sSubSupPr>
                          <m:ctrlPr>
                            <a:rPr lang="en-US" b="1" i="1">
                              <a:latin typeface="Cambria Math" panose="02040503050406030204" pitchFamily="18" charset="0"/>
                            </a:rPr>
                          </m:ctrlPr>
                        </m:sSubSupPr>
                        <m:e>
                          <m:r>
                            <a:rPr lang="en-US" b="1" i="1">
                              <a:latin typeface="Cambria Math" panose="02040503050406030204" pitchFamily="18" charset="0"/>
                            </a:rPr>
                            <m:t>𝒗</m:t>
                          </m:r>
                        </m:e>
                        <m:sub>
                          <m:r>
                            <a:rPr lang="en-US" b="1" i="1" smtClean="0">
                              <a:latin typeface="Cambria Math" panose="02040503050406030204" pitchFamily="18" charset="0"/>
                            </a:rPr>
                            <m:t>𝟐</m:t>
                          </m:r>
                        </m:sub>
                        <m:sup>
                          <m:r>
                            <a:rPr lang="en-US" i="1">
                              <a:latin typeface="Cambria Math" panose="02040503050406030204" pitchFamily="18" charset="0"/>
                            </a:rPr>
                            <m:t>𝑇</m:t>
                          </m:r>
                        </m:sup>
                      </m:sSubSup>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𝜎</m:t>
                          </m:r>
                        </m:e>
                        <m:sub>
                          <m:r>
                            <a:rPr lang="en-US" b="0" i="1" smtClean="0">
                              <a:latin typeface="Cambria Math" panose="02040503050406030204" pitchFamily="18" charset="0"/>
                            </a:rPr>
                            <m:t>𝑘</m:t>
                          </m:r>
                        </m:sub>
                      </m:sSub>
                      <m:sSub>
                        <m:sSubPr>
                          <m:ctrlPr>
                            <a:rPr lang="en-US" b="1" i="1">
                              <a:latin typeface="Cambria Math" panose="02040503050406030204" pitchFamily="18" charset="0"/>
                            </a:rPr>
                          </m:ctrlPr>
                        </m:sSubPr>
                        <m:e>
                          <m:r>
                            <a:rPr lang="en-US" b="1" i="1">
                              <a:latin typeface="Cambria Math" panose="02040503050406030204" pitchFamily="18" charset="0"/>
                            </a:rPr>
                            <m:t>𝒖</m:t>
                          </m:r>
                        </m:e>
                        <m:sub>
                          <m:r>
                            <a:rPr lang="en-US" b="1" i="1" smtClean="0">
                              <a:latin typeface="Cambria Math" panose="02040503050406030204" pitchFamily="18" charset="0"/>
                            </a:rPr>
                            <m:t>𝒌</m:t>
                          </m:r>
                        </m:sub>
                      </m:sSub>
                      <m:sSubSup>
                        <m:sSubSupPr>
                          <m:ctrlPr>
                            <a:rPr lang="en-US" b="1" i="1">
                              <a:latin typeface="Cambria Math" panose="02040503050406030204" pitchFamily="18" charset="0"/>
                            </a:rPr>
                          </m:ctrlPr>
                        </m:sSubSupPr>
                        <m:e>
                          <m:r>
                            <a:rPr lang="en-US" b="1" i="1">
                              <a:latin typeface="Cambria Math" panose="02040503050406030204" pitchFamily="18" charset="0"/>
                            </a:rPr>
                            <m:t>𝒗</m:t>
                          </m:r>
                        </m:e>
                        <m:sub>
                          <m:r>
                            <a:rPr lang="en-US" b="1" i="1" smtClean="0">
                              <a:latin typeface="Cambria Math" panose="02040503050406030204" pitchFamily="18" charset="0"/>
                            </a:rPr>
                            <m:t>𝒌</m:t>
                          </m:r>
                        </m:sub>
                        <m:sup>
                          <m:r>
                            <a:rPr lang="en-US" i="1">
                              <a:latin typeface="Cambria Math" panose="02040503050406030204" pitchFamily="18" charset="0"/>
                            </a:rPr>
                            <m:t>𝑇</m:t>
                          </m:r>
                        </m:sup>
                      </m:sSubSup>
                    </m:oMath>
                  </m:oMathPara>
                </a14:m>
                <a:endParaRPr lang="en-US" dirty="0"/>
              </a:p>
              <a:p>
                <a:pPr marL="114300" indent="0">
                  <a:buNone/>
                </a:pPr>
                <a:endParaRPr lang="en-US" dirty="0"/>
              </a:p>
              <a:p>
                <a:pPr marL="114300" indent="0">
                  <a:buNone/>
                </a:pPr>
                <a:r>
                  <a:rPr lang="en-US" dirty="0"/>
                  <a:t>Where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𝑘</m:t>
                        </m:r>
                      </m:sub>
                    </m:sSub>
                  </m:oMath>
                </a14:m>
                <a:r>
                  <a:rPr lang="en-US" b="0" dirty="0"/>
                  <a:t> is the </a:t>
                </a:r>
                <a14:m>
                  <m:oMath xmlns:m="http://schemas.openxmlformats.org/officeDocument/2006/math">
                    <m:r>
                      <a:rPr lang="en-US" b="0" i="1" smtClean="0">
                        <a:latin typeface="Cambria Math" panose="02040503050406030204" pitchFamily="18" charset="0"/>
                      </a:rPr>
                      <m:t>𝑘</m:t>
                    </m:r>
                  </m:oMath>
                </a14:m>
                <a:r>
                  <a:rPr lang="en-US" b="0" dirty="0" err="1"/>
                  <a:t>th</a:t>
                </a:r>
                <a:r>
                  <a:rPr lang="en-US" b="0" dirty="0"/>
                  <a:t> column of </a:t>
                </a:r>
                <a14:m>
                  <m:oMath xmlns:m="http://schemas.openxmlformats.org/officeDocument/2006/math">
                    <m:r>
                      <a:rPr lang="en-US" b="0" i="1" smtClean="0">
                        <a:latin typeface="Cambria Math" panose="02040503050406030204" pitchFamily="18" charset="0"/>
                      </a:rPr>
                      <m:t>𝑈</m:t>
                    </m:r>
                  </m:oMath>
                </a14:m>
                <a:r>
                  <a:rPr lang="en-US" b="0" dirty="0"/>
                  <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𝜎</m:t>
                        </m:r>
                      </m:e>
                      <m:sub>
                        <m:r>
                          <a:rPr lang="en-US" b="0" i="1" smtClean="0">
                            <a:latin typeface="Cambria Math" panose="02040503050406030204" pitchFamily="18" charset="0"/>
                          </a:rPr>
                          <m:t>𝑘</m:t>
                        </m:r>
                      </m:sub>
                    </m:sSub>
                  </m:oMath>
                </a14:m>
                <a:r>
                  <a:rPr lang="en-US" b="0" dirty="0"/>
                  <a:t> is the </a:t>
                </a:r>
                <a14:m>
                  <m:oMath xmlns:m="http://schemas.openxmlformats.org/officeDocument/2006/math">
                    <m:r>
                      <a:rPr lang="en-US" b="0" i="1" smtClean="0">
                        <a:latin typeface="Cambria Math" panose="02040503050406030204" pitchFamily="18" charset="0"/>
                      </a:rPr>
                      <m:t>𝑘</m:t>
                    </m:r>
                  </m:oMath>
                </a14:m>
                <a:r>
                  <a:rPr lang="en-US" b="0" dirty="0" err="1"/>
                  <a:t>th</a:t>
                </a:r>
                <a:r>
                  <a:rPr lang="en-US" b="0" dirty="0"/>
                  <a:t> singular value, and </a:t>
                </a:r>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𝑣</m:t>
                        </m:r>
                      </m:e>
                      <m:sub>
                        <m:r>
                          <a:rPr lang="en-US" b="0" i="1" smtClean="0">
                            <a:latin typeface="Cambria Math" panose="02040503050406030204" pitchFamily="18" charset="0"/>
                          </a:rPr>
                          <m:t>𝑘</m:t>
                        </m:r>
                      </m:sub>
                      <m:sup>
                        <m:r>
                          <a:rPr lang="en-US" b="0" i="1" smtClean="0">
                            <a:latin typeface="Cambria Math" panose="02040503050406030204" pitchFamily="18" charset="0"/>
                          </a:rPr>
                          <m:t>𝑇</m:t>
                        </m:r>
                      </m:sup>
                    </m:sSubSup>
                  </m:oMath>
                </a14:m>
                <a:r>
                  <a:rPr lang="en-US" b="0" dirty="0"/>
                  <a:t> is the transpose of the </a:t>
                </a:r>
                <a14:m>
                  <m:oMath xmlns:m="http://schemas.openxmlformats.org/officeDocument/2006/math">
                    <m:r>
                      <a:rPr lang="en-US" b="0" i="1" smtClean="0">
                        <a:latin typeface="Cambria Math" panose="02040503050406030204" pitchFamily="18" charset="0"/>
                      </a:rPr>
                      <m:t>𝑘</m:t>
                    </m:r>
                  </m:oMath>
                </a14:m>
                <a:r>
                  <a:rPr lang="en-US" b="0" dirty="0" err="1"/>
                  <a:t>th</a:t>
                </a:r>
                <a:r>
                  <a:rPr lang="en-US" b="0" dirty="0"/>
                  <a:t> column of </a:t>
                </a:r>
                <a14:m>
                  <m:oMath xmlns:m="http://schemas.openxmlformats.org/officeDocument/2006/math">
                    <m:r>
                      <a:rPr lang="en-US" b="0" i="1" smtClean="0">
                        <a:latin typeface="Cambria Math" panose="02040503050406030204" pitchFamily="18" charset="0"/>
                      </a:rPr>
                      <m:t>𝑉</m:t>
                    </m:r>
                  </m:oMath>
                </a14:m>
                <a:r>
                  <a:rPr lang="en-US" b="0" dirty="0"/>
                  <a:t> </a:t>
                </a:r>
              </a:p>
              <a:p>
                <a:pPr marL="114300" indent="0">
                  <a:buNone/>
                </a:pPr>
                <a:r>
                  <a:rPr lang="en-US" b="0" dirty="0"/>
                  <a:t> </a:t>
                </a:r>
              </a:p>
              <a:p>
                <a:pPr marL="114300" indent="0">
                  <a:buNone/>
                </a:pPr>
                <a:endParaRPr lang="en-US" b="0" dirty="0"/>
              </a:p>
              <a:p>
                <a:pPr marL="114300" indent="0">
                  <a:buNone/>
                </a:pPr>
                <a:endParaRPr lang="en-US" b="0" dirty="0"/>
              </a:p>
              <a:p>
                <a:pPr marL="114300" indent="0">
                  <a:buNone/>
                </a:pPr>
                <a:endParaRPr lang="en-US" b="0" dirty="0"/>
              </a:p>
              <a:p>
                <a:pPr marL="114300" indent="0">
                  <a:buNone/>
                </a:pPr>
                <a:endParaRPr lang="en-US" b="0" dirty="0"/>
              </a:p>
              <a:p>
                <a:pPr marL="114300" indent="0">
                  <a:buNone/>
                </a:pPr>
                <a:endParaRPr lang="en-US" b="0" dirty="0"/>
              </a:p>
              <a:p>
                <a:pPr marL="114300" indent="0">
                  <a:buNone/>
                </a:pPr>
                <a:endParaRPr lang="en-US" b="0" dirty="0"/>
              </a:p>
              <a:p>
                <a:pPr marL="114300" indent="0">
                  <a:buNone/>
                </a:pPr>
                <a:endParaRPr lang="en-US" b="0" dirty="0"/>
              </a:p>
              <a:p>
                <a:pPr marL="114300" indent="0">
                  <a:buNone/>
                </a:pPr>
                <a:endParaRPr lang="en-US" b="0" dirty="0"/>
              </a:p>
              <a:p>
                <a:pPr marL="114300" indent="0">
                  <a:buNone/>
                </a:pPr>
                <a:endParaRPr lang="en-US" dirty="0"/>
              </a:p>
            </p:txBody>
          </p:sp>
        </mc:Choice>
        <mc:Fallback xmlns="">
          <p:sp>
            <p:nvSpPr>
              <p:cNvPr id="3" name="Text Placeholder 2">
                <a:extLst>
                  <a:ext uri="{FF2B5EF4-FFF2-40B4-BE49-F238E27FC236}">
                    <a16:creationId xmlns:a16="http://schemas.microsoft.com/office/drawing/2014/main" id="{77510D0D-16FC-11F1-993E-27AD2EAD6A54}"/>
                  </a:ext>
                </a:extLst>
              </p:cNvPr>
              <p:cNvSpPr>
                <a:spLocks noGrp="1" noRot="1" noChangeAspect="1" noMove="1" noResize="1" noEditPoints="1" noAdjustHandles="1" noChangeArrowheads="1" noChangeShapeType="1" noTextEdit="1"/>
              </p:cNvSpPr>
              <p:nvPr>
                <p:ph type="body" idx="1"/>
              </p:nvPr>
            </p:nvSpPr>
            <p:spPr>
              <a:blipFill>
                <a:blip r:embed="rId2"/>
                <a:stretch>
                  <a:fillRect r="-149"/>
                </a:stretch>
              </a:blipFill>
            </p:spPr>
            <p:txBody>
              <a:bodyPr/>
              <a:lstStyle/>
              <a:p>
                <a:r>
                  <a:rPr lang="en-US">
                    <a:noFill/>
                  </a:rPr>
                  <a:t> </a:t>
                </a:r>
              </a:p>
            </p:txBody>
          </p:sp>
        </mc:Fallback>
      </mc:AlternateContent>
    </p:spTree>
    <p:extLst>
      <p:ext uri="{BB962C8B-B14F-4D97-AF65-F5344CB8AC3E}">
        <p14:creationId xmlns:p14="http://schemas.microsoft.com/office/powerpoint/2010/main" val="35441247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421C93E-964E-085A-B4ED-7A444E8581CE}"/>
              </a:ext>
            </a:extLst>
          </p:cNvPr>
          <p:cNvSpPr/>
          <p:nvPr>
            <p:custDataLst>
              <p:tags r:id="rId2"/>
            </p:custDataLst>
          </p:nvPr>
        </p:nvSpPr>
        <p:spPr>
          <a:xfrm>
            <a:off x="333520" y="1307028"/>
            <a:ext cx="1778772" cy="1778772"/>
          </a:xfrm>
          <a:prstGeom prst="rect">
            <a:avLst/>
          </a:prstGeom>
          <a:blipFill>
            <a:blip>
              <a:extLst>
                <a:ext uri="{96DAC541-7B7A-43D3-8B79-37D633B846F1}">
                  <asvg:svgBlip xmlns:asvg="http://schemas.microsoft.com/office/drawing/2016/SVG/main" r:embed="rId7"/>
                </a:ext>
              </a:extLst>
            </a:blip>
            <a:stretch>
              <a:fillRect/>
            </a:stretch>
          </a:blipFill>
          <a:ln w="25400" cap="flat" cmpd="sng" algn="ctr">
            <a:noFill/>
            <a:prstDash val="solid"/>
          </a:ln>
          <a:effectLst/>
          <a:extLst>
            <a:ext uri="{91240B29-F687-4F45-9708-019B960494DF}">
              <a14:hiddenLine xmlns:a14="http://schemas.microsoft.com/office/drawing/2010/main" w="25400" cap="flat" cmpd="sng" algn="ctr">
                <a:solidFill>
                  <a:srgbClr val="FFFFFF"/>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474A1257-D940-5571-D34A-68E788FAB58D}"/>
              </a:ext>
            </a:extLst>
          </p:cNvPr>
          <p:cNvSpPr/>
          <p:nvPr>
            <p:custDataLst>
              <p:tags r:id="rId3"/>
            </p:custDataLst>
          </p:nvPr>
        </p:nvSpPr>
        <p:spPr>
          <a:xfrm>
            <a:off x="2334638" y="750673"/>
            <a:ext cx="6364669" cy="2891481"/>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rgbClr val="FFFFFF"/>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700" b="1">
                <a:solidFill>
                  <a:srgbClr val="000000"/>
                </a:solidFill>
              </a:rPr>
              <a:t>In the rank-k approximation A^(k) = </a:t>
            </a:r>
            <a:r>
              <a:rPr lang="el-GR" sz="2700" b="1">
                <a:solidFill>
                  <a:srgbClr val="000000"/>
                </a:solidFill>
              </a:rPr>
              <a:t>σ₁</a:t>
            </a:r>
            <a:r>
              <a:rPr lang="en-US" sz="2700" b="1">
                <a:solidFill>
                  <a:srgbClr val="000000"/>
                </a:solidFill>
              </a:rPr>
              <a:t>u₁v₁ᵀ + ... + </a:t>
            </a:r>
            <a:r>
              <a:rPr lang="el-GR" sz="2700" b="1">
                <a:solidFill>
                  <a:srgbClr val="000000"/>
                </a:solidFill>
              </a:rPr>
              <a:t>σ</a:t>
            </a:r>
            <a:r>
              <a:rPr lang="en-US" sz="2700" b="1">
                <a:solidFill>
                  <a:srgbClr val="000000"/>
                </a:solidFill>
              </a:rPr>
              <a:t>ₖuₖvₖᵀ, what are the dimensions of each term </a:t>
            </a:r>
            <a:r>
              <a:rPr lang="el-GR" sz="2700" b="1">
                <a:solidFill>
                  <a:srgbClr val="000000"/>
                </a:solidFill>
              </a:rPr>
              <a:t>σ</a:t>
            </a:r>
            <a:r>
              <a:rPr lang="en-US" sz="2700" b="1">
                <a:solidFill>
                  <a:srgbClr val="000000"/>
                </a:solidFill>
              </a:rPr>
              <a:t>ᵢuᵢvᵢᵀ?</a:t>
            </a:r>
          </a:p>
        </p:txBody>
      </p:sp>
      <p:sp>
        <p:nvSpPr>
          <p:cNvPr id="4" name="Rectangle 3">
            <a:extLst>
              <a:ext uri="{FF2B5EF4-FFF2-40B4-BE49-F238E27FC236}">
                <a16:creationId xmlns:a16="http://schemas.microsoft.com/office/drawing/2014/main" id="{ABBCE1DB-0339-64BD-7201-34E5613F8A84}"/>
              </a:ext>
            </a:extLst>
          </p:cNvPr>
          <p:cNvSpPr/>
          <p:nvPr>
            <p:custDataLst>
              <p:tags r:id="rId4"/>
            </p:custDataLst>
          </p:nvPr>
        </p:nvSpPr>
        <p:spPr>
          <a:xfrm>
            <a:off x="0" y="4365024"/>
            <a:ext cx="9144000" cy="778476"/>
          </a:xfrm>
          <a:prstGeom prst="rect">
            <a:avLst/>
          </a:prstGeom>
          <a:solidFill>
            <a:srgbClr val="19803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lIns="555866" tIns="194619" rIns="1389666" bIns="152915" rtlCol="0" anchor="ctr">
            <a:normAutofit fontScale="62500" lnSpcReduction="20000"/>
          </a:bodyPr>
          <a:lstStyle/>
          <a:p>
            <a:r>
              <a:rPr lang="en-US" sz="2600">
                <a:solidFill>
                  <a:srgbClr val="FFFFFF"/>
                </a:solidFill>
              </a:rPr>
              <a:t>The </a:t>
            </a:r>
            <a:r>
              <a:rPr lang="en-US" sz="2600">
                <a:solidFill>
                  <a:srgbClr val="FFFFFF"/>
                </a:solidFill>
                <a:hlinkClick r:id="rId8">
                  <a:extLst>
                    <a:ext uri="{A12FA001-AC4F-418D-AE19-62706E023703}">
                      <ahyp:hlinkClr xmlns:ahyp="http://schemas.microsoft.com/office/drawing/2018/hyperlinkcolor" val="tx"/>
                    </a:ext>
                  </a:extLst>
                </a:hlinkClick>
              </a:rPr>
              <a:t>Slido app</a:t>
            </a:r>
            <a:r>
              <a:rPr lang="en-US" sz="2600">
                <a:solidFill>
                  <a:srgbClr val="FFFFFF"/>
                </a:solidFill>
              </a:rPr>
              <a:t> must be installed on every computer you’re presenting from</a:t>
            </a:r>
          </a:p>
        </p:txBody>
      </p:sp>
      <p:pic>
        <p:nvPicPr>
          <p:cNvPr id="6" name="Graphic 5">
            <a:extLst>
              <a:ext uri="{FF2B5EF4-FFF2-40B4-BE49-F238E27FC236}">
                <a16:creationId xmlns:a16="http://schemas.microsoft.com/office/drawing/2014/main" id="{20260C34-7350-DE28-B1A9-E94FED1E609E}"/>
              </a:ext>
            </a:extLst>
          </p:cNvPr>
          <p:cNvPicPr>
            <a:picLocks/>
          </p:cNvPicPr>
          <p:nvPr/>
        </p:nvPicPr>
        <p:blipFill>
          <a:blip>
            <a:extLst>
              <a:ext uri="{96DAC541-7B7A-43D3-8B79-37D633B846F1}">
                <asvg:svgBlip xmlns:asvg="http://schemas.microsoft.com/office/drawing/2016/SVG/main" r:embed="rId9"/>
              </a:ext>
            </a:extLst>
          </a:blip>
          <a:stretch>
            <a:fillRect/>
          </a:stretch>
        </p:blipFill>
        <p:spPr>
          <a:xfrm>
            <a:off x="222347" y="4643089"/>
            <a:ext cx="222347" cy="222347"/>
          </a:xfrm>
          <a:prstGeom prst="rect">
            <a:avLst/>
          </a:prstGeom>
        </p:spPr>
      </p:pic>
      <p:sp>
        <p:nvSpPr>
          <p:cNvPr id="7" name="Trapezoid 6">
            <a:extLst>
              <a:ext uri="{FF2B5EF4-FFF2-40B4-BE49-F238E27FC236}">
                <a16:creationId xmlns:a16="http://schemas.microsoft.com/office/drawing/2014/main" id="{D6F29BB0-1172-2A5D-256C-144680944D99}"/>
              </a:ext>
            </a:extLst>
          </p:cNvPr>
          <p:cNvSpPr/>
          <p:nvPr>
            <p:custDataLst>
              <p:tags r:id="rId5"/>
            </p:custDataLst>
          </p:nvPr>
        </p:nvSpPr>
        <p:spPr>
          <a:xfrm rot="2700000">
            <a:off x="7215278" y="386193"/>
            <a:ext cx="2501399" cy="583660"/>
          </a:xfrm>
          <a:prstGeom prst="trapezoid">
            <a:avLst>
              <a:gd name="adj" fmla="val 100000"/>
            </a:avLst>
          </a:prstGeom>
          <a:solidFill>
            <a:srgbClr val="EDFAF2"/>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tIns="0" bIns="0" rtlCol="0" anchor="t">
            <a:normAutofit fontScale="55000" lnSpcReduction="20000"/>
          </a:bodyPr>
          <a:lstStyle/>
          <a:p>
            <a:pPr algn="ctr"/>
            <a:r>
              <a:rPr lang="en-US" sz="2600" b="1">
                <a:solidFill>
                  <a:srgbClr val="198038"/>
                </a:solidFill>
              </a:rPr>
              <a:t>Do not edit
</a:t>
            </a:r>
            <a:r>
              <a:rPr lang="en-US" sz="2200">
                <a:solidFill>
                  <a:srgbClr val="198038"/>
                </a:solidFill>
                <a:hlinkClick r:id="rId10">
                  <a:extLst>
                    <a:ext uri="{A12FA001-AC4F-418D-AE19-62706E023703}">
                      <ahyp:hlinkClr xmlns:ahyp="http://schemas.microsoft.com/office/drawing/2018/hyperlinkcolor" val="tx"/>
                    </a:ext>
                  </a:extLst>
                </a:hlinkClick>
              </a:rPr>
              <a:t>How to change the design</a:t>
            </a:r>
            <a:endParaRPr lang="en-US" sz="2200">
              <a:solidFill>
                <a:srgbClr val="198038"/>
              </a:solidFill>
            </a:endParaRPr>
          </a:p>
        </p:txBody>
      </p:sp>
      <p:pic>
        <p:nvPicPr>
          <p:cNvPr id="9" name="Graphic 8">
            <a:extLst>
              <a:ext uri="{FF2B5EF4-FFF2-40B4-BE49-F238E27FC236}">
                <a16:creationId xmlns:a16="http://schemas.microsoft.com/office/drawing/2014/main" id="{6911E3DD-0D36-892C-EB5F-081B68237D1D}"/>
              </a:ext>
            </a:extLst>
          </p:cNvPr>
          <p:cNvPicPr>
            <a:picLocks/>
          </p:cNvPicPr>
          <p:nvPr/>
        </p:nvPicPr>
        <p:blipFill>
          <a:blip>
            <a:extLst>
              <a:ext uri="{96DAC541-7B7A-43D3-8B79-37D633B846F1}">
                <asvg:svgBlip xmlns:asvg="http://schemas.microsoft.com/office/drawing/2016/SVG/main" r:embed="rId11"/>
              </a:ext>
            </a:extLst>
          </a:blip>
          <a:stretch>
            <a:fillRect/>
          </a:stretch>
        </p:blipFill>
        <p:spPr>
          <a:xfrm>
            <a:off x="8060062" y="4615295"/>
            <a:ext cx="833799" cy="277933"/>
          </a:xfrm>
          <a:prstGeom prst="rect">
            <a:avLst/>
          </a:prstGeom>
        </p:spPr>
      </p:pic>
    </p:spTree>
    <p:custDataLst>
      <p:tags r:id="rId1"/>
    </p:custDataLst>
    <p:extLst>
      <p:ext uri="{BB962C8B-B14F-4D97-AF65-F5344CB8AC3E}">
        <p14:creationId xmlns:p14="http://schemas.microsoft.com/office/powerpoint/2010/main" val="13779531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 tmFilter="0, 0; .2, .5; .8, .5; 1, 0"/>
                                        <p:tgtEl>
                                          <p:spTgt spid="3"/>
                                        </p:tgtEl>
                                      </p:cBhvr>
                                    </p:animEffect>
                                    <p:animScale>
                                      <p:cBhvr>
                                        <p:cTn id="7" dur="25" autoRev="1" fill="hold"/>
                                        <p:tgtEl>
                                          <p:spTgt spid="3"/>
                                        </p:tgtEl>
                                      </p:cBhvr>
                                      <p:by x="105000" y="105000"/>
                                    </p:animScale>
                                  </p:childTnLst>
                                </p:cTn>
                              </p:par>
                            </p:childTnLst>
                          </p:cTn>
                        </p:par>
                      </p:childTnLst>
                    </p:cTn>
                  </p:par>
                  <p:par>
                    <p:cTn id="8" fill="hold">
                      <p:stCondLst>
                        <p:cond delay="indefinite"/>
                      </p:stCondLst>
                      <p:childTnLst>
                        <p:par>
                          <p:cTn id="9" fill="hold">
                            <p:stCondLst>
                              <p:cond delay="0"/>
                            </p:stCondLst>
                            <p:childTnLst>
                              <p:par>
                                <p:cTn id="10" presetID="26" presetClass="emph" presetSubtype="0" fill="hold" grpId="1" nodeType="clickEffect">
                                  <p:stCondLst>
                                    <p:cond delay="0"/>
                                  </p:stCondLst>
                                  <p:childTnLst>
                                    <p:animEffect transition="out" filter="fade">
                                      <p:cBhvr>
                                        <p:cTn id="11" dur="50" tmFilter="0, 0; .2, .5; .8, .5; 1, 0"/>
                                        <p:tgtEl>
                                          <p:spTgt spid="3"/>
                                        </p:tgtEl>
                                      </p:cBhvr>
                                    </p:animEffect>
                                    <p:animScale>
                                      <p:cBhvr>
                                        <p:cTn id="12" dur="25" autoRev="1" fill="hold"/>
                                        <p:tgtEl>
                                          <p:spTgt spid="3"/>
                                        </p:tgtEl>
                                      </p:cBhvr>
                                      <p:by x="105000" y="105000"/>
                                    </p:animScale>
                                  </p:childTnLst>
                                </p:cTn>
                              </p:par>
                            </p:childTnLst>
                          </p:cTn>
                        </p:par>
                      </p:childTnLst>
                    </p:cTn>
                  </p:par>
                  <p:par>
                    <p:cTn id="13" fill="hold">
                      <p:stCondLst>
                        <p:cond delay="indefinite"/>
                      </p:stCondLst>
                      <p:childTnLst>
                        <p:par>
                          <p:cTn id="14" fill="hold">
                            <p:stCondLst>
                              <p:cond delay="0"/>
                            </p:stCondLst>
                            <p:childTnLst>
                              <p:par>
                                <p:cTn id="15" presetID="26" presetClass="emph" presetSubtype="0" fill="hold" grpId="2" nodeType="clickEffect">
                                  <p:stCondLst>
                                    <p:cond delay="0"/>
                                  </p:stCondLst>
                                  <p:childTnLst>
                                    <p:animEffect transition="out" filter="fade">
                                      <p:cBhvr>
                                        <p:cTn id="16" dur="50" tmFilter="0, 0; .2, .5; .8, .5; 1, 0"/>
                                        <p:tgtEl>
                                          <p:spTgt spid="3"/>
                                        </p:tgtEl>
                                      </p:cBhvr>
                                    </p:animEffect>
                                    <p:animScale>
                                      <p:cBhvr>
                                        <p:cTn id="17" dur="25" autoRev="1" fill="hold"/>
                                        <p:tgtEl>
                                          <p:spTgt spid="3"/>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P spid="3" grpId="2"/>
    </p:bldLst>
  </p:timing>
</p:sld>
</file>

<file path=ppt/slides/slide16.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74CAEEA-F1B5-18AA-9E83-0F5084E25CDD}"/>
              </a:ext>
            </a:extLst>
          </p:cNvPr>
          <p:cNvSpPr/>
          <p:nvPr>
            <p:custDataLst>
              <p:tags r:id="rId2"/>
            </p:custDataLst>
          </p:nvPr>
        </p:nvSpPr>
        <p:spPr>
          <a:xfrm>
            <a:off x="333520" y="1307028"/>
            <a:ext cx="1778772" cy="1778772"/>
          </a:xfrm>
          <a:prstGeom prst="rect">
            <a:avLst/>
          </a:prstGeom>
          <a:blipFill>
            <a:blip>
              <a:extLst>
                <a:ext uri="{96DAC541-7B7A-43D3-8B79-37D633B846F1}">
                  <asvg:svgBlip xmlns:asvg="http://schemas.microsoft.com/office/drawing/2016/SVG/main" r:embed="rId7"/>
                </a:ext>
              </a:extLst>
            </a:blip>
            <a:stretch>
              <a:fillRect/>
            </a:stretch>
          </a:blipFill>
          <a:ln w="25400" cap="flat" cmpd="sng" algn="ctr">
            <a:noFill/>
            <a:prstDash val="solid"/>
          </a:ln>
          <a:effectLst/>
          <a:extLst>
            <a:ext uri="{91240B29-F687-4F45-9708-019B960494DF}">
              <a14:hiddenLine xmlns:a14="http://schemas.microsoft.com/office/drawing/2010/main" w="25400" cap="flat" cmpd="sng" algn="ctr">
                <a:solidFill>
                  <a:srgbClr val="FFFFFF"/>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F792AB6D-65FD-EC85-DBC7-DCEBC908D6EF}"/>
              </a:ext>
            </a:extLst>
          </p:cNvPr>
          <p:cNvSpPr/>
          <p:nvPr>
            <p:custDataLst>
              <p:tags r:id="rId3"/>
            </p:custDataLst>
          </p:nvPr>
        </p:nvSpPr>
        <p:spPr>
          <a:xfrm>
            <a:off x="2334638" y="750673"/>
            <a:ext cx="6364669" cy="2891481"/>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rgbClr val="FFFFFF"/>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3300" b="1">
                <a:solidFill>
                  <a:srgbClr val="000000"/>
                </a:solidFill>
              </a:rPr>
              <a:t>As k increases, the frobenius distance between a matrix and its rank-k approximation decreases
</a:t>
            </a:r>
          </a:p>
        </p:txBody>
      </p:sp>
      <p:sp>
        <p:nvSpPr>
          <p:cNvPr id="4" name="Rectangle 3">
            <a:extLst>
              <a:ext uri="{FF2B5EF4-FFF2-40B4-BE49-F238E27FC236}">
                <a16:creationId xmlns:a16="http://schemas.microsoft.com/office/drawing/2014/main" id="{7387B6EA-3E20-F3FA-4C51-B282726C0761}"/>
              </a:ext>
            </a:extLst>
          </p:cNvPr>
          <p:cNvSpPr/>
          <p:nvPr>
            <p:custDataLst>
              <p:tags r:id="rId4"/>
            </p:custDataLst>
          </p:nvPr>
        </p:nvSpPr>
        <p:spPr>
          <a:xfrm>
            <a:off x="0" y="4365024"/>
            <a:ext cx="9144000" cy="778476"/>
          </a:xfrm>
          <a:prstGeom prst="rect">
            <a:avLst/>
          </a:prstGeom>
          <a:solidFill>
            <a:srgbClr val="19803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lIns="555866" tIns="194619" rIns="1389666" bIns="152915" rtlCol="0" anchor="ctr">
            <a:normAutofit fontScale="62500" lnSpcReduction="20000"/>
          </a:bodyPr>
          <a:lstStyle/>
          <a:p>
            <a:r>
              <a:rPr lang="en-US" sz="2600">
                <a:solidFill>
                  <a:srgbClr val="FFFFFF"/>
                </a:solidFill>
              </a:rPr>
              <a:t>The </a:t>
            </a:r>
            <a:r>
              <a:rPr lang="en-US" sz="2600">
                <a:solidFill>
                  <a:srgbClr val="FFFFFF"/>
                </a:solidFill>
                <a:hlinkClick r:id="rId8">
                  <a:extLst>
                    <a:ext uri="{A12FA001-AC4F-418D-AE19-62706E023703}">
                      <ahyp:hlinkClr xmlns:ahyp="http://schemas.microsoft.com/office/drawing/2018/hyperlinkcolor" val="tx"/>
                    </a:ext>
                  </a:extLst>
                </a:hlinkClick>
              </a:rPr>
              <a:t>Slido app</a:t>
            </a:r>
            <a:r>
              <a:rPr lang="en-US" sz="2600">
                <a:solidFill>
                  <a:srgbClr val="FFFFFF"/>
                </a:solidFill>
              </a:rPr>
              <a:t> must be installed on every computer you’re presenting from</a:t>
            </a:r>
          </a:p>
        </p:txBody>
      </p:sp>
      <p:pic>
        <p:nvPicPr>
          <p:cNvPr id="6" name="Graphic 5">
            <a:extLst>
              <a:ext uri="{FF2B5EF4-FFF2-40B4-BE49-F238E27FC236}">
                <a16:creationId xmlns:a16="http://schemas.microsoft.com/office/drawing/2014/main" id="{F31C8061-9607-121E-84F6-4061087315E0}"/>
              </a:ext>
            </a:extLst>
          </p:cNvPr>
          <p:cNvPicPr>
            <a:picLocks/>
          </p:cNvPicPr>
          <p:nvPr/>
        </p:nvPicPr>
        <p:blipFill>
          <a:blip>
            <a:extLst>
              <a:ext uri="{96DAC541-7B7A-43D3-8B79-37D633B846F1}">
                <asvg:svgBlip xmlns:asvg="http://schemas.microsoft.com/office/drawing/2016/SVG/main" r:embed="rId9"/>
              </a:ext>
            </a:extLst>
          </a:blip>
          <a:stretch>
            <a:fillRect/>
          </a:stretch>
        </p:blipFill>
        <p:spPr>
          <a:xfrm>
            <a:off x="222347" y="4643089"/>
            <a:ext cx="222347" cy="222347"/>
          </a:xfrm>
          <a:prstGeom prst="rect">
            <a:avLst/>
          </a:prstGeom>
        </p:spPr>
      </p:pic>
      <p:sp>
        <p:nvSpPr>
          <p:cNvPr id="7" name="Trapezoid 6">
            <a:extLst>
              <a:ext uri="{FF2B5EF4-FFF2-40B4-BE49-F238E27FC236}">
                <a16:creationId xmlns:a16="http://schemas.microsoft.com/office/drawing/2014/main" id="{C6EFCFE9-0F25-40FE-78D2-881EA00A62C8}"/>
              </a:ext>
            </a:extLst>
          </p:cNvPr>
          <p:cNvSpPr/>
          <p:nvPr>
            <p:custDataLst>
              <p:tags r:id="rId5"/>
            </p:custDataLst>
          </p:nvPr>
        </p:nvSpPr>
        <p:spPr>
          <a:xfrm rot="2700000">
            <a:off x="7215278" y="386193"/>
            <a:ext cx="2501399" cy="583660"/>
          </a:xfrm>
          <a:prstGeom prst="trapezoid">
            <a:avLst>
              <a:gd name="adj" fmla="val 100000"/>
            </a:avLst>
          </a:prstGeom>
          <a:solidFill>
            <a:srgbClr val="EDFAF2"/>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tIns="0" bIns="0" rtlCol="0" anchor="t">
            <a:normAutofit fontScale="55000" lnSpcReduction="20000"/>
          </a:bodyPr>
          <a:lstStyle/>
          <a:p>
            <a:pPr algn="ctr"/>
            <a:r>
              <a:rPr lang="en-US" sz="2600" b="1">
                <a:solidFill>
                  <a:srgbClr val="198038"/>
                </a:solidFill>
              </a:rPr>
              <a:t>Do not edit
</a:t>
            </a:r>
            <a:r>
              <a:rPr lang="en-US" sz="2200">
                <a:solidFill>
                  <a:srgbClr val="198038"/>
                </a:solidFill>
                <a:hlinkClick r:id="rId10">
                  <a:extLst>
                    <a:ext uri="{A12FA001-AC4F-418D-AE19-62706E023703}">
                      <ahyp:hlinkClr xmlns:ahyp="http://schemas.microsoft.com/office/drawing/2018/hyperlinkcolor" val="tx"/>
                    </a:ext>
                  </a:extLst>
                </a:hlinkClick>
              </a:rPr>
              <a:t>How to change the design</a:t>
            </a:r>
            <a:endParaRPr lang="en-US" sz="2200">
              <a:solidFill>
                <a:srgbClr val="198038"/>
              </a:solidFill>
            </a:endParaRPr>
          </a:p>
        </p:txBody>
      </p:sp>
      <p:pic>
        <p:nvPicPr>
          <p:cNvPr id="9" name="Graphic 8">
            <a:extLst>
              <a:ext uri="{FF2B5EF4-FFF2-40B4-BE49-F238E27FC236}">
                <a16:creationId xmlns:a16="http://schemas.microsoft.com/office/drawing/2014/main" id="{EB0BD317-DC5F-C00F-AFE8-00D1A53219B8}"/>
              </a:ext>
            </a:extLst>
          </p:cNvPr>
          <p:cNvPicPr>
            <a:picLocks/>
          </p:cNvPicPr>
          <p:nvPr/>
        </p:nvPicPr>
        <p:blipFill>
          <a:blip>
            <a:extLst>
              <a:ext uri="{96DAC541-7B7A-43D3-8B79-37D633B846F1}">
                <asvg:svgBlip xmlns:asvg="http://schemas.microsoft.com/office/drawing/2016/SVG/main" r:embed="rId11"/>
              </a:ext>
            </a:extLst>
          </a:blip>
          <a:stretch>
            <a:fillRect/>
          </a:stretch>
        </p:blipFill>
        <p:spPr>
          <a:xfrm>
            <a:off x="8060062" y="4615295"/>
            <a:ext cx="833799" cy="277933"/>
          </a:xfrm>
          <a:prstGeom prst="rect">
            <a:avLst/>
          </a:prstGeom>
        </p:spPr>
      </p:pic>
    </p:spTree>
    <p:custDataLst>
      <p:tags r:id="rId1"/>
    </p:custDataLst>
    <p:extLst>
      <p:ext uri="{BB962C8B-B14F-4D97-AF65-F5344CB8AC3E}">
        <p14:creationId xmlns:p14="http://schemas.microsoft.com/office/powerpoint/2010/main" val="11747211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 tmFilter="0, 0; .2, .5; .8, .5; 1, 0"/>
                                        <p:tgtEl>
                                          <p:spTgt spid="3"/>
                                        </p:tgtEl>
                                      </p:cBhvr>
                                    </p:animEffect>
                                    <p:animScale>
                                      <p:cBhvr>
                                        <p:cTn id="7" dur="25" autoRev="1" fill="hold"/>
                                        <p:tgtEl>
                                          <p:spTgt spid="3"/>
                                        </p:tgtEl>
                                      </p:cBhvr>
                                      <p:by x="105000" y="105000"/>
                                    </p:animScale>
                                  </p:childTnLst>
                                </p:cTn>
                              </p:par>
                            </p:childTnLst>
                          </p:cTn>
                        </p:par>
                      </p:childTnLst>
                    </p:cTn>
                  </p:par>
                  <p:par>
                    <p:cTn id="8" fill="hold">
                      <p:stCondLst>
                        <p:cond delay="indefinite"/>
                      </p:stCondLst>
                      <p:childTnLst>
                        <p:par>
                          <p:cTn id="9" fill="hold">
                            <p:stCondLst>
                              <p:cond delay="0"/>
                            </p:stCondLst>
                            <p:childTnLst>
                              <p:par>
                                <p:cTn id="10" presetID="26" presetClass="emph" presetSubtype="0" fill="hold" grpId="1" nodeType="clickEffect">
                                  <p:stCondLst>
                                    <p:cond delay="0"/>
                                  </p:stCondLst>
                                  <p:childTnLst>
                                    <p:animEffect transition="out" filter="fade">
                                      <p:cBhvr>
                                        <p:cTn id="11" dur="50" tmFilter="0, 0; .2, .5; .8, .5; 1, 0"/>
                                        <p:tgtEl>
                                          <p:spTgt spid="3"/>
                                        </p:tgtEl>
                                      </p:cBhvr>
                                    </p:animEffect>
                                    <p:animScale>
                                      <p:cBhvr>
                                        <p:cTn id="12" dur="25" autoRev="1" fill="hold"/>
                                        <p:tgtEl>
                                          <p:spTgt spid="3"/>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27B272-5A66-D01F-FFAF-3289A54F25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5D8AAC-4D85-EE22-1A47-68CA52C33488}"/>
              </a:ext>
            </a:extLst>
          </p:cNvPr>
          <p:cNvSpPr>
            <a:spLocks noGrp="1"/>
          </p:cNvSpPr>
          <p:nvPr>
            <p:ph type="title"/>
          </p:nvPr>
        </p:nvSpPr>
        <p:spPr>
          <a:xfrm>
            <a:off x="311700" y="2218050"/>
            <a:ext cx="8520600" cy="707400"/>
          </a:xfrm>
        </p:spPr>
        <p:txBody>
          <a:bodyPr>
            <a:normAutofit fontScale="90000"/>
          </a:bodyPr>
          <a:lstStyle/>
          <a:p>
            <a:pPr algn="ctr"/>
            <a:r>
              <a:rPr lang="en-US" dirty="0"/>
              <a:t>SVD for Feature Extraction</a:t>
            </a:r>
          </a:p>
        </p:txBody>
      </p:sp>
    </p:spTree>
    <p:extLst>
      <p:ext uri="{BB962C8B-B14F-4D97-AF65-F5344CB8AC3E}">
        <p14:creationId xmlns:p14="http://schemas.microsoft.com/office/powerpoint/2010/main" val="2239474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E52A38-96FF-DEA0-07FB-35BB29A1B2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D3CAD9-C593-9379-6395-DFF823F9B1BC}"/>
              </a:ext>
            </a:extLst>
          </p:cNvPr>
          <p:cNvSpPr>
            <a:spLocks noGrp="1"/>
          </p:cNvSpPr>
          <p:nvPr>
            <p:ph type="title"/>
          </p:nvPr>
        </p:nvSpPr>
        <p:spPr/>
        <p:txBody>
          <a:bodyPr>
            <a:normAutofit fontScale="90000"/>
          </a:bodyPr>
          <a:lstStyle/>
          <a:p>
            <a:r>
              <a:rPr lang="en-US" dirty="0"/>
              <a:t>Feature Extraction</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19465A24-A3FF-1E69-AB5B-1F6EE95F80ED}"/>
                  </a:ext>
                </a:extLst>
              </p:cNvPr>
              <p:cNvSpPr>
                <a:spLocks noGrp="1"/>
              </p:cNvSpPr>
              <p:nvPr>
                <p:ph type="body" idx="1"/>
              </p:nvPr>
            </p:nvSpPr>
            <p:spPr/>
            <p:txBody>
              <a:bodyPr/>
              <a:lstStyle/>
              <a:p>
                <a:pPr marL="114300" indent="0">
                  <a:buNone/>
                </a:pPr>
                <a:r>
                  <a:rPr lang="en-US" dirty="0"/>
                  <a:t>Goal: pick number of latent features </a:t>
                </a:r>
                <a14:m>
                  <m:oMath xmlns:m="http://schemas.openxmlformats.org/officeDocument/2006/math">
                    <m:r>
                      <a:rPr lang="en-US" b="0" i="1" smtClean="0">
                        <a:latin typeface="Cambria Math" panose="02040503050406030204" pitchFamily="18" charset="0"/>
                      </a:rPr>
                      <m:t>𝑘</m:t>
                    </m:r>
                  </m:oMath>
                </a14:m>
                <a:r>
                  <a:rPr lang="en-US" b="0" dirty="0"/>
                  <a:t> using our SVD </a:t>
                </a:r>
                <a:r>
                  <a:rPr lang="en-US" b="0" dirty="0">
                    <a:sym typeface="Wingdings" pitchFamily="2" charset="2"/>
                  </a:rPr>
                  <a:t> pick </a:t>
                </a:r>
                <a14:m>
                  <m:oMath xmlns:m="http://schemas.openxmlformats.org/officeDocument/2006/math">
                    <m:r>
                      <a:rPr lang="en-US" b="0" i="1" smtClean="0">
                        <a:latin typeface="Cambria Math" panose="02040503050406030204" pitchFamily="18" charset="0"/>
                        <a:sym typeface="Wingdings" pitchFamily="2" charset="2"/>
                      </a:rPr>
                      <m:t>𝑘</m:t>
                    </m:r>
                  </m:oMath>
                </a14:m>
                <a:r>
                  <a:rPr lang="en-US" b="0" dirty="0">
                    <a:sym typeface="Wingdings" pitchFamily="2" charset="2"/>
                  </a:rPr>
                  <a:t> using explained variance </a:t>
                </a:r>
                <a:endParaRPr lang="en-US" dirty="0">
                  <a:sym typeface="Wingdings" pitchFamily="2" charset="2"/>
                </a:endParaRPr>
              </a:p>
              <a:p>
                <a:pPr marL="114300" indent="0" algn="ctr">
                  <a:buNone/>
                </a:pPr>
                <a14:m>
                  <m:oMathPara xmlns:m="http://schemas.openxmlformats.org/officeDocument/2006/math">
                    <m:oMath>
                      <m:r>
                        <m:rPr>
                          <m:nor/>
                        </m:rPr>
                        <a:rPr lang="en-US" b="0" i="0" smtClean="0">
                          <a:latin typeface="Cambria Math" panose="02040503050406030204" pitchFamily="18" charset="0"/>
                          <a:sym typeface="Wingdings" pitchFamily="2" charset="2"/>
                        </a:rPr>
                        <m:t>variance explained by component </m:t>
                      </m:r>
                      <m:r>
                        <a:rPr lang="en-US" b="0" i="1" smtClean="0">
                          <a:latin typeface="Cambria Math" panose="02040503050406030204" pitchFamily="18" charset="0"/>
                          <a:sym typeface="Wingdings" pitchFamily="2" charset="2"/>
                        </a:rPr>
                        <m:t>𝑖</m:t>
                      </m:r>
                      <m:r>
                        <a:rPr lang="en-US" b="0" i="1" smtClean="0">
                          <a:latin typeface="Cambria Math" panose="02040503050406030204" pitchFamily="18" charset="0"/>
                          <a:sym typeface="Wingdings" pitchFamily="2" charset="2"/>
                        </a:rPr>
                        <m:t>=</m:t>
                      </m:r>
                      <m:f>
                        <m:fPr>
                          <m:ctrlPr>
                            <a:rPr lang="en-US" b="0" i="1" smtClean="0">
                              <a:latin typeface="Cambria Math" panose="02040503050406030204" pitchFamily="18" charset="0"/>
                              <a:sym typeface="Wingdings" pitchFamily="2" charset="2"/>
                            </a:rPr>
                          </m:ctrlPr>
                        </m:fPr>
                        <m:num>
                          <m:sSubSup>
                            <m:sSubSupPr>
                              <m:ctrlPr>
                                <a:rPr lang="en-US" b="0" i="1" smtClean="0">
                                  <a:latin typeface="Cambria Math" panose="02040503050406030204" pitchFamily="18" charset="0"/>
                                  <a:sym typeface="Wingdings" pitchFamily="2" charset="2"/>
                                </a:rPr>
                              </m:ctrlPr>
                            </m:sSubSupPr>
                            <m:e>
                              <m:r>
                                <a:rPr lang="en-US" b="0" i="1" smtClean="0">
                                  <a:latin typeface="Cambria Math" panose="02040503050406030204" pitchFamily="18" charset="0"/>
                                  <a:sym typeface="Wingdings" pitchFamily="2" charset="2"/>
                                </a:rPr>
                                <m:t>𝜎</m:t>
                              </m:r>
                            </m:e>
                            <m:sub>
                              <m:r>
                                <a:rPr lang="en-US" b="0" i="1" smtClean="0">
                                  <a:latin typeface="Cambria Math" panose="02040503050406030204" pitchFamily="18" charset="0"/>
                                  <a:sym typeface="Wingdings" pitchFamily="2" charset="2"/>
                                </a:rPr>
                                <m:t>𝑖</m:t>
                              </m:r>
                            </m:sub>
                            <m:sup>
                              <m:r>
                                <a:rPr lang="en-US" b="0" i="1" smtClean="0">
                                  <a:latin typeface="Cambria Math" panose="02040503050406030204" pitchFamily="18" charset="0"/>
                                  <a:sym typeface="Wingdings" pitchFamily="2" charset="2"/>
                                </a:rPr>
                                <m:t>2</m:t>
                              </m:r>
                            </m:sup>
                          </m:sSubSup>
                        </m:num>
                        <m:den>
                          <m:nary>
                            <m:naryPr>
                              <m:chr m:val="∑"/>
                              <m:supHide m:val="on"/>
                              <m:ctrlPr>
                                <a:rPr lang="en-US" b="0" i="1" smtClean="0">
                                  <a:latin typeface="Cambria Math" panose="02040503050406030204" pitchFamily="18" charset="0"/>
                                  <a:sym typeface="Wingdings" pitchFamily="2" charset="2"/>
                                </a:rPr>
                              </m:ctrlPr>
                            </m:naryPr>
                            <m:sub>
                              <m:r>
                                <a:rPr lang="en-US" b="0" i="1" smtClean="0">
                                  <a:latin typeface="Cambria Math" panose="02040503050406030204" pitchFamily="18" charset="0"/>
                                  <a:sym typeface="Wingdings" pitchFamily="2" charset="2"/>
                                </a:rPr>
                                <m:t>𝑗</m:t>
                              </m:r>
                            </m:sub>
                            <m:sup/>
                            <m:e>
                              <m:sSubSup>
                                <m:sSubSupPr>
                                  <m:ctrlPr>
                                    <a:rPr lang="en-US" b="0" i="1" smtClean="0">
                                      <a:latin typeface="Cambria Math" panose="02040503050406030204" pitchFamily="18" charset="0"/>
                                      <a:sym typeface="Wingdings" pitchFamily="2" charset="2"/>
                                    </a:rPr>
                                  </m:ctrlPr>
                                </m:sSubSupPr>
                                <m:e>
                                  <m:r>
                                    <a:rPr lang="en-US" b="0" i="1" smtClean="0">
                                      <a:latin typeface="Cambria Math" panose="02040503050406030204" pitchFamily="18" charset="0"/>
                                      <a:sym typeface="Wingdings" pitchFamily="2" charset="2"/>
                                    </a:rPr>
                                    <m:t>𝜎</m:t>
                                  </m:r>
                                </m:e>
                                <m:sub>
                                  <m:r>
                                    <a:rPr lang="en-US" b="0" i="1" smtClean="0">
                                      <a:latin typeface="Cambria Math" panose="02040503050406030204" pitchFamily="18" charset="0"/>
                                      <a:sym typeface="Wingdings" pitchFamily="2" charset="2"/>
                                    </a:rPr>
                                    <m:t>𝑗</m:t>
                                  </m:r>
                                </m:sub>
                                <m:sup>
                                  <m:r>
                                    <a:rPr lang="en-US" b="0" i="1" smtClean="0">
                                      <a:latin typeface="Cambria Math" panose="02040503050406030204" pitchFamily="18" charset="0"/>
                                      <a:sym typeface="Wingdings" pitchFamily="2" charset="2"/>
                                    </a:rPr>
                                    <m:t>2</m:t>
                                  </m:r>
                                </m:sup>
                              </m:sSubSup>
                            </m:e>
                          </m:nary>
                        </m:den>
                      </m:f>
                    </m:oMath>
                  </m:oMathPara>
                </a14:m>
                <a:endParaRPr lang="en-US" b="0" dirty="0">
                  <a:sym typeface="Wingdings" pitchFamily="2" charset="2"/>
                </a:endParaRPr>
              </a:p>
              <a:p>
                <a:pPr marL="114300" indent="0">
                  <a:buNone/>
                </a:pPr>
                <a:endParaRPr lang="en-US" dirty="0">
                  <a:sym typeface="Wingdings" pitchFamily="2" charset="2"/>
                </a:endParaRPr>
              </a:p>
              <a:p>
                <a:pPr marL="114300" indent="0">
                  <a:buNone/>
                </a:pPr>
                <a:r>
                  <a:rPr lang="en-US" b="0" dirty="0"/>
                  <a:t>Need to decide how much </a:t>
                </a:r>
                <a:r>
                  <a:rPr lang="en-US" dirty="0"/>
                  <a:t>variance we want to keep (90%? 95%?)</a:t>
                </a:r>
              </a:p>
              <a:p>
                <a:r>
                  <a:rPr lang="en-US" dirty="0"/>
                  <a:t>Once we decide which </a:t>
                </a:r>
                <a14:m>
                  <m:oMath xmlns:m="http://schemas.openxmlformats.org/officeDocument/2006/math">
                    <m:r>
                      <a:rPr lang="en-US" b="0" i="1" smtClean="0">
                        <a:latin typeface="Cambria Math" panose="02040503050406030204" pitchFamily="18" charset="0"/>
                      </a:rPr>
                      <m:t>𝑘</m:t>
                    </m:r>
                  </m:oMath>
                </a14:m>
                <a:r>
                  <a:rPr lang="en-US" b="0" dirty="0"/>
                  <a:t> components to keep, we will keep the first </a:t>
                </a:r>
                <a14:m>
                  <m:oMath xmlns:m="http://schemas.openxmlformats.org/officeDocument/2006/math">
                    <m:r>
                      <a:rPr lang="en-US" b="0" i="1" smtClean="0">
                        <a:latin typeface="Cambria Math" panose="02040503050406030204" pitchFamily="18" charset="0"/>
                      </a:rPr>
                      <m:t>𝑘</m:t>
                    </m:r>
                  </m:oMath>
                </a14:m>
                <a:r>
                  <a:rPr lang="en-US" b="0" dirty="0"/>
                  <a:t> columns of </a:t>
                </a:r>
                <a14:m>
                  <m:oMath xmlns:m="http://schemas.openxmlformats.org/officeDocument/2006/math">
                    <m:r>
                      <a:rPr lang="en-US" b="0" i="1" smtClean="0">
                        <a:latin typeface="Cambria Math" panose="02040503050406030204" pitchFamily="18" charset="0"/>
                      </a:rPr>
                      <m:t>𝑈</m:t>
                    </m:r>
                    <m:r>
                      <a:rPr lang="en-US" b="0" i="1" smtClean="0">
                        <a:latin typeface="Cambria Math" panose="02040503050406030204" pitchFamily="18" charset="0"/>
                      </a:rPr>
                      <m:t>, </m:t>
                    </m:r>
                    <m:r>
                      <m:rPr>
                        <m:sty m:val="p"/>
                      </m:rPr>
                      <a:rPr lang="en-US" b="0" i="0" smtClean="0">
                        <a:latin typeface="Cambria Math" panose="02040503050406030204" pitchFamily="18" charset="0"/>
                      </a:rPr>
                      <m:t>Σ</m:t>
                    </m:r>
                    <m:r>
                      <a:rPr lang="en-US" b="0" i="1" smtClean="0">
                        <a:latin typeface="Cambria Math" panose="02040503050406030204" pitchFamily="18" charset="0"/>
                      </a:rPr>
                      <m:t>, </m:t>
                    </m:r>
                    <m:r>
                      <a:rPr lang="en-US" b="0" i="1" smtClean="0">
                        <a:latin typeface="Cambria Math" panose="02040503050406030204" pitchFamily="18" charset="0"/>
                      </a:rPr>
                      <m:t>𝑉</m:t>
                    </m:r>
                  </m:oMath>
                </a14:m>
                <a:endParaRPr lang="en-US" b="0" dirty="0"/>
              </a:p>
              <a:p>
                <a:endParaRPr lang="en-US" b="0" dirty="0"/>
              </a:p>
              <a:p>
                <a:endParaRPr lang="en-US" b="0" dirty="0"/>
              </a:p>
              <a:p>
                <a:endParaRPr lang="en-US" dirty="0"/>
              </a:p>
              <a:p>
                <a:pPr marL="114300" indent="0">
                  <a:buNone/>
                </a:pPr>
                <a:endParaRPr lang="en-US" b="0" dirty="0"/>
              </a:p>
              <a:p>
                <a:pPr marL="114300" indent="0">
                  <a:buNone/>
                </a:pPr>
                <a:endParaRPr lang="en-US" b="0" dirty="0"/>
              </a:p>
            </p:txBody>
          </p:sp>
        </mc:Choice>
        <mc:Fallback xmlns="">
          <p:sp>
            <p:nvSpPr>
              <p:cNvPr id="3" name="Text Placeholder 2">
                <a:extLst>
                  <a:ext uri="{FF2B5EF4-FFF2-40B4-BE49-F238E27FC236}">
                    <a16:creationId xmlns:a16="http://schemas.microsoft.com/office/drawing/2014/main" id="{19465A24-A3FF-1E69-AB5B-1F6EE95F80ED}"/>
                  </a:ext>
                </a:extLst>
              </p:cNvPr>
              <p:cNvSpPr>
                <a:spLocks noGrp="1" noRot="1" noChangeAspect="1" noMove="1" noResize="1" noEditPoints="1" noAdjustHandles="1" noChangeArrowheads="1" noChangeShapeType="1" noTextEdit="1"/>
              </p:cNvSpPr>
              <p:nvPr>
                <p:ph type="body" idx="1"/>
              </p:nvPr>
            </p:nvSpPr>
            <p:spPr>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2339940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B10F72-ED4C-3797-E6A8-157876A002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DDB1DD-FC0B-26C5-649A-54F8C55428EA}"/>
              </a:ext>
            </a:extLst>
          </p:cNvPr>
          <p:cNvSpPr>
            <a:spLocks noGrp="1"/>
          </p:cNvSpPr>
          <p:nvPr>
            <p:ph type="title"/>
          </p:nvPr>
        </p:nvSpPr>
        <p:spPr/>
        <p:txBody>
          <a:bodyPr>
            <a:normAutofit fontScale="90000"/>
          </a:bodyPr>
          <a:lstStyle/>
          <a:p>
            <a:r>
              <a:rPr lang="en-US" dirty="0"/>
              <a:t>Feature Extraction</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C8802B77-98E8-AD3B-92D9-C71D95A4A12A}"/>
                  </a:ext>
                </a:extLst>
              </p:cNvPr>
              <p:cNvSpPr>
                <a:spLocks noGrp="1"/>
              </p:cNvSpPr>
              <p:nvPr>
                <p:ph type="body" idx="1"/>
              </p:nvPr>
            </p:nvSpPr>
            <p:spPr/>
            <p:txBody>
              <a:bodyPr/>
              <a:lstStyle/>
              <a:p>
                <a:pPr marL="114300" indent="0">
                  <a:buNone/>
                </a:pPr>
                <a:r>
                  <a:rPr lang="en-US" dirty="0"/>
                  <a:t>Once we decide which </a:t>
                </a:r>
                <a14:m>
                  <m:oMath xmlns:m="http://schemas.openxmlformats.org/officeDocument/2006/math">
                    <m:r>
                      <a:rPr lang="en-US" b="0" i="1" smtClean="0">
                        <a:latin typeface="Cambria Math" panose="02040503050406030204" pitchFamily="18" charset="0"/>
                      </a:rPr>
                      <m:t>𝑘</m:t>
                    </m:r>
                  </m:oMath>
                </a14:m>
                <a:r>
                  <a:rPr lang="en-US" b="0" dirty="0"/>
                  <a:t> components to keep, we will keep the first </a:t>
                </a:r>
                <a14:m>
                  <m:oMath xmlns:m="http://schemas.openxmlformats.org/officeDocument/2006/math">
                    <m:r>
                      <a:rPr lang="en-US" b="0" i="1" smtClean="0">
                        <a:latin typeface="Cambria Math" panose="02040503050406030204" pitchFamily="18" charset="0"/>
                      </a:rPr>
                      <m:t>𝑘</m:t>
                    </m:r>
                  </m:oMath>
                </a14:m>
                <a:r>
                  <a:rPr lang="en-US" b="0" dirty="0"/>
                  <a:t> columns of </a:t>
                </a:r>
                <a14:m>
                  <m:oMath xmlns:m="http://schemas.openxmlformats.org/officeDocument/2006/math">
                    <m:r>
                      <a:rPr lang="en-US" b="0" i="1" smtClean="0">
                        <a:latin typeface="Cambria Math" panose="02040503050406030204" pitchFamily="18" charset="0"/>
                      </a:rPr>
                      <m:t>𝑈</m:t>
                    </m:r>
                    <m:r>
                      <a:rPr lang="en-US" b="0" i="1" smtClean="0">
                        <a:latin typeface="Cambria Math" panose="02040503050406030204" pitchFamily="18" charset="0"/>
                      </a:rPr>
                      <m:t>, </m:t>
                    </m:r>
                    <m:r>
                      <m:rPr>
                        <m:sty m:val="p"/>
                      </m:rPr>
                      <a:rPr lang="en-US" b="0" i="0" smtClean="0">
                        <a:latin typeface="Cambria Math" panose="02040503050406030204" pitchFamily="18" charset="0"/>
                      </a:rPr>
                      <m:t>Σ</m:t>
                    </m:r>
                    <m:r>
                      <a:rPr lang="en-US" b="0" i="1" smtClean="0">
                        <a:latin typeface="Cambria Math" panose="02040503050406030204" pitchFamily="18" charset="0"/>
                      </a:rPr>
                      <m:t>, </m:t>
                    </m:r>
                    <m:r>
                      <a:rPr lang="en-US" b="0" i="1" smtClean="0">
                        <a:latin typeface="Cambria Math" panose="02040503050406030204" pitchFamily="18" charset="0"/>
                      </a:rPr>
                      <m:t>𝑉</m:t>
                    </m:r>
                  </m:oMath>
                </a14:m>
                <a:endParaRPr lang="en-US" b="0" dirty="0"/>
              </a:p>
              <a:p>
                <a:pPr marL="114300" indent="0">
                  <a:buNone/>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𝑈</m:t>
                          </m:r>
                        </m:e>
                        <m:sub>
                          <m:r>
                            <a:rPr lang="en-US" b="0" i="1" smtClean="0">
                              <a:latin typeface="Cambria Math" panose="02040503050406030204" pitchFamily="18" charset="0"/>
                            </a:rPr>
                            <m:t>𝑘</m:t>
                          </m:r>
                        </m:sub>
                      </m:sSub>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ℝ</m:t>
                          </m:r>
                        </m:e>
                        <m:sup>
                          <m:r>
                            <a:rPr lang="en-US" b="0" i="1" smtClean="0">
                              <a:latin typeface="Cambria Math" panose="02040503050406030204" pitchFamily="18" charset="0"/>
                            </a:rPr>
                            <m:t>𝑛</m:t>
                          </m:r>
                          <m:r>
                            <a:rPr lang="en-US" b="0" i="1" smtClean="0">
                              <a:latin typeface="Cambria Math" panose="02040503050406030204" pitchFamily="18" charset="0"/>
                            </a:rPr>
                            <m:t>×</m:t>
                          </m:r>
                          <m:r>
                            <a:rPr lang="en-US" b="0" i="1" smtClean="0">
                              <a:latin typeface="Cambria Math" panose="02040503050406030204" pitchFamily="18" charset="0"/>
                            </a:rPr>
                            <m:t>𝑘</m:t>
                          </m:r>
                        </m:sup>
                      </m:sSup>
                      <m:r>
                        <a:rPr lang="en-US" b="0" i="1" smtClean="0">
                          <a:latin typeface="Cambria Math" panose="02040503050406030204" pitchFamily="18" charset="0"/>
                        </a:rPr>
                        <m:t>,</m:t>
                      </m:r>
                      <m:sSub>
                        <m:sSubPr>
                          <m:ctrlPr>
                            <a:rPr lang="en-US" b="0" i="0" smtClean="0">
                              <a:latin typeface="Cambria Math" panose="02040503050406030204" pitchFamily="18" charset="0"/>
                            </a:rPr>
                          </m:ctrlPr>
                        </m:sSubPr>
                        <m:e>
                          <m:r>
                            <m:rPr>
                              <m:sty m:val="p"/>
                            </m:rPr>
                            <a:rPr lang="en-US" b="0" i="0" smtClean="0">
                              <a:latin typeface="Cambria Math" panose="02040503050406030204" pitchFamily="18" charset="0"/>
                            </a:rPr>
                            <m:t>Σ</m:t>
                          </m:r>
                        </m:e>
                        <m:sub>
                          <m:r>
                            <a:rPr lang="en-US" b="0" i="1" smtClean="0">
                              <a:latin typeface="Cambria Math" panose="02040503050406030204" pitchFamily="18" charset="0"/>
                            </a:rPr>
                            <m:t>𝑘</m:t>
                          </m:r>
                        </m:sub>
                      </m:sSub>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ℝ</m:t>
                          </m:r>
                        </m:e>
                        <m:sup>
                          <m:r>
                            <a:rPr lang="en-US" b="0" i="1" smtClean="0">
                              <a:latin typeface="Cambria Math" panose="02040503050406030204" pitchFamily="18" charset="0"/>
                            </a:rPr>
                            <m:t>𝑘</m:t>
                          </m:r>
                          <m:r>
                            <a:rPr lang="en-US" b="0" i="1" smtClean="0">
                              <a:latin typeface="Cambria Math" panose="02040503050406030204" pitchFamily="18" charset="0"/>
                            </a:rPr>
                            <m:t>×</m:t>
                          </m:r>
                          <m:r>
                            <a:rPr lang="en-US" b="0" i="1" smtClean="0">
                              <a:latin typeface="Cambria Math" panose="02040503050406030204" pitchFamily="18" charset="0"/>
                            </a:rPr>
                            <m:t>𝑘</m:t>
                          </m:r>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𝑘</m:t>
                          </m:r>
                        </m:sub>
                      </m:sSub>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ℝ</m:t>
                          </m:r>
                        </m:e>
                        <m:sup>
                          <m:r>
                            <a:rPr lang="en-US" b="0" i="1" smtClean="0">
                              <a:latin typeface="Cambria Math" panose="02040503050406030204" pitchFamily="18" charset="0"/>
                            </a:rPr>
                            <m:t>𝑚</m:t>
                          </m:r>
                          <m:r>
                            <a:rPr lang="en-US" b="0" i="1" smtClean="0">
                              <a:latin typeface="Cambria Math" panose="02040503050406030204" pitchFamily="18" charset="0"/>
                            </a:rPr>
                            <m:t>×</m:t>
                          </m:r>
                          <m:r>
                            <a:rPr lang="en-US" b="0" i="1" smtClean="0">
                              <a:latin typeface="Cambria Math" panose="02040503050406030204" pitchFamily="18" charset="0"/>
                            </a:rPr>
                            <m:t>𝑘</m:t>
                          </m:r>
                        </m:sup>
                      </m:sSup>
                    </m:oMath>
                  </m:oMathPara>
                </a14:m>
                <a:endParaRPr lang="en-US" dirty="0"/>
              </a:p>
              <a:p>
                <a:pPr marL="114300" indent="0">
                  <a:buNone/>
                </a:pPr>
                <a:endParaRPr lang="en-US" dirty="0"/>
              </a:p>
              <a:p>
                <a:pPr marL="114300" indent="0">
                  <a:buNone/>
                </a:pPr>
                <a:r>
                  <a:rPr lang="en-US" dirty="0"/>
                  <a:t>Find the coordinates of each sample in the new feature space by calculating</a:t>
                </a:r>
              </a:p>
              <a:p>
                <a:pPr marL="114300" indent="0">
                  <a:buNone/>
                </a:pPr>
                <a:endParaRPr lang="en-US" dirty="0"/>
              </a:p>
              <a:p>
                <a:pPr marL="114300" indent="0">
                  <a:buNone/>
                </a:pPr>
                <a14:m>
                  <m:oMathPara xmlns:m="http://schemas.openxmlformats.org/officeDocument/2006/math">
                    <m:oMath>
                      <m:r>
                        <a:rPr lang="en-US" b="0" i="1" smtClean="0">
                          <a:latin typeface="Cambria Math" panose="02040503050406030204" pitchFamily="18" charset="0"/>
                        </a:rPr>
                        <m:t>𝑍</m:t>
                      </m:r>
                      <m:r>
                        <a:rPr lang="en-US" b="0" i="1" smtClean="0">
                          <a:latin typeface="Cambria Math" panose="02040503050406030204" pitchFamily="18" charset="0"/>
                        </a:rPr>
                        <m:t>=</m:t>
                      </m:r>
                      <m:r>
                        <a:rPr lang="en-US" b="0" i="1" smtClean="0">
                          <a:latin typeface="Cambria Math" panose="02040503050406030204" pitchFamily="18" charset="0"/>
                        </a:rPr>
                        <m:t>𝐴</m:t>
                      </m:r>
                      <m:sSub>
                        <m:sSubPr>
                          <m:ctrlPr>
                            <a:rPr lang="en-US" i="1">
                              <a:latin typeface="Cambria Math" panose="02040503050406030204" pitchFamily="18" charset="0"/>
                            </a:rPr>
                          </m:ctrlPr>
                        </m:sSubPr>
                        <m:e>
                          <m:r>
                            <a:rPr lang="en-US" i="1">
                              <a:latin typeface="Cambria Math" panose="02040503050406030204" pitchFamily="18" charset="0"/>
                            </a:rPr>
                            <m:t>𝑉</m:t>
                          </m:r>
                        </m:e>
                        <m:sub>
                          <m:r>
                            <a:rPr lang="en-US" i="1">
                              <a:latin typeface="Cambria Math" panose="02040503050406030204" pitchFamily="18" charset="0"/>
                            </a:rPr>
                            <m:t>𝑘</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𝑈</m:t>
                          </m:r>
                        </m:e>
                        <m:sub>
                          <m:r>
                            <a:rPr lang="en-US" b="0" i="1" smtClean="0">
                              <a:latin typeface="Cambria Math" panose="02040503050406030204" pitchFamily="18" charset="0"/>
                            </a:rPr>
                            <m:t>𝑘</m:t>
                          </m:r>
                        </m:sub>
                      </m:sSub>
                      <m:sSub>
                        <m:sSubPr>
                          <m:ctrlPr>
                            <a:rPr lang="en-US" b="0" i="0" smtClean="0">
                              <a:latin typeface="Cambria Math" panose="02040503050406030204" pitchFamily="18" charset="0"/>
                            </a:rPr>
                          </m:ctrlPr>
                        </m:sSubPr>
                        <m:e>
                          <m:r>
                            <m:rPr>
                              <m:sty m:val="p"/>
                            </m:rPr>
                            <a:rPr lang="en-US" b="0" i="0" smtClean="0">
                              <a:latin typeface="Cambria Math" panose="02040503050406030204" pitchFamily="18" charset="0"/>
                            </a:rPr>
                            <m:t>Σ</m:t>
                          </m:r>
                        </m:e>
                        <m:sub>
                          <m:r>
                            <a:rPr lang="en-US" b="0" i="1" smtClean="0">
                              <a:latin typeface="Cambria Math" panose="02040503050406030204" pitchFamily="18" charset="0"/>
                            </a:rPr>
                            <m:t>𝑘</m:t>
                          </m:r>
                        </m:sub>
                      </m:sSub>
                    </m:oMath>
                  </m:oMathPara>
                </a14:m>
                <a:endParaRPr lang="en-US" b="0" dirty="0"/>
              </a:p>
              <a:p>
                <a:pPr marL="114300" indent="0">
                  <a:buNone/>
                </a:pPr>
                <a:endParaRPr lang="en-US" dirty="0"/>
              </a:p>
              <a:p>
                <a:pPr marL="114300" indent="0">
                  <a:buNone/>
                </a:pPr>
                <a:endParaRPr lang="en-US" b="0" dirty="0"/>
              </a:p>
              <a:p>
                <a:pPr marL="114300" indent="0">
                  <a:buNone/>
                </a:pPr>
                <a:endParaRPr lang="en-US" b="0" dirty="0"/>
              </a:p>
            </p:txBody>
          </p:sp>
        </mc:Choice>
        <mc:Fallback xmlns="">
          <p:sp>
            <p:nvSpPr>
              <p:cNvPr id="3" name="Text Placeholder 2">
                <a:extLst>
                  <a:ext uri="{FF2B5EF4-FFF2-40B4-BE49-F238E27FC236}">
                    <a16:creationId xmlns:a16="http://schemas.microsoft.com/office/drawing/2014/main" id="{C8802B77-98E8-AD3B-92D9-C71D95A4A12A}"/>
                  </a:ext>
                </a:extLst>
              </p:cNvPr>
              <p:cNvSpPr>
                <a:spLocks noGrp="1" noRot="1" noChangeAspect="1" noMove="1" noResize="1" noEditPoints="1" noAdjustHandles="1" noChangeArrowheads="1" noChangeShapeType="1" noTextEdit="1"/>
              </p:cNvSpPr>
              <p:nvPr>
                <p:ph type="body" idx="1"/>
              </p:nvPr>
            </p:nvSpPr>
            <p:spPr>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4797994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FCA001B-0A74-95FE-7F8B-6E97C456C46D}"/>
              </a:ext>
            </a:extLst>
          </p:cNvPr>
          <p:cNvSpPr/>
          <p:nvPr>
            <p:custDataLst>
              <p:tags r:id="rId2"/>
            </p:custDataLst>
          </p:nvPr>
        </p:nvSpPr>
        <p:spPr>
          <a:xfrm>
            <a:off x="333520" y="1307028"/>
            <a:ext cx="1778772" cy="1778772"/>
          </a:xfrm>
          <a:prstGeom prst="rect">
            <a:avLst/>
          </a:prstGeom>
          <a:blipFill>
            <a:blip>
              <a:extLst>
                <a:ext uri="{96DAC541-7B7A-43D3-8B79-37D633B846F1}">
                  <asvg:svgBlip xmlns:asvg="http://schemas.microsoft.com/office/drawing/2016/SVG/main" r:embed="rId7"/>
                </a:ext>
              </a:extLst>
            </a:blip>
            <a:stretch>
              <a:fillRect/>
            </a:stretch>
          </a:blipFill>
          <a:ln w="25400" cap="flat" cmpd="sng" algn="ctr">
            <a:noFill/>
            <a:prstDash val="solid"/>
          </a:ln>
          <a:effectLst/>
          <a:extLst>
            <a:ext uri="{91240B29-F687-4F45-9708-019B960494DF}">
              <a14:hiddenLine xmlns:a14="http://schemas.microsoft.com/office/drawing/2010/main" w="25400" cap="flat" cmpd="sng" algn="ctr">
                <a:solidFill>
                  <a:srgbClr val="FFFFFF"/>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26178821-EB6D-1CCC-338C-13D9379557DB}"/>
              </a:ext>
            </a:extLst>
          </p:cNvPr>
          <p:cNvSpPr/>
          <p:nvPr>
            <p:custDataLst>
              <p:tags r:id="rId3"/>
            </p:custDataLst>
          </p:nvPr>
        </p:nvSpPr>
        <p:spPr>
          <a:xfrm>
            <a:off x="2334638" y="750673"/>
            <a:ext cx="6364669" cy="2891481"/>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rgbClr val="FFFFFF"/>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400" b="1">
                <a:solidFill>
                  <a:srgbClr val="000000"/>
                </a:solidFill>
              </a:rPr>
              <a:t>Given an n × m data matrix A (n samples, m original features) with SVD A = U</a:t>
            </a:r>
            <a:r>
              <a:rPr lang="el-GR" sz="2400" b="1">
                <a:solidFill>
                  <a:srgbClr val="000000"/>
                </a:solidFill>
              </a:rPr>
              <a:t>Σ</a:t>
            </a:r>
            <a:r>
              <a:rPr lang="en-US" sz="2400" b="1">
                <a:solidFill>
                  <a:srgbClr val="000000"/>
                </a:solidFill>
              </a:rPr>
              <a:t>Vᵀ, you extract features by projecting onto the top-k right singular vectors: Z = A V_k, where V_k is the m × k matrix of the first k columns of V. What are the dimensions of Z, and what do its columns represent?</a:t>
            </a:r>
          </a:p>
        </p:txBody>
      </p:sp>
      <p:sp>
        <p:nvSpPr>
          <p:cNvPr id="4" name="Rectangle 3">
            <a:extLst>
              <a:ext uri="{FF2B5EF4-FFF2-40B4-BE49-F238E27FC236}">
                <a16:creationId xmlns:a16="http://schemas.microsoft.com/office/drawing/2014/main" id="{8DE4FEE0-17F3-A9AA-D94A-E09F8248E1FB}"/>
              </a:ext>
            </a:extLst>
          </p:cNvPr>
          <p:cNvSpPr/>
          <p:nvPr>
            <p:custDataLst>
              <p:tags r:id="rId4"/>
            </p:custDataLst>
          </p:nvPr>
        </p:nvSpPr>
        <p:spPr>
          <a:xfrm>
            <a:off x="0" y="4365024"/>
            <a:ext cx="9144000" cy="778476"/>
          </a:xfrm>
          <a:prstGeom prst="rect">
            <a:avLst/>
          </a:prstGeom>
          <a:solidFill>
            <a:srgbClr val="19803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lIns="555866" tIns="194619" rIns="1389666" bIns="152915" rtlCol="0" anchor="ctr">
            <a:normAutofit fontScale="62500" lnSpcReduction="20000"/>
          </a:bodyPr>
          <a:lstStyle/>
          <a:p>
            <a:r>
              <a:rPr lang="en-US" sz="2600">
                <a:solidFill>
                  <a:srgbClr val="FFFFFF"/>
                </a:solidFill>
              </a:rPr>
              <a:t>The </a:t>
            </a:r>
            <a:r>
              <a:rPr lang="en-US" sz="2600">
                <a:solidFill>
                  <a:srgbClr val="FFFFFF"/>
                </a:solidFill>
                <a:hlinkClick r:id="rId8">
                  <a:extLst>
                    <a:ext uri="{A12FA001-AC4F-418D-AE19-62706E023703}">
                      <ahyp:hlinkClr xmlns:ahyp="http://schemas.microsoft.com/office/drawing/2018/hyperlinkcolor" val="tx"/>
                    </a:ext>
                  </a:extLst>
                </a:hlinkClick>
              </a:rPr>
              <a:t>Slido app</a:t>
            </a:r>
            <a:r>
              <a:rPr lang="en-US" sz="2600">
                <a:solidFill>
                  <a:srgbClr val="FFFFFF"/>
                </a:solidFill>
              </a:rPr>
              <a:t> must be installed on every computer you’re presenting from</a:t>
            </a:r>
          </a:p>
        </p:txBody>
      </p:sp>
      <p:pic>
        <p:nvPicPr>
          <p:cNvPr id="6" name="Graphic 5">
            <a:extLst>
              <a:ext uri="{FF2B5EF4-FFF2-40B4-BE49-F238E27FC236}">
                <a16:creationId xmlns:a16="http://schemas.microsoft.com/office/drawing/2014/main" id="{D0DF3F85-164F-F4AF-336A-1B9EA260E641}"/>
              </a:ext>
            </a:extLst>
          </p:cNvPr>
          <p:cNvPicPr>
            <a:picLocks/>
          </p:cNvPicPr>
          <p:nvPr/>
        </p:nvPicPr>
        <p:blipFill>
          <a:blip>
            <a:extLst>
              <a:ext uri="{96DAC541-7B7A-43D3-8B79-37D633B846F1}">
                <asvg:svgBlip xmlns:asvg="http://schemas.microsoft.com/office/drawing/2016/SVG/main" r:embed="rId9"/>
              </a:ext>
            </a:extLst>
          </a:blip>
          <a:stretch>
            <a:fillRect/>
          </a:stretch>
        </p:blipFill>
        <p:spPr>
          <a:xfrm>
            <a:off x="222347" y="4643089"/>
            <a:ext cx="222347" cy="222347"/>
          </a:xfrm>
          <a:prstGeom prst="rect">
            <a:avLst/>
          </a:prstGeom>
        </p:spPr>
      </p:pic>
      <p:sp>
        <p:nvSpPr>
          <p:cNvPr id="7" name="Trapezoid 6">
            <a:extLst>
              <a:ext uri="{FF2B5EF4-FFF2-40B4-BE49-F238E27FC236}">
                <a16:creationId xmlns:a16="http://schemas.microsoft.com/office/drawing/2014/main" id="{60A2763A-BCFF-BD3D-A70B-41C81778E067}"/>
              </a:ext>
            </a:extLst>
          </p:cNvPr>
          <p:cNvSpPr/>
          <p:nvPr>
            <p:custDataLst>
              <p:tags r:id="rId5"/>
            </p:custDataLst>
          </p:nvPr>
        </p:nvSpPr>
        <p:spPr>
          <a:xfrm rot="2700000">
            <a:off x="7215278" y="386193"/>
            <a:ext cx="2501399" cy="583660"/>
          </a:xfrm>
          <a:prstGeom prst="trapezoid">
            <a:avLst>
              <a:gd name="adj" fmla="val 100000"/>
            </a:avLst>
          </a:prstGeom>
          <a:solidFill>
            <a:srgbClr val="EDFAF2"/>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tIns="0" bIns="0" rtlCol="0" anchor="t">
            <a:normAutofit fontScale="55000" lnSpcReduction="20000"/>
          </a:bodyPr>
          <a:lstStyle/>
          <a:p>
            <a:pPr algn="ctr"/>
            <a:r>
              <a:rPr lang="en-US" sz="2600" b="1">
                <a:solidFill>
                  <a:srgbClr val="198038"/>
                </a:solidFill>
              </a:rPr>
              <a:t>Do not edit
</a:t>
            </a:r>
            <a:r>
              <a:rPr lang="en-US" sz="2200">
                <a:solidFill>
                  <a:srgbClr val="198038"/>
                </a:solidFill>
                <a:hlinkClick r:id="rId10">
                  <a:extLst>
                    <a:ext uri="{A12FA001-AC4F-418D-AE19-62706E023703}">
                      <ahyp:hlinkClr xmlns:ahyp="http://schemas.microsoft.com/office/drawing/2018/hyperlinkcolor" val="tx"/>
                    </a:ext>
                  </a:extLst>
                </a:hlinkClick>
              </a:rPr>
              <a:t>How to change the design</a:t>
            </a:r>
            <a:endParaRPr lang="en-US" sz="2200">
              <a:solidFill>
                <a:srgbClr val="198038"/>
              </a:solidFill>
            </a:endParaRPr>
          </a:p>
        </p:txBody>
      </p:sp>
      <p:pic>
        <p:nvPicPr>
          <p:cNvPr id="9" name="Graphic 8">
            <a:extLst>
              <a:ext uri="{FF2B5EF4-FFF2-40B4-BE49-F238E27FC236}">
                <a16:creationId xmlns:a16="http://schemas.microsoft.com/office/drawing/2014/main" id="{FFFD5C78-6DD3-2563-7595-A1DFDA8D1C0A}"/>
              </a:ext>
            </a:extLst>
          </p:cNvPr>
          <p:cNvPicPr>
            <a:picLocks/>
          </p:cNvPicPr>
          <p:nvPr/>
        </p:nvPicPr>
        <p:blipFill>
          <a:blip>
            <a:extLst>
              <a:ext uri="{96DAC541-7B7A-43D3-8B79-37D633B846F1}">
                <asvg:svgBlip xmlns:asvg="http://schemas.microsoft.com/office/drawing/2016/SVG/main" r:embed="rId11"/>
              </a:ext>
            </a:extLst>
          </a:blip>
          <a:stretch>
            <a:fillRect/>
          </a:stretch>
        </p:blipFill>
        <p:spPr>
          <a:xfrm>
            <a:off x="8060062" y="4615295"/>
            <a:ext cx="833799" cy="277933"/>
          </a:xfrm>
          <a:prstGeom prst="rect">
            <a:avLst/>
          </a:prstGeom>
        </p:spPr>
      </p:pic>
    </p:spTree>
    <p:custDataLst>
      <p:tags r:id="rId1"/>
    </p:custDataLst>
    <p:extLst>
      <p:ext uri="{BB962C8B-B14F-4D97-AF65-F5344CB8AC3E}">
        <p14:creationId xmlns:p14="http://schemas.microsoft.com/office/powerpoint/2010/main" val="39601111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 tmFilter="0, 0; .2, .5; .8, .5; 1, 0"/>
                                        <p:tgtEl>
                                          <p:spTgt spid="3"/>
                                        </p:tgtEl>
                                      </p:cBhvr>
                                    </p:animEffect>
                                    <p:animScale>
                                      <p:cBhvr>
                                        <p:cTn id="7" dur="25" autoRev="1" fill="hold"/>
                                        <p:tgtEl>
                                          <p:spTgt spid="3"/>
                                        </p:tgtEl>
                                      </p:cBhvr>
                                      <p:by x="105000" y="105000"/>
                                    </p:animScale>
                                  </p:childTnLst>
                                </p:cTn>
                              </p:par>
                            </p:childTnLst>
                          </p:cTn>
                        </p:par>
                      </p:childTnLst>
                    </p:cTn>
                  </p:par>
                  <p:par>
                    <p:cTn id="8" fill="hold">
                      <p:stCondLst>
                        <p:cond delay="indefinite"/>
                      </p:stCondLst>
                      <p:childTnLst>
                        <p:par>
                          <p:cTn id="9" fill="hold">
                            <p:stCondLst>
                              <p:cond delay="0"/>
                            </p:stCondLst>
                            <p:childTnLst>
                              <p:par>
                                <p:cTn id="10" presetID="26" presetClass="emph" presetSubtype="0" fill="hold" grpId="1" nodeType="clickEffect">
                                  <p:stCondLst>
                                    <p:cond delay="0"/>
                                  </p:stCondLst>
                                  <p:childTnLst>
                                    <p:animEffect transition="out" filter="fade">
                                      <p:cBhvr>
                                        <p:cTn id="11" dur="50" tmFilter="0, 0; .2, .5; .8, .5; 1, 0"/>
                                        <p:tgtEl>
                                          <p:spTgt spid="3"/>
                                        </p:tgtEl>
                                      </p:cBhvr>
                                    </p:animEffect>
                                    <p:animScale>
                                      <p:cBhvr>
                                        <p:cTn id="12" dur="25" autoRev="1" fill="hold"/>
                                        <p:tgtEl>
                                          <p:spTgt spid="3"/>
                                        </p:tgtEl>
                                      </p:cBhvr>
                                      <p:by x="105000" y="105000"/>
                                    </p:animScale>
                                  </p:childTnLst>
                                </p:cTn>
                              </p:par>
                            </p:childTnLst>
                          </p:cTn>
                        </p:par>
                      </p:childTnLst>
                    </p:cTn>
                  </p:par>
                  <p:par>
                    <p:cTn id="13" fill="hold">
                      <p:stCondLst>
                        <p:cond delay="indefinite"/>
                      </p:stCondLst>
                      <p:childTnLst>
                        <p:par>
                          <p:cTn id="14" fill="hold">
                            <p:stCondLst>
                              <p:cond delay="0"/>
                            </p:stCondLst>
                            <p:childTnLst>
                              <p:par>
                                <p:cTn id="15" presetID="26" presetClass="emph" presetSubtype="0" fill="hold" grpId="2" nodeType="clickEffect">
                                  <p:stCondLst>
                                    <p:cond delay="0"/>
                                  </p:stCondLst>
                                  <p:childTnLst>
                                    <p:animEffect transition="out" filter="fade">
                                      <p:cBhvr>
                                        <p:cTn id="16" dur="50" tmFilter="0, 0; .2, .5; .8, .5; 1, 0"/>
                                        <p:tgtEl>
                                          <p:spTgt spid="3"/>
                                        </p:tgtEl>
                                      </p:cBhvr>
                                    </p:animEffect>
                                    <p:animScale>
                                      <p:cBhvr>
                                        <p:cTn id="17" dur="25" autoRev="1" fill="hold"/>
                                        <p:tgtEl>
                                          <p:spTgt spid="3"/>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P spid="3" grpId="2"/>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E05B4D-54CE-1F64-5580-C81EF3E657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CE49DB-0703-9BE3-DF14-592E4BB36AC0}"/>
              </a:ext>
            </a:extLst>
          </p:cNvPr>
          <p:cNvSpPr>
            <a:spLocks noGrp="1"/>
          </p:cNvSpPr>
          <p:nvPr>
            <p:ph type="title"/>
          </p:nvPr>
        </p:nvSpPr>
        <p:spPr>
          <a:xfrm>
            <a:off x="311700" y="2218050"/>
            <a:ext cx="8520600" cy="707400"/>
          </a:xfrm>
        </p:spPr>
        <p:txBody>
          <a:bodyPr>
            <a:normAutofit fontScale="90000"/>
          </a:bodyPr>
          <a:lstStyle/>
          <a:p>
            <a:pPr algn="ctr"/>
            <a:r>
              <a:rPr lang="en-US" dirty="0"/>
              <a:t>SVD for Anomaly Detection</a:t>
            </a:r>
          </a:p>
        </p:txBody>
      </p:sp>
    </p:spTree>
    <p:extLst>
      <p:ext uri="{BB962C8B-B14F-4D97-AF65-F5344CB8AC3E}">
        <p14:creationId xmlns:p14="http://schemas.microsoft.com/office/powerpoint/2010/main" val="15704478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EB52E5-99FD-8A64-3FC4-7C96D6420EEA}"/>
              </a:ext>
            </a:extLst>
          </p:cNvPr>
          <p:cNvSpPr>
            <a:spLocks noGrp="1"/>
          </p:cNvSpPr>
          <p:nvPr>
            <p:ph type="title"/>
          </p:nvPr>
        </p:nvSpPr>
        <p:spPr/>
        <p:txBody>
          <a:bodyPr>
            <a:normAutofit fontScale="90000"/>
          </a:bodyPr>
          <a:lstStyle/>
          <a:p>
            <a:r>
              <a:rPr lang="en-US" dirty="0"/>
              <a:t>What is an anomaly in data science?</a:t>
            </a:r>
          </a:p>
        </p:txBody>
      </p:sp>
      <p:sp>
        <p:nvSpPr>
          <p:cNvPr id="3" name="Text Placeholder 2">
            <a:extLst>
              <a:ext uri="{FF2B5EF4-FFF2-40B4-BE49-F238E27FC236}">
                <a16:creationId xmlns:a16="http://schemas.microsoft.com/office/drawing/2014/main" id="{EA3457D0-2AEC-DF6B-99CF-D762DE3947EF}"/>
              </a:ext>
            </a:extLst>
          </p:cNvPr>
          <p:cNvSpPr>
            <a:spLocks noGrp="1"/>
          </p:cNvSpPr>
          <p:nvPr>
            <p:ph type="body" idx="1"/>
          </p:nvPr>
        </p:nvSpPr>
        <p:spPr/>
        <p:txBody>
          <a:bodyPr/>
          <a:lstStyle/>
          <a:p>
            <a:pPr marL="114300" indent="0">
              <a:buNone/>
            </a:pPr>
            <a:r>
              <a:rPr lang="en-US" dirty="0"/>
              <a:t>Anomaly detection, or outlier detection, is the identification of observations, events, or data points that deviate from what is usual, standard, or expected, making them inconsistent with the rest of the data set</a:t>
            </a:r>
            <a:r>
              <a:rPr lang="en-US" baseline="30000" dirty="0"/>
              <a:t>1</a:t>
            </a:r>
            <a:r>
              <a:rPr lang="en-US" dirty="0"/>
              <a:t>.</a:t>
            </a:r>
          </a:p>
        </p:txBody>
      </p:sp>
      <p:sp>
        <p:nvSpPr>
          <p:cNvPr id="4" name="TextBox 3">
            <a:extLst>
              <a:ext uri="{FF2B5EF4-FFF2-40B4-BE49-F238E27FC236}">
                <a16:creationId xmlns:a16="http://schemas.microsoft.com/office/drawing/2014/main" id="{4E2DA87C-D752-B29A-2F32-B3939C138703}"/>
              </a:ext>
            </a:extLst>
          </p:cNvPr>
          <p:cNvSpPr txBox="1"/>
          <p:nvPr/>
        </p:nvSpPr>
        <p:spPr>
          <a:xfrm>
            <a:off x="431800" y="4768850"/>
            <a:ext cx="8515350" cy="215444"/>
          </a:xfrm>
          <a:prstGeom prst="rect">
            <a:avLst/>
          </a:prstGeom>
          <a:noFill/>
        </p:spPr>
        <p:txBody>
          <a:bodyPr wrap="square" rtlCol="0">
            <a:spAutoFit/>
          </a:bodyPr>
          <a:lstStyle/>
          <a:p>
            <a:r>
              <a:rPr lang="en-US" sz="800" baseline="30000" dirty="0">
                <a:solidFill>
                  <a:schemeClr val="bg2"/>
                </a:solidFill>
                <a:latin typeface="Open Sans" panose="020B0606030504020204" pitchFamily="34" charset="0"/>
                <a:ea typeface="Open Sans" panose="020B0606030504020204" pitchFamily="34" charset="0"/>
                <a:cs typeface="Open Sans" panose="020B0606030504020204" pitchFamily="34" charset="0"/>
              </a:rPr>
              <a:t>1</a:t>
            </a:r>
            <a:r>
              <a:rPr lang="en-US" sz="800" dirty="0">
                <a:solidFill>
                  <a:schemeClr val="bg2"/>
                </a:solidFill>
                <a:latin typeface="Open Sans" panose="020B0606030504020204" pitchFamily="34" charset="0"/>
                <a:ea typeface="Open Sans" panose="020B0606030504020204" pitchFamily="34" charset="0"/>
                <a:cs typeface="Open Sans" panose="020B0606030504020204" pitchFamily="34" charset="0"/>
              </a:rPr>
              <a:t>IBM - What is Anomaly Detection</a:t>
            </a:r>
          </a:p>
        </p:txBody>
      </p:sp>
    </p:spTree>
    <p:extLst>
      <p:ext uri="{BB962C8B-B14F-4D97-AF65-F5344CB8AC3E}">
        <p14:creationId xmlns:p14="http://schemas.microsoft.com/office/powerpoint/2010/main" val="3334245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A682AF-8B36-C5CF-A500-5E16DF26A9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885584-BEDB-9833-3E3C-EADA47819270}"/>
              </a:ext>
            </a:extLst>
          </p:cNvPr>
          <p:cNvSpPr>
            <a:spLocks noGrp="1"/>
          </p:cNvSpPr>
          <p:nvPr>
            <p:ph type="title"/>
          </p:nvPr>
        </p:nvSpPr>
        <p:spPr/>
        <p:txBody>
          <a:bodyPr>
            <a:normAutofit fontScale="90000"/>
          </a:bodyPr>
          <a:lstStyle/>
          <a:p>
            <a:r>
              <a:rPr lang="en-US" dirty="0"/>
              <a:t>Anomaly Detection in SVD</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E97D4CAF-1827-49C3-6594-13ABAB0685E5}"/>
                  </a:ext>
                </a:extLst>
              </p:cNvPr>
              <p:cNvSpPr>
                <a:spLocks noGrp="1"/>
              </p:cNvSpPr>
              <p:nvPr>
                <p:ph type="body" idx="1"/>
              </p:nvPr>
            </p:nvSpPr>
            <p:spPr/>
            <p:txBody>
              <a:bodyPr/>
              <a:lstStyle/>
              <a:p>
                <a:pPr marL="114300" indent="0">
                  <a:buNone/>
                </a:pPr>
                <a:r>
                  <a:rPr lang="en-US" dirty="0"/>
                  <a:t>Let </a:t>
                </a:r>
                <a14:m>
                  <m:oMath xmlns:m="http://schemas.openxmlformats.org/officeDocument/2006/math">
                    <m:r>
                      <a:rPr lang="en-US" b="0" i="1" smtClean="0">
                        <a:latin typeface="Cambria Math" panose="02040503050406030204" pitchFamily="18" charset="0"/>
                      </a:rPr>
                      <m:t>𝑂</m:t>
                    </m:r>
                    <m:r>
                      <a:rPr lang="en-US" b="0" i="1" smtClean="0">
                        <a:latin typeface="Cambria Math" panose="02040503050406030204" pitchFamily="18" charset="0"/>
                      </a:rPr>
                      <m:t>=</m:t>
                    </m:r>
                    <m:r>
                      <a:rPr lang="en-US" b="0" i="1" smtClean="0">
                        <a:latin typeface="Cambria Math" panose="02040503050406030204" pitchFamily="18" charset="0"/>
                      </a:rPr>
                      <m:t>𝐴</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d>
                          <m:dPr>
                            <m:ctrlPr>
                              <a:rPr lang="en-US" b="0" i="1" smtClean="0">
                                <a:latin typeface="Cambria Math" panose="02040503050406030204" pitchFamily="18" charset="0"/>
                              </a:rPr>
                            </m:ctrlPr>
                          </m:dPr>
                          <m:e>
                            <m:r>
                              <a:rPr lang="en-US" b="0" i="1" smtClean="0">
                                <a:latin typeface="Cambria Math" panose="02040503050406030204" pitchFamily="18" charset="0"/>
                              </a:rPr>
                              <m:t>𝑘</m:t>
                            </m:r>
                          </m:e>
                        </m:d>
                      </m:sup>
                    </m:sSup>
                  </m:oMath>
                </a14:m>
                <a:r>
                  <a:rPr lang="en-US" b="0" dirty="0"/>
                  <a:t> where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d>
                          <m:dPr>
                            <m:ctrlPr>
                              <a:rPr lang="en-US" b="0" i="1" smtClean="0">
                                <a:latin typeface="Cambria Math" panose="02040503050406030204" pitchFamily="18" charset="0"/>
                              </a:rPr>
                            </m:ctrlPr>
                          </m:dPr>
                          <m:e>
                            <m:r>
                              <a:rPr lang="en-US" b="0" i="1" smtClean="0">
                                <a:latin typeface="Cambria Math" panose="02040503050406030204" pitchFamily="18" charset="0"/>
                              </a:rPr>
                              <m:t>𝑘</m:t>
                            </m:r>
                          </m:e>
                        </m:d>
                      </m:sup>
                    </m:sSup>
                  </m:oMath>
                </a14:m>
                <a:r>
                  <a:rPr lang="en-US" b="0" dirty="0"/>
                  <a:t> is the rank-k approximation of </a:t>
                </a:r>
                <a14:m>
                  <m:oMath xmlns:m="http://schemas.openxmlformats.org/officeDocument/2006/math">
                    <m:r>
                      <a:rPr lang="en-US" b="0" i="1" smtClean="0">
                        <a:latin typeface="Cambria Math" panose="02040503050406030204" pitchFamily="18" charset="0"/>
                      </a:rPr>
                      <m:t>𝐴</m:t>
                    </m:r>
                  </m:oMath>
                </a14:m>
                <a:endParaRPr lang="en-US" b="0" dirty="0"/>
              </a:p>
              <a:p>
                <a:pPr marL="114300" indent="0">
                  <a:buNone/>
                </a:pPr>
                <a:endParaRPr lang="en-US" dirty="0"/>
              </a:p>
              <a:p>
                <a:pPr marL="114300" indent="0">
                  <a:buNone/>
                </a:pPr>
                <a:r>
                  <a:rPr lang="en-US" dirty="0"/>
                  <a:t>The largest rows of </a:t>
                </a:r>
                <a14:m>
                  <m:oMath xmlns:m="http://schemas.openxmlformats.org/officeDocument/2006/math">
                    <m:r>
                      <a:rPr lang="en-US" i="1">
                        <a:latin typeface="Cambria Math" panose="02040503050406030204" pitchFamily="18" charset="0"/>
                      </a:rPr>
                      <m:t>𝑂</m:t>
                    </m:r>
                  </m:oMath>
                </a14:m>
                <a:r>
                  <a:rPr lang="en-US" dirty="0"/>
                  <a:t> could be considered anomalies in our dataset </a:t>
                </a:r>
              </a:p>
              <a:p>
                <a:pPr marL="114300" indent="0">
                  <a:buNone/>
                </a:pPr>
                <a:endParaRPr lang="en-US" dirty="0"/>
              </a:p>
              <a:p>
                <a:pPr marL="114300" indent="0">
                  <a:buNone/>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𝑂</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sub>
                      </m:sSub>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𝐴</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sub>
                        <m:sup>
                          <m:d>
                            <m:dPr>
                              <m:ctrlPr>
                                <a:rPr lang="en-US" b="0" i="1" smtClean="0">
                                  <a:latin typeface="Cambria Math" panose="02040503050406030204" pitchFamily="18" charset="0"/>
                                </a:rPr>
                              </m:ctrlPr>
                            </m:dPr>
                            <m:e>
                              <m:r>
                                <a:rPr lang="en-US" b="0" i="1" smtClean="0">
                                  <a:latin typeface="Cambria Math" panose="02040503050406030204" pitchFamily="18" charset="0"/>
                                </a:rPr>
                                <m:t>𝑘</m:t>
                              </m:r>
                            </m:e>
                          </m:d>
                        </m:sup>
                      </m:sSubSup>
                    </m:oMath>
                  </m:oMathPara>
                </a14:m>
                <a:endParaRPr lang="en-US" b="0" dirty="0"/>
              </a:p>
              <a:p>
                <a:pPr marL="114300" indent="0">
                  <a:buNone/>
                </a:pPr>
                <a:r>
                  <a:rPr lang="en-US" b="0" dirty="0"/>
                  <a:t> If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𝑂</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sub>
                    </m:sSub>
                  </m:oMath>
                </a14:m>
                <a:r>
                  <a:rPr lang="en-US" b="0" dirty="0"/>
                  <a:t> small </a:t>
                </a:r>
                <a:r>
                  <a:rPr lang="en-US" b="0" dirty="0">
                    <a:sym typeface="Wingdings" pitchFamily="2" charset="2"/>
                  </a:rPr>
                  <a:t> entry is well explained by our approximation</a:t>
                </a:r>
              </a:p>
              <a:p>
                <a:pPr marL="114300" indent="0">
                  <a:buNone/>
                </a:pPr>
                <a:r>
                  <a:rPr lang="en-US" dirty="0"/>
                  <a:t> If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𝑂</m:t>
                        </m:r>
                      </m:e>
                      <m:sub>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𝑗</m:t>
                        </m:r>
                      </m:sub>
                    </m:sSub>
                  </m:oMath>
                </a14:m>
                <a:r>
                  <a:rPr lang="en-US" dirty="0"/>
                  <a:t> large </a:t>
                </a:r>
                <a:r>
                  <a:rPr lang="en-US" dirty="0">
                    <a:sym typeface="Wingdings" pitchFamily="2" charset="2"/>
                  </a:rPr>
                  <a:t> entry is unusual relative to the dominant structure expressed by our approximation</a:t>
                </a:r>
              </a:p>
              <a:p>
                <a:pPr marL="114300" indent="0">
                  <a:buNone/>
                </a:pPr>
                <a:endParaRPr lang="en-US" b="0" dirty="0">
                  <a:sym typeface="Wingdings" pitchFamily="2" charset="2"/>
                </a:endParaRPr>
              </a:p>
              <a:p>
                <a:pPr marL="114300" indent="0">
                  <a:buNone/>
                </a:pPr>
                <a:endParaRPr lang="en-US" b="0" dirty="0"/>
              </a:p>
              <a:p>
                <a:pPr marL="114300" indent="0">
                  <a:buNone/>
                </a:pPr>
                <a:endParaRPr lang="en-US" dirty="0"/>
              </a:p>
              <a:p>
                <a:pPr marL="114300" indent="0">
                  <a:buNone/>
                </a:pPr>
                <a:endParaRPr lang="en-US" dirty="0"/>
              </a:p>
              <a:p>
                <a:pPr marL="114300" indent="0">
                  <a:buNone/>
                </a:pPr>
                <a:endParaRPr lang="en-US" b="0" dirty="0"/>
              </a:p>
              <a:p>
                <a:pPr marL="114300" indent="0">
                  <a:buNone/>
                </a:pPr>
                <a:endParaRPr lang="en-US" b="0" dirty="0"/>
              </a:p>
              <a:p>
                <a:pPr marL="114300" indent="0">
                  <a:buNone/>
                </a:pPr>
                <a:endParaRPr lang="en-US" b="0" dirty="0"/>
              </a:p>
              <a:p>
                <a:pPr marL="114300" indent="0">
                  <a:buNone/>
                </a:pPr>
                <a:endParaRPr lang="en-US" b="0" dirty="0"/>
              </a:p>
              <a:p>
                <a:pPr marL="114300" indent="0">
                  <a:buNone/>
                </a:pPr>
                <a:endParaRPr lang="en-US" b="0" dirty="0"/>
              </a:p>
              <a:p>
                <a:pPr marL="114300" indent="0">
                  <a:buNone/>
                </a:pPr>
                <a:endParaRPr lang="en-US" dirty="0"/>
              </a:p>
            </p:txBody>
          </p:sp>
        </mc:Choice>
        <mc:Fallback xmlns="">
          <p:sp>
            <p:nvSpPr>
              <p:cNvPr id="3" name="Text Placeholder 2">
                <a:extLst>
                  <a:ext uri="{FF2B5EF4-FFF2-40B4-BE49-F238E27FC236}">
                    <a16:creationId xmlns:a16="http://schemas.microsoft.com/office/drawing/2014/main" id="{E97D4CAF-1827-49C3-6594-13ABAB0685E5}"/>
                  </a:ext>
                </a:extLst>
              </p:cNvPr>
              <p:cNvSpPr>
                <a:spLocks noGrp="1" noRot="1" noChangeAspect="1" noMove="1" noResize="1" noEditPoints="1" noAdjustHandles="1" noChangeArrowheads="1" noChangeShapeType="1" noTextEdit="1"/>
              </p:cNvSpPr>
              <p:nvPr>
                <p:ph type="body" idx="1"/>
              </p:nvPr>
            </p:nvSpPr>
            <p:spPr>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8332511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BA5AD8-19F1-8225-AE47-5090AF31B5FA}"/>
              </a:ext>
            </a:extLst>
          </p:cNvPr>
          <p:cNvSpPr>
            <a:spLocks noGrp="1"/>
          </p:cNvSpPr>
          <p:nvPr>
            <p:ph type="title"/>
          </p:nvPr>
        </p:nvSpPr>
        <p:spPr>
          <a:xfrm>
            <a:off x="311700" y="2218050"/>
            <a:ext cx="8520600" cy="707400"/>
          </a:xfrm>
        </p:spPr>
        <p:txBody>
          <a:bodyPr>
            <a:normAutofit fontScale="90000"/>
          </a:bodyPr>
          <a:lstStyle/>
          <a:p>
            <a:pPr algn="ctr"/>
            <a:r>
              <a:rPr lang="en-US" dirty="0"/>
              <a:t>Latent Semantic Analysis (LSA)</a:t>
            </a:r>
          </a:p>
        </p:txBody>
      </p:sp>
    </p:spTree>
    <p:extLst>
      <p:ext uri="{BB962C8B-B14F-4D97-AF65-F5344CB8AC3E}">
        <p14:creationId xmlns:p14="http://schemas.microsoft.com/office/powerpoint/2010/main" val="42183538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141114-FCA0-BB0F-E493-9536DD9067EF}"/>
              </a:ext>
            </a:extLst>
          </p:cNvPr>
          <p:cNvSpPr>
            <a:spLocks noGrp="1"/>
          </p:cNvSpPr>
          <p:nvPr>
            <p:ph type="title"/>
          </p:nvPr>
        </p:nvSpPr>
        <p:spPr/>
        <p:txBody>
          <a:bodyPr>
            <a:normAutofit fontScale="90000"/>
          </a:bodyPr>
          <a:lstStyle/>
          <a:p>
            <a:r>
              <a:rPr lang="en-US" dirty="0"/>
              <a:t>Recall: LSA</a:t>
            </a:r>
          </a:p>
        </p:txBody>
      </p:sp>
      <p:sp>
        <p:nvSpPr>
          <p:cNvPr id="3" name="Text Placeholder 2">
            <a:extLst>
              <a:ext uri="{FF2B5EF4-FFF2-40B4-BE49-F238E27FC236}">
                <a16:creationId xmlns:a16="http://schemas.microsoft.com/office/drawing/2014/main" id="{567ABDEE-7FF7-4AE6-4835-44A9A9A5A675}"/>
              </a:ext>
            </a:extLst>
          </p:cNvPr>
          <p:cNvSpPr>
            <a:spLocks noGrp="1"/>
          </p:cNvSpPr>
          <p:nvPr>
            <p:ph type="body" idx="1"/>
          </p:nvPr>
        </p:nvSpPr>
        <p:spPr/>
        <p:txBody>
          <a:bodyPr/>
          <a:lstStyle/>
          <a:p>
            <a:r>
              <a:rPr lang="en-US" dirty="0"/>
              <a:t>The goal of LSA is to uncover hidden relationships between words and documents. </a:t>
            </a:r>
          </a:p>
          <a:p>
            <a:pPr lvl="1"/>
            <a:r>
              <a:rPr lang="en-US" dirty="0"/>
              <a:t>i.e., group together words that are associated with a similar topic</a:t>
            </a:r>
          </a:p>
          <a:p>
            <a:r>
              <a:rPr lang="en-US" dirty="0"/>
              <a:t>Words that never appear together </a:t>
            </a:r>
            <a:r>
              <a:rPr lang="en-US" i="1" dirty="0"/>
              <a:t>can </a:t>
            </a:r>
            <a:r>
              <a:rPr lang="en-US" dirty="0"/>
              <a:t>end up close in reduced space</a:t>
            </a:r>
          </a:p>
          <a:p>
            <a:r>
              <a:rPr lang="en-US" dirty="0"/>
              <a:t>LSA is linear, deterministic, fast, and less expensive than using linear models</a:t>
            </a:r>
          </a:p>
        </p:txBody>
      </p:sp>
    </p:spTree>
    <p:extLst>
      <p:ext uri="{BB962C8B-B14F-4D97-AF65-F5344CB8AC3E}">
        <p14:creationId xmlns:p14="http://schemas.microsoft.com/office/powerpoint/2010/main" val="142014250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94A0AF-726D-ABD6-3462-ADE4AA44A532}"/>
              </a:ext>
            </a:extLst>
          </p:cNvPr>
          <p:cNvSpPr>
            <a:spLocks noGrp="1"/>
          </p:cNvSpPr>
          <p:nvPr>
            <p:ph type="title"/>
          </p:nvPr>
        </p:nvSpPr>
        <p:spPr/>
        <p:txBody>
          <a:bodyPr>
            <a:normAutofit fontScale="90000"/>
          </a:bodyPr>
          <a:lstStyle/>
          <a:p>
            <a:r>
              <a:rPr lang="en-US" dirty="0"/>
              <a:t>Recall: Dataset</a:t>
            </a:r>
          </a:p>
        </p:txBody>
      </p:sp>
      <p:graphicFrame>
        <p:nvGraphicFramePr>
          <p:cNvPr id="4" name="Table 3">
            <a:extLst>
              <a:ext uri="{FF2B5EF4-FFF2-40B4-BE49-F238E27FC236}">
                <a16:creationId xmlns:a16="http://schemas.microsoft.com/office/drawing/2014/main" id="{6397DAA3-8560-A31E-5ACF-C02802A432C2}"/>
              </a:ext>
            </a:extLst>
          </p:cNvPr>
          <p:cNvGraphicFramePr>
            <a:graphicFrameLocks noGrp="1"/>
          </p:cNvGraphicFramePr>
          <p:nvPr>
            <p:extLst>
              <p:ext uri="{D42A27DB-BD31-4B8C-83A1-F6EECF244321}">
                <p14:modId xmlns:p14="http://schemas.microsoft.com/office/powerpoint/2010/main" val="1534819439"/>
              </p:ext>
            </p:extLst>
          </p:nvPr>
        </p:nvGraphicFramePr>
        <p:xfrm>
          <a:off x="854195" y="1302385"/>
          <a:ext cx="7241062" cy="3230880"/>
        </p:xfrm>
        <a:graphic>
          <a:graphicData uri="http://schemas.openxmlformats.org/drawingml/2006/table">
            <a:tbl>
              <a:tblPr/>
              <a:tblGrid>
                <a:gridCol w="1323975">
                  <a:extLst>
                    <a:ext uri="{9D8B030D-6E8A-4147-A177-3AD203B41FA5}">
                      <a16:colId xmlns:a16="http://schemas.microsoft.com/office/drawing/2014/main" val="1135465833"/>
                    </a:ext>
                  </a:extLst>
                </a:gridCol>
                <a:gridCol w="1095375">
                  <a:extLst>
                    <a:ext uri="{9D8B030D-6E8A-4147-A177-3AD203B41FA5}">
                      <a16:colId xmlns:a16="http://schemas.microsoft.com/office/drawing/2014/main" val="1920302602"/>
                    </a:ext>
                  </a:extLst>
                </a:gridCol>
                <a:gridCol w="1308100">
                  <a:extLst>
                    <a:ext uri="{9D8B030D-6E8A-4147-A177-3AD203B41FA5}">
                      <a16:colId xmlns:a16="http://schemas.microsoft.com/office/drawing/2014/main" val="454054158"/>
                    </a:ext>
                  </a:extLst>
                </a:gridCol>
                <a:gridCol w="1094262">
                  <a:extLst>
                    <a:ext uri="{9D8B030D-6E8A-4147-A177-3AD203B41FA5}">
                      <a16:colId xmlns:a16="http://schemas.microsoft.com/office/drawing/2014/main" val="2386738274"/>
                    </a:ext>
                  </a:extLst>
                </a:gridCol>
                <a:gridCol w="1209675">
                  <a:extLst>
                    <a:ext uri="{9D8B030D-6E8A-4147-A177-3AD203B41FA5}">
                      <a16:colId xmlns:a16="http://schemas.microsoft.com/office/drawing/2014/main" val="2601106830"/>
                    </a:ext>
                  </a:extLst>
                </a:gridCol>
                <a:gridCol w="1209675">
                  <a:extLst>
                    <a:ext uri="{9D8B030D-6E8A-4147-A177-3AD203B41FA5}">
                      <a16:colId xmlns:a16="http://schemas.microsoft.com/office/drawing/2014/main" val="2112890552"/>
                    </a:ext>
                  </a:extLst>
                </a:gridCol>
              </a:tblGrid>
              <a:tr h="381000">
                <a:tc>
                  <a:txBody>
                    <a:bodyPr/>
                    <a:lstStyle/>
                    <a:p>
                      <a:pPr fontAlgn="t">
                        <a:buNone/>
                      </a:pPr>
                      <a:r>
                        <a:rPr lang="en-US">
                          <a:solidFill>
                            <a:schemeClr val="bg2"/>
                          </a:solidFill>
                          <a:effectLst/>
                          <a:latin typeface="Open Sans" panose="020B0606030504020204" pitchFamily="34" charset="0"/>
                          <a:ea typeface="Open Sans" panose="020B0606030504020204" pitchFamily="34" charset="0"/>
                          <a:cs typeface="Open Sans" panose="020B0606030504020204" pitchFamily="34" charset="0"/>
                        </a:rPr>
                        <a:t> </a:t>
                      </a:r>
                    </a:p>
                  </a:txBody>
                  <a:tcPr marL="95250" marR="95250" marT="95250" marB="95250">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1" i="0" u="none" strike="noStrike">
                          <a:solidFill>
                            <a:schemeClr val="bg2"/>
                          </a:solidFill>
                          <a:effectLst/>
                          <a:latin typeface="Open Sans" panose="020B0606030504020204" pitchFamily="34" charset="0"/>
                          <a:ea typeface="Open Sans" panose="020B0606030504020204" pitchFamily="34" charset="0"/>
                          <a:cs typeface="Open Sans" panose="020B0606030504020204" pitchFamily="34" charset="0"/>
                        </a:rPr>
                        <a:t>data</a:t>
                      </a:r>
                      <a:endParaRPr lang="en-US">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1" i="0" u="none" strike="noStrike">
                          <a:solidFill>
                            <a:schemeClr val="bg2"/>
                          </a:solidFill>
                          <a:effectLst/>
                          <a:latin typeface="Open Sans" panose="020B0606030504020204" pitchFamily="34" charset="0"/>
                          <a:ea typeface="Open Sans" panose="020B0606030504020204" pitchFamily="34" charset="0"/>
                          <a:cs typeface="Open Sans" panose="020B0606030504020204" pitchFamily="34" charset="0"/>
                        </a:rPr>
                        <a:t>information</a:t>
                      </a:r>
                      <a:endParaRPr lang="en-US">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1" i="0" u="none" strike="noStrike" dirty="0">
                          <a:solidFill>
                            <a:schemeClr val="bg2"/>
                          </a:solidFill>
                          <a:effectLst/>
                          <a:latin typeface="Open Sans" panose="020B0606030504020204" pitchFamily="34" charset="0"/>
                          <a:ea typeface="Open Sans" panose="020B0606030504020204" pitchFamily="34" charset="0"/>
                          <a:cs typeface="Open Sans" panose="020B0606030504020204" pitchFamily="34" charset="0"/>
                        </a:rPr>
                        <a:t>retrieval</a:t>
                      </a:r>
                      <a:endParaRPr lang="en-US" dirty="0">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1" i="0" u="none" strike="noStrike">
                          <a:solidFill>
                            <a:schemeClr val="bg2"/>
                          </a:solidFill>
                          <a:effectLst/>
                          <a:latin typeface="Open Sans" panose="020B0606030504020204" pitchFamily="34" charset="0"/>
                          <a:ea typeface="Open Sans" panose="020B0606030504020204" pitchFamily="34" charset="0"/>
                          <a:cs typeface="Open Sans" panose="020B0606030504020204" pitchFamily="34" charset="0"/>
                        </a:rPr>
                        <a:t>brain</a:t>
                      </a:r>
                      <a:endParaRPr lang="en-US">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1" i="0" u="none" strike="noStrike">
                          <a:solidFill>
                            <a:schemeClr val="bg2"/>
                          </a:solidFill>
                          <a:effectLst/>
                          <a:latin typeface="Open Sans" panose="020B0606030504020204" pitchFamily="34" charset="0"/>
                          <a:ea typeface="Open Sans" panose="020B0606030504020204" pitchFamily="34" charset="0"/>
                          <a:cs typeface="Open Sans" panose="020B0606030504020204" pitchFamily="34" charset="0"/>
                        </a:rPr>
                        <a:t>lung</a:t>
                      </a:r>
                      <a:endParaRPr lang="en-US">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1184945465"/>
                  </a:ext>
                </a:extLst>
              </a:tr>
              <a:tr h="381000">
                <a:tc>
                  <a:txBody>
                    <a:bodyPr/>
                    <a:lstStyle/>
                    <a:p>
                      <a:pPr rtl="0" fontAlgn="t">
                        <a:buNone/>
                      </a:pPr>
                      <a:r>
                        <a:rPr lang="en-US" sz="1400" b="1" i="0" u="none" strike="noStrike">
                          <a:solidFill>
                            <a:schemeClr val="bg2"/>
                          </a:solidFill>
                          <a:effectLst/>
                          <a:latin typeface="Open Sans" panose="020B0606030504020204" pitchFamily="34" charset="0"/>
                          <a:ea typeface="Open Sans" panose="020B0606030504020204" pitchFamily="34" charset="0"/>
                          <a:cs typeface="Open Sans" panose="020B0606030504020204" pitchFamily="34" charset="0"/>
                        </a:rPr>
                        <a:t>CS-paper-1</a:t>
                      </a:r>
                      <a:endParaRPr lang="en-US">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a:txBody>
                  <a:tcPr marL="95250" marR="95250" marT="95250" marB="95250">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chemeClr val="bg2"/>
                          </a:solidFill>
                          <a:effectLst/>
                          <a:latin typeface="Open Sans" panose="020B0606030504020204" pitchFamily="34" charset="0"/>
                          <a:ea typeface="Open Sans" panose="020B0606030504020204" pitchFamily="34" charset="0"/>
                          <a:cs typeface="Open Sans" panose="020B0606030504020204" pitchFamily="34" charset="0"/>
                        </a:rPr>
                        <a:t>1</a:t>
                      </a:r>
                      <a:endParaRPr lang="en-US">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chemeClr val="bg2"/>
                          </a:solidFill>
                          <a:effectLst/>
                          <a:latin typeface="Open Sans" panose="020B0606030504020204" pitchFamily="34" charset="0"/>
                          <a:ea typeface="Open Sans" panose="020B0606030504020204" pitchFamily="34" charset="0"/>
                          <a:cs typeface="Open Sans" panose="020B0606030504020204" pitchFamily="34" charset="0"/>
                        </a:rPr>
                        <a:t>1</a:t>
                      </a:r>
                      <a:endParaRPr lang="en-US">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chemeClr val="bg2"/>
                          </a:solidFill>
                          <a:effectLst/>
                          <a:latin typeface="Open Sans" panose="020B0606030504020204" pitchFamily="34" charset="0"/>
                          <a:ea typeface="Open Sans" panose="020B0606030504020204" pitchFamily="34" charset="0"/>
                          <a:cs typeface="Open Sans" panose="020B0606030504020204" pitchFamily="34" charset="0"/>
                        </a:rPr>
                        <a:t>1</a:t>
                      </a:r>
                      <a:endParaRPr lang="en-US">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chemeClr val="bg2"/>
                          </a:solidFill>
                          <a:effectLst/>
                          <a:latin typeface="Open Sans" panose="020B0606030504020204" pitchFamily="34" charset="0"/>
                          <a:ea typeface="Open Sans" panose="020B0606030504020204" pitchFamily="34" charset="0"/>
                          <a:cs typeface="Open Sans" panose="020B0606030504020204" pitchFamily="34" charset="0"/>
                        </a:rPr>
                        <a:t>0</a:t>
                      </a:r>
                      <a:endParaRPr lang="en-US">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chemeClr val="bg2"/>
                          </a:solidFill>
                          <a:effectLst/>
                          <a:latin typeface="Open Sans" panose="020B0606030504020204" pitchFamily="34" charset="0"/>
                          <a:ea typeface="Open Sans" panose="020B0606030504020204" pitchFamily="34" charset="0"/>
                          <a:cs typeface="Open Sans" panose="020B0606030504020204" pitchFamily="34" charset="0"/>
                        </a:rPr>
                        <a:t>0</a:t>
                      </a:r>
                      <a:endParaRPr lang="en-US">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3583848479"/>
                  </a:ext>
                </a:extLst>
              </a:tr>
              <a:tr h="381000">
                <a:tc>
                  <a:txBody>
                    <a:bodyPr/>
                    <a:lstStyle/>
                    <a:p>
                      <a:pPr rtl="0" fontAlgn="t">
                        <a:buNone/>
                      </a:pPr>
                      <a:r>
                        <a:rPr lang="en-US" sz="1400" b="1" i="0" u="none" strike="noStrike">
                          <a:solidFill>
                            <a:schemeClr val="bg2"/>
                          </a:solidFill>
                          <a:effectLst/>
                          <a:latin typeface="Open Sans" panose="020B0606030504020204" pitchFamily="34" charset="0"/>
                          <a:ea typeface="Open Sans" panose="020B0606030504020204" pitchFamily="34" charset="0"/>
                          <a:cs typeface="Open Sans" panose="020B0606030504020204" pitchFamily="34" charset="0"/>
                        </a:rPr>
                        <a:t>CS-paper-2</a:t>
                      </a:r>
                      <a:endParaRPr lang="en-US">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a:txBody>
                  <a:tcPr marL="95250" marR="95250" marT="95250" marB="95250">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chemeClr val="bg2"/>
                          </a:solidFill>
                          <a:effectLst/>
                          <a:latin typeface="Open Sans" panose="020B0606030504020204" pitchFamily="34" charset="0"/>
                          <a:ea typeface="Open Sans" panose="020B0606030504020204" pitchFamily="34" charset="0"/>
                          <a:cs typeface="Open Sans" panose="020B0606030504020204" pitchFamily="34" charset="0"/>
                        </a:rPr>
                        <a:t>2</a:t>
                      </a:r>
                      <a:endParaRPr lang="en-US">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chemeClr val="bg2"/>
                          </a:solidFill>
                          <a:effectLst/>
                          <a:latin typeface="Open Sans" panose="020B0606030504020204" pitchFamily="34" charset="0"/>
                          <a:ea typeface="Open Sans" panose="020B0606030504020204" pitchFamily="34" charset="0"/>
                          <a:cs typeface="Open Sans" panose="020B0606030504020204" pitchFamily="34" charset="0"/>
                        </a:rPr>
                        <a:t>2</a:t>
                      </a:r>
                      <a:endParaRPr lang="en-US">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chemeClr val="bg2"/>
                          </a:solidFill>
                          <a:effectLst/>
                          <a:latin typeface="Open Sans" panose="020B0606030504020204" pitchFamily="34" charset="0"/>
                          <a:ea typeface="Open Sans" panose="020B0606030504020204" pitchFamily="34" charset="0"/>
                          <a:cs typeface="Open Sans" panose="020B0606030504020204" pitchFamily="34" charset="0"/>
                        </a:rPr>
                        <a:t>2</a:t>
                      </a:r>
                      <a:endParaRPr lang="en-US">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chemeClr val="bg2"/>
                          </a:solidFill>
                          <a:effectLst/>
                          <a:latin typeface="Open Sans" panose="020B0606030504020204" pitchFamily="34" charset="0"/>
                          <a:ea typeface="Open Sans" panose="020B0606030504020204" pitchFamily="34" charset="0"/>
                          <a:cs typeface="Open Sans" panose="020B0606030504020204" pitchFamily="34" charset="0"/>
                        </a:rPr>
                        <a:t>0</a:t>
                      </a:r>
                      <a:endParaRPr lang="en-US">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chemeClr val="bg2"/>
                          </a:solidFill>
                          <a:effectLst/>
                          <a:latin typeface="Open Sans" panose="020B0606030504020204" pitchFamily="34" charset="0"/>
                          <a:ea typeface="Open Sans" panose="020B0606030504020204" pitchFamily="34" charset="0"/>
                          <a:cs typeface="Open Sans" panose="020B0606030504020204" pitchFamily="34" charset="0"/>
                        </a:rPr>
                        <a:t>0</a:t>
                      </a:r>
                      <a:endParaRPr lang="en-US">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496969309"/>
                  </a:ext>
                </a:extLst>
              </a:tr>
              <a:tr h="381000">
                <a:tc>
                  <a:txBody>
                    <a:bodyPr/>
                    <a:lstStyle/>
                    <a:p>
                      <a:pPr rtl="0" fontAlgn="t">
                        <a:buNone/>
                      </a:pPr>
                      <a:r>
                        <a:rPr lang="en-US" sz="1400" b="1" i="0" u="none" strike="noStrike">
                          <a:solidFill>
                            <a:schemeClr val="bg2"/>
                          </a:solidFill>
                          <a:effectLst/>
                          <a:latin typeface="Open Sans" panose="020B0606030504020204" pitchFamily="34" charset="0"/>
                          <a:ea typeface="Open Sans" panose="020B0606030504020204" pitchFamily="34" charset="0"/>
                          <a:cs typeface="Open Sans" panose="020B0606030504020204" pitchFamily="34" charset="0"/>
                        </a:rPr>
                        <a:t>CS-paper-3</a:t>
                      </a:r>
                      <a:endParaRPr lang="en-US">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a:txBody>
                  <a:tcPr marL="95250" marR="95250" marT="95250" marB="95250">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chemeClr val="bg2"/>
                          </a:solidFill>
                          <a:effectLst/>
                          <a:latin typeface="Open Sans" panose="020B0606030504020204" pitchFamily="34" charset="0"/>
                          <a:ea typeface="Open Sans" panose="020B0606030504020204" pitchFamily="34" charset="0"/>
                          <a:cs typeface="Open Sans" panose="020B0606030504020204" pitchFamily="34" charset="0"/>
                        </a:rPr>
                        <a:t>1</a:t>
                      </a:r>
                      <a:endParaRPr lang="en-US">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chemeClr val="bg2"/>
                          </a:solidFill>
                          <a:effectLst/>
                          <a:latin typeface="Open Sans" panose="020B0606030504020204" pitchFamily="34" charset="0"/>
                          <a:ea typeface="Open Sans" panose="020B0606030504020204" pitchFamily="34" charset="0"/>
                          <a:cs typeface="Open Sans" panose="020B0606030504020204" pitchFamily="34" charset="0"/>
                        </a:rPr>
                        <a:t>1</a:t>
                      </a:r>
                      <a:endParaRPr lang="en-US">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chemeClr val="bg2"/>
                          </a:solidFill>
                          <a:effectLst/>
                          <a:latin typeface="Open Sans" panose="020B0606030504020204" pitchFamily="34" charset="0"/>
                          <a:ea typeface="Open Sans" panose="020B0606030504020204" pitchFamily="34" charset="0"/>
                          <a:cs typeface="Open Sans" panose="020B0606030504020204" pitchFamily="34" charset="0"/>
                        </a:rPr>
                        <a:t>1</a:t>
                      </a:r>
                      <a:endParaRPr lang="en-US">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chemeClr val="bg2"/>
                          </a:solidFill>
                          <a:effectLst/>
                          <a:latin typeface="Open Sans" panose="020B0606030504020204" pitchFamily="34" charset="0"/>
                          <a:ea typeface="Open Sans" panose="020B0606030504020204" pitchFamily="34" charset="0"/>
                          <a:cs typeface="Open Sans" panose="020B0606030504020204" pitchFamily="34" charset="0"/>
                        </a:rPr>
                        <a:t>0</a:t>
                      </a:r>
                      <a:endParaRPr lang="en-US">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chemeClr val="bg2"/>
                          </a:solidFill>
                          <a:effectLst/>
                          <a:latin typeface="Open Sans" panose="020B0606030504020204" pitchFamily="34" charset="0"/>
                          <a:ea typeface="Open Sans" panose="020B0606030504020204" pitchFamily="34" charset="0"/>
                          <a:cs typeface="Open Sans" panose="020B0606030504020204" pitchFamily="34" charset="0"/>
                        </a:rPr>
                        <a:t>0</a:t>
                      </a:r>
                      <a:endParaRPr lang="en-US">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526569222"/>
                  </a:ext>
                </a:extLst>
              </a:tr>
              <a:tr h="381000">
                <a:tc>
                  <a:txBody>
                    <a:bodyPr/>
                    <a:lstStyle/>
                    <a:p>
                      <a:pPr rtl="0" fontAlgn="t">
                        <a:buNone/>
                      </a:pPr>
                      <a:r>
                        <a:rPr lang="en-US" sz="1400" b="1" i="0" u="none" strike="noStrike">
                          <a:solidFill>
                            <a:schemeClr val="bg2"/>
                          </a:solidFill>
                          <a:effectLst/>
                          <a:latin typeface="Open Sans" panose="020B0606030504020204" pitchFamily="34" charset="0"/>
                          <a:ea typeface="Open Sans" panose="020B0606030504020204" pitchFamily="34" charset="0"/>
                          <a:cs typeface="Open Sans" panose="020B0606030504020204" pitchFamily="34" charset="0"/>
                        </a:rPr>
                        <a:t>CS-paper-4</a:t>
                      </a:r>
                      <a:endParaRPr lang="en-US">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a:txBody>
                  <a:tcPr marL="95250" marR="95250" marT="95250" marB="95250">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chemeClr val="bg2"/>
                          </a:solidFill>
                          <a:effectLst/>
                          <a:latin typeface="Open Sans" panose="020B0606030504020204" pitchFamily="34" charset="0"/>
                          <a:ea typeface="Open Sans" panose="020B0606030504020204" pitchFamily="34" charset="0"/>
                          <a:cs typeface="Open Sans" panose="020B0606030504020204" pitchFamily="34" charset="0"/>
                        </a:rPr>
                        <a:t>5</a:t>
                      </a:r>
                      <a:endParaRPr lang="en-US">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chemeClr val="bg2"/>
                          </a:solidFill>
                          <a:effectLst/>
                          <a:latin typeface="Open Sans" panose="020B0606030504020204" pitchFamily="34" charset="0"/>
                          <a:ea typeface="Open Sans" panose="020B0606030504020204" pitchFamily="34" charset="0"/>
                          <a:cs typeface="Open Sans" panose="020B0606030504020204" pitchFamily="34" charset="0"/>
                        </a:rPr>
                        <a:t>5</a:t>
                      </a:r>
                      <a:endParaRPr lang="en-US">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chemeClr val="bg2"/>
                          </a:solidFill>
                          <a:effectLst/>
                          <a:latin typeface="Open Sans" panose="020B0606030504020204" pitchFamily="34" charset="0"/>
                          <a:ea typeface="Open Sans" panose="020B0606030504020204" pitchFamily="34" charset="0"/>
                          <a:cs typeface="Open Sans" panose="020B0606030504020204" pitchFamily="34" charset="0"/>
                        </a:rPr>
                        <a:t>5</a:t>
                      </a:r>
                      <a:endParaRPr lang="en-US">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chemeClr val="bg2"/>
                          </a:solidFill>
                          <a:effectLst/>
                          <a:latin typeface="Open Sans" panose="020B0606030504020204" pitchFamily="34" charset="0"/>
                          <a:ea typeface="Open Sans" panose="020B0606030504020204" pitchFamily="34" charset="0"/>
                          <a:cs typeface="Open Sans" panose="020B0606030504020204" pitchFamily="34" charset="0"/>
                        </a:rPr>
                        <a:t>0</a:t>
                      </a:r>
                      <a:endParaRPr lang="en-US">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chemeClr val="bg2"/>
                          </a:solidFill>
                          <a:effectLst/>
                          <a:latin typeface="Open Sans" panose="020B0606030504020204" pitchFamily="34" charset="0"/>
                          <a:ea typeface="Open Sans" panose="020B0606030504020204" pitchFamily="34" charset="0"/>
                          <a:cs typeface="Open Sans" panose="020B0606030504020204" pitchFamily="34" charset="0"/>
                        </a:rPr>
                        <a:t>0</a:t>
                      </a:r>
                      <a:endParaRPr lang="en-US">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891846752"/>
                  </a:ext>
                </a:extLst>
              </a:tr>
              <a:tr h="381000">
                <a:tc>
                  <a:txBody>
                    <a:bodyPr/>
                    <a:lstStyle/>
                    <a:p>
                      <a:pPr rtl="0" fontAlgn="t">
                        <a:buNone/>
                      </a:pPr>
                      <a:r>
                        <a:rPr lang="en-US" sz="1400" b="1" i="0" u="none" strike="noStrike">
                          <a:solidFill>
                            <a:schemeClr val="bg2"/>
                          </a:solidFill>
                          <a:effectLst/>
                          <a:latin typeface="Open Sans" panose="020B0606030504020204" pitchFamily="34" charset="0"/>
                          <a:ea typeface="Open Sans" panose="020B0606030504020204" pitchFamily="34" charset="0"/>
                          <a:cs typeface="Open Sans" panose="020B0606030504020204" pitchFamily="34" charset="0"/>
                        </a:rPr>
                        <a:t>Med-paper-1</a:t>
                      </a:r>
                      <a:endParaRPr lang="en-US">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a:txBody>
                  <a:tcPr marL="95250" marR="95250" marT="95250" marB="95250">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chemeClr val="bg2"/>
                          </a:solidFill>
                          <a:effectLst/>
                          <a:latin typeface="Open Sans" panose="020B0606030504020204" pitchFamily="34" charset="0"/>
                          <a:ea typeface="Open Sans" panose="020B0606030504020204" pitchFamily="34" charset="0"/>
                          <a:cs typeface="Open Sans" panose="020B0606030504020204" pitchFamily="34" charset="0"/>
                        </a:rPr>
                        <a:t>0</a:t>
                      </a:r>
                      <a:endParaRPr lang="en-US">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chemeClr val="bg2"/>
                          </a:solidFill>
                          <a:effectLst/>
                          <a:latin typeface="Open Sans" panose="020B0606030504020204" pitchFamily="34" charset="0"/>
                          <a:ea typeface="Open Sans" panose="020B0606030504020204" pitchFamily="34" charset="0"/>
                          <a:cs typeface="Open Sans" panose="020B0606030504020204" pitchFamily="34" charset="0"/>
                        </a:rPr>
                        <a:t>0</a:t>
                      </a:r>
                      <a:endParaRPr lang="en-US">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chemeClr val="bg2"/>
                          </a:solidFill>
                          <a:effectLst/>
                          <a:latin typeface="Open Sans" panose="020B0606030504020204" pitchFamily="34" charset="0"/>
                          <a:ea typeface="Open Sans" panose="020B0606030504020204" pitchFamily="34" charset="0"/>
                          <a:cs typeface="Open Sans" panose="020B0606030504020204" pitchFamily="34" charset="0"/>
                        </a:rPr>
                        <a:t>0</a:t>
                      </a:r>
                      <a:endParaRPr lang="en-US">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chemeClr val="bg2"/>
                          </a:solidFill>
                          <a:effectLst/>
                          <a:latin typeface="Open Sans" panose="020B0606030504020204" pitchFamily="34" charset="0"/>
                          <a:ea typeface="Open Sans" panose="020B0606030504020204" pitchFamily="34" charset="0"/>
                          <a:cs typeface="Open Sans" panose="020B0606030504020204" pitchFamily="34" charset="0"/>
                        </a:rPr>
                        <a:t>2</a:t>
                      </a:r>
                      <a:endParaRPr lang="en-US">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chemeClr val="bg2"/>
                          </a:solidFill>
                          <a:effectLst/>
                          <a:latin typeface="Open Sans" panose="020B0606030504020204" pitchFamily="34" charset="0"/>
                          <a:ea typeface="Open Sans" panose="020B0606030504020204" pitchFamily="34" charset="0"/>
                          <a:cs typeface="Open Sans" panose="020B0606030504020204" pitchFamily="34" charset="0"/>
                        </a:rPr>
                        <a:t>2</a:t>
                      </a:r>
                      <a:endParaRPr lang="en-US">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3125681328"/>
                  </a:ext>
                </a:extLst>
              </a:tr>
              <a:tr h="381000">
                <a:tc>
                  <a:txBody>
                    <a:bodyPr/>
                    <a:lstStyle/>
                    <a:p>
                      <a:pPr rtl="0" fontAlgn="t">
                        <a:buNone/>
                      </a:pPr>
                      <a:r>
                        <a:rPr lang="en-US" sz="1400" b="1" i="0" u="none" strike="noStrike">
                          <a:solidFill>
                            <a:schemeClr val="bg2"/>
                          </a:solidFill>
                          <a:effectLst/>
                          <a:latin typeface="Open Sans" panose="020B0606030504020204" pitchFamily="34" charset="0"/>
                          <a:ea typeface="Open Sans" panose="020B0606030504020204" pitchFamily="34" charset="0"/>
                          <a:cs typeface="Open Sans" panose="020B0606030504020204" pitchFamily="34" charset="0"/>
                        </a:rPr>
                        <a:t>Med-paper-2</a:t>
                      </a:r>
                      <a:endParaRPr lang="en-US">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a:txBody>
                  <a:tcPr marL="95250" marR="95250" marT="95250" marB="95250">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chemeClr val="bg2"/>
                          </a:solidFill>
                          <a:effectLst/>
                          <a:latin typeface="Open Sans" panose="020B0606030504020204" pitchFamily="34" charset="0"/>
                          <a:ea typeface="Open Sans" panose="020B0606030504020204" pitchFamily="34" charset="0"/>
                          <a:cs typeface="Open Sans" panose="020B0606030504020204" pitchFamily="34" charset="0"/>
                        </a:rPr>
                        <a:t>0</a:t>
                      </a:r>
                      <a:endParaRPr lang="en-US">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chemeClr val="bg2"/>
                          </a:solidFill>
                          <a:effectLst/>
                          <a:latin typeface="Open Sans" panose="020B0606030504020204" pitchFamily="34" charset="0"/>
                          <a:ea typeface="Open Sans" panose="020B0606030504020204" pitchFamily="34" charset="0"/>
                          <a:cs typeface="Open Sans" panose="020B0606030504020204" pitchFamily="34" charset="0"/>
                        </a:rPr>
                        <a:t>0</a:t>
                      </a:r>
                      <a:endParaRPr lang="en-US">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chemeClr val="bg2"/>
                          </a:solidFill>
                          <a:effectLst/>
                          <a:latin typeface="Open Sans" panose="020B0606030504020204" pitchFamily="34" charset="0"/>
                          <a:ea typeface="Open Sans" panose="020B0606030504020204" pitchFamily="34" charset="0"/>
                          <a:cs typeface="Open Sans" panose="020B0606030504020204" pitchFamily="34" charset="0"/>
                        </a:rPr>
                        <a:t>0</a:t>
                      </a:r>
                      <a:endParaRPr lang="en-US">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chemeClr val="bg2"/>
                          </a:solidFill>
                          <a:effectLst/>
                          <a:latin typeface="Open Sans" panose="020B0606030504020204" pitchFamily="34" charset="0"/>
                          <a:ea typeface="Open Sans" panose="020B0606030504020204" pitchFamily="34" charset="0"/>
                          <a:cs typeface="Open Sans" panose="020B0606030504020204" pitchFamily="34" charset="0"/>
                        </a:rPr>
                        <a:t>3</a:t>
                      </a:r>
                      <a:endParaRPr lang="en-US">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chemeClr val="bg2"/>
                          </a:solidFill>
                          <a:effectLst/>
                          <a:latin typeface="Open Sans" panose="020B0606030504020204" pitchFamily="34" charset="0"/>
                          <a:ea typeface="Open Sans" panose="020B0606030504020204" pitchFamily="34" charset="0"/>
                          <a:cs typeface="Open Sans" panose="020B0606030504020204" pitchFamily="34" charset="0"/>
                        </a:rPr>
                        <a:t>3</a:t>
                      </a:r>
                      <a:endParaRPr lang="en-US">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1946563019"/>
                  </a:ext>
                </a:extLst>
              </a:tr>
              <a:tr h="381000">
                <a:tc>
                  <a:txBody>
                    <a:bodyPr/>
                    <a:lstStyle/>
                    <a:p>
                      <a:pPr rtl="0" fontAlgn="t">
                        <a:buNone/>
                      </a:pPr>
                      <a:r>
                        <a:rPr lang="en-US" sz="1400" b="1" i="0" u="none" strike="noStrike">
                          <a:solidFill>
                            <a:schemeClr val="bg2"/>
                          </a:solidFill>
                          <a:effectLst/>
                          <a:latin typeface="Open Sans" panose="020B0606030504020204" pitchFamily="34" charset="0"/>
                          <a:ea typeface="Open Sans" panose="020B0606030504020204" pitchFamily="34" charset="0"/>
                          <a:cs typeface="Open Sans" panose="020B0606030504020204" pitchFamily="34" charset="0"/>
                        </a:rPr>
                        <a:t>Med-paper-3</a:t>
                      </a:r>
                      <a:endParaRPr lang="en-US">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a:txBody>
                  <a:tcPr marL="95250" marR="95250" marT="95250" marB="95250">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chemeClr val="bg2"/>
                          </a:solidFill>
                          <a:effectLst/>
                          <a:latin typeface="Open Sans" panose="020B0606030504020204" pitchFamily="34" charset="0"/>
                          <a:ea typeface="Open Sans" panose="020B0606030504020204" pitchFamily="34" charset="0"/>
                          <a:cs typeface="Open Sans" panose="020B0606030504020204" pitchFamily="34" charset="0"/>
                        </a:rPr>
                        <a:t>0</a:t>
                      </a:r>
                      <a:endParaRPr lang="en-US">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chemeClr val="bg2"/>
                          </a:solidFill>
                          <a:effectLst/>
                          <a:latin typeface="Open Sans" panose="020B0606030504020204" pitchFamily="34" charset="0"/>
                          <a:ea typeface="Open Sans" panose="020B0606030504020204" pitchFamily="34" charset="0"/>
                          <a:cs typeface="Open Sans" panose="020B0606030504020204" pitchFamily="34" charset="0"/>
                        </a:rPr>
                        <a:t>0</a:t>
                      </a:r>
                      <a:endParaRPr lang="en-US">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chemeClr val="bg2"/>
                          </a:solidFill>
                          <a:effectLst/>
                          <a:latin typeface="Open Sans" panose="020B0606030504020204" pitchFamily="34" charset="0"/>
                          <a:ea typeface="Open Sans" panose="020B0606030504020204" pitchFamily="34" charset="0"/>
                          <a:cs typeface="Open Sans" panose="020B0606030504020204" pitchFamily="34" charset="0"/>
                        </a:rPr>
                        <a:t>0</a:t>
                      </a:r>
                      <a:endParaRPr lang="en-US">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chemeClr val="bg2"/>
                          </a:solidFill>
                          <a:effectLst/>
                          <a:latin typeface="Open Sans" panose="020B0606030504020204" pitchFamily="34" charset="0"/>
                          <a:ea typeface="Open Sans" panose="020B0606030504020204" pitchFamily="34" charset="0"/>
                          <a:cs typeface="Open Sans" panose="020B0606030504020204" pitchFamily="34" charset="0"/>
                        </a:rPr>
                        <a:t>1</a:t>
                      </a:r>
                      <a:endParaRPr lang="en-US">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dirty="0">
                          <a:solidFill>
                            <a:schemeClr val="bg2"/>
                          </a:solidFill>
                          <a:effectLst/>
                          <a:latin typeface="Open Sans" panose="020B0606030504020204" pitchFamily="34" charset="0"/>
                          <a:ea typeface="Open Sans" panose="020B0606030504020204" pitchFamily="34" charset="0"/>
                          <a:cs typeface="Open Sans" panose="020B0606030504020204" pitchFamily="34" charset="0"/>
                        </a:rPr>
                        <a:t>1</a:t>
                      </a:r>
                      <a:endParaRPr lang="en-US" dirty="0">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3417170162"/>
                  </a:ext>
                </a:extLst>
              </a:tr>
            </a:tbl>
          </a:graphicData>
        </a:graphic>
      </p:graphicFrame>
    </p:spTree>
    <p:extLst>
      <p:ext uri="{BB962C8B-B14F-4D97-AF65-F5344CB8AC3E}">
        <p14:creationId xmlns:p14="http://schemas.microsoft.com/office/powerpoint/2010/main" val="233687369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56DE00-2BA8-6437-FEA3-02922EAB7A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A1C600-03EF-5AD2-FCD7-AC553A5EC390}"/>
              </a:ext>
            </a:extLst>
          </p:cNvPr>
          <p:cNvSpPr>
            <a:spLocks noGrp="1"/>
          </p:cNvSpPr>
          <p:nvPr>
            <p:ph type="title"/>
          </p:nvPr>
        </p:nvSpPr>
        <p:spPr/>
        <p:txBody>
          <a:bodyPr>
            <a:normAutofit fontScale="90000"/>
          </a:bodyPr>
          <a:lstStyle/>
          <a:p>
            <a:r>
              <a:rPr lang="en-US" dirty="0"/>
              <a:t>Recall: Embeddings</a:t>
            </a:r>
          </a:p>
        </p:txBody>
      </p:sp>
      <p:sp>
        <p:nvSpPr>
          <p:cNvPr id="5" name="Text Placeholder 4">
            <a:extLst>
              <a:ext uri="{FF2B5EF4-FFF2-40B4-BE49-F238E27FC236}">
                <a16:creationId xmlns:a16="http://schemas.microsoft.com/office/drawing/2014/main" id="{1FDB7F92-D867-AD41-28ED-EEAC1FF783DE}"/>
              </a:ext>
            </a:extLst>
          </p:cNvPr>
          <p:cNvSpPr>
            <a:spLocks noGrp="1"/>
          </p:cNvSpPr>
          <p:nvPr>
            <p:ph type="body" idx="1"/>
          </p:nvPr>
        </p:nvSpPr>
        <p:spPr/>
        <p:txBody>
          <a:bodyPr/>
          <a:lstStyle/>
          <a:p>
            <a:pPr marL="114300" indent="0">
              <a:buNone/>
            </a:pPr>
            <a:r>
              <a:rPr lang="en-US" dirty="0"/>
              <a:t>The goal of embeddings is to map words (in this case) onto a relatively small dimensional space where similar words are close to one another</a:t>
            </a:r>
          </a:p>
          <a:p>
            <a:pPr marL="114300" indent="0">
              <a:buNone/>
            </a:pPr>
            <a:endParaRPr lang="en-US" dirty="0"/>
          </a:p>
          <a:p>
            <a:pPr marL="114300" indent="0">
              <a:buNone/>
            </a:pPr>
            <a:r>
              <a:rPr lang="en-US" dirty="0"/>
              <a:t>The idea is that we take representations of words that we have mapped to a high-dimensional space (using a term-document matrix) and project them into a lower-dimensional space.</a:t>
            </a:r>
          </a:p>
          <a:p>
            <a:pPr marL="114300" indent="0">
              <a:buNone/>
            </a:pPr>
            <a:endParaRPr lang="en-US" dirty="0"/>
          </a:p>
          <a:p>
            <a:pPr marL="114300" indent="0">
              <a:buNone/>
            </a:pPr>
            <a:r>
              <a:rPr lang="en-US" dirty="0"/>
              <a:t>We accomplish this using SVD!</a:t>
            </a:r>
          </a:p>
          <a:p>
            <a:pPr marL="114300" indent="0">
              <a:buNone/>
            </a:pPr>
            <a:endParaRPr lang="en-US" dirty="0"/>
          </a:p>
          <a:p>
            <a:pPr marL="114300" indent="0">
              <a:buNone/>
            </a:pPr>
            <a:endParaRPr lang="en-US" dirty="0"/>
          </a:p>
        </p:txBody>
      </p:sp>
    </p:spTree>
    <p:extLst>
      <p:ext uri="{BB962C8B-B14F-4D97-AF65-F5344CB8AC3E}">
        <p14:creationId xmlns:p14="http://schemas.microsoft.com/office/powerpoint/2010/main" val="181664238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841836-90EE-E670-4887-D821AC219583}"/>
            </a:ext>
          </a:extLst>
        </p:cNvPr>
        <p:cNvGrpSpPr/>
        <p:nvPr/>
      </p:nvGrpSpPr>
      <p:grpSpPr>
        <a:xfrm>
          <a:off x="0" y="0"/>
          <a:ext cx="0" cy="0"/>
          <a:chOff x="0" y="0"/>
          <a:chExt cx="0" cy="0"/>
        </a:xfrm>
      </p:grpSpPr>
      <p:graphicFrame>
        <p:nvGraphicFramePr>
          <p:cNvPr id="8" name="Table 7">
            <a:extLst>
              <a:ext uri="{FF2B5EF4-FFF2-40B4-BE49-F238E27FC236}">
                <a16:creationId xmlns:a16="http://schemas.microsoft.com/office/drawing/2014/main" id="{A6A1B58D-7195-7F0D-55F6-4451F5F01BBE}"/>
              </a:ext>
            </a:extLst>
          </p:cNvPr>
          <p:cNvGraphicFramePr>
            <a:graphicFrameLocks noGrp="1"/>
          </p:cNvGraphicFramePr>
          <p:nvPr/>
        </p:nvGraphicFramePr>
        <p:xfrm>
          <a:off x="872092" y="1820108"/>
          <a:ext cx="1114425" cy="2827020"/>
        </p:xfrm>
        <a:graphic>
          <a:graphicData uri="http://schemas.openxmlformats.org/drawingml/2006/table">
            <a:tbl>
              <a:tblPr/>
              <a:tblGrid>
                <a:gridCol w="561975">
                  <a:extLst>
                    <a:ext uri="{9D8B030D-6E8A-4147-A177-3AD203B41FA5}">
                      <a16:colId xmlns:a16="http://schemas.microsoft.com/office/drawing/2014/main" val="2272479392"/>
                    </a:ext>
                  </a:extLst>
                </a:gridCol>
                <a:gridCol w="552450">
                  <a:extLst>
                    <a:ext uri="{9D8B030D-6E8A-4147-A177-3AD203B41FA5}">
                      <a16:colId xmlns:a16="http://schemas.microsoft.com/office/drawing/2014/main" val="2539191863"/>
                    </a:ext>
                  </a:extLst>
                </a:gridCol>
              </a:tblGrid>
              <a:tr h="0">
                <a:tc>
                  <a:txBody>
                    <a:bodyPr/>
                    <a:lstStyle/>
                    <a:p>
                      <a:pPr algn="ctr" rtl="0" fontAlgn="ctr">
                        <a:buNone/>
                      </a:pPr>
                      <a:r>
                        <a:rPr lang="en-US" sz="1400" b="0" i="0" u="none" strike="noStrike">
                          <a:solidFill>
                            <a:srgbClr val="000000"/>
                          </a:solidFill>
                          <a:effectLst/>
                          <a:latin typeface="Arial" panose="020B0604020202020204" pitchFamily="34" charset="0"/>
                        </a:rPr>
                        <a:t>0.18</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rgbClr val="000000"/>
                          </a:solidFill>
                          <a:effectLst/>
                          <a:latin typeface="Arial" panose="020B0604020202020204" pitchFamily="34" charset="0"/>
                        </a:rPr>
                        <a:t>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1325200620"/>
                  </a:ext>
                </a:extLst>
              </a:tr>
              <a:tr h="0">
                <a:tc>
                  <a:txBody>
                    <a:bodyPr/>
                    <a:lstStyle/>
                    <a:p>
                      <a:pPr algn="ctr" rtl="0" fontAlgn="ctr">
                        <a:buNone/>
                      </a:pPr>
                      <a:r>
                        <a:rPr lang="en-US" sz="1400" b="0" i="0" u="none" strike="noStrike">
                          <a:solidFill>
                            <a:srgbClr val="000000"/>
                          </a:solidFill>
                          <a:effectLst/>
                          <a:latin typeface="Arial" panose="020B0604020202020204" pitchFamily="34" charset="0"/>
                        </a:rPr>
                        <a:t>0.36</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dirty="0">
                          <a:solidFill>
                            <a:srgbClr val="000000"/>
                          </a:solidFill>
                          <a:effectLst/>
                          <a:latin typeface="Arial" panose="020B0604020202020204" pitchFamily="34" charset="0"/>
                        </a:rPr>
                        <a:t>0</a:t>
                      </a:r>
                      <a:endParaRPr lang="en-US" dirty="0">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3104249073"/>
                  </a:ext>
                </a:extLst>
              </a:tr>
              <a:tr h="0">
                <a:tc>
                  <a:txBody>
                    <a:bodyPr/>
                    <a:lstStyle/>
                    <a:p>
                      <a:pPr algn="ctr" rtl="0" fontAlgn="ctr">
                        <a:buNone/>
                      </a:pPr>
                      <a:r>
                        <a:rPr lang="en-US" sz="1400" b="0" i="0" u="none" strike="noStrike">
                          <a:solidFill>
                            <a:srgbClr val="000000"/>
                          </a:solidFill>
                          <a:effectLst/>
                          <a:latin typeface="Arial" panose="020B0604020202020204" pitchFamily="34" charset="0"/>
                        </a:rPr>
                        <a:t>0.18</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rgbClr val="000000"/>
                          </a:solidFill>
                          <a:effectLst/>
                          <a:latin typeface="Arial" panose="020B0604020202020204" pitchFamily="34" charset="0"/>
                        </a:rPr>
                        <a:t>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2529714146"/>
                  </a:ext>
                </a:extLst>
              </a:tr>
              <a:tr h="0">
                <a:tc>
                  <a:txBody>
                    <a:bodyPr/>
                    <a:lstStyle/>
                    <a:p>
                      <a:pPr algn="ctr" rtl="0" fontAlgn="ctr">
                        <a:buNone/>
                      </a:pPr>
                      <a:r>
                        <a:rPr lang="en-US" sz="1400" b="0" i="0" u="none" strike="noStrike">
                          <a:solidFill>
                            <a:srgbClr val="000000"/>
                          </a:solidFill>
                          <a:effectLst/>
                          <a:latin typeface="Arial" panose="020B0604020202020204" pitchFamily="34" charset="0"/>
                        </a:rPr>
                        <a:t>0.90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rgbClr val="000000"/>
                          </a:solidFill>
                          <a:effectLst/>
                          <a:latin typeface="Arial" panose="020B0604020202020204" pitchFamily="34" charset="0"/>
                        </a:rPr>
                        <a:t>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433969260"/>
                  </a:ext>
                </a:extLst>
              </a:tr>
              <a:tr h="0">
                <a:tc>
                  <a:txBody>
                    <a:bodyPr/>
                    <a:lstStyle/>
                    <a:p>
                      <a:pPr algn="ctr" rtl="0" fontAlgn="ctr">
                        <a:buNone/>
                      </a:pPr>
                      <a:r>
                        <a:rPr lang="en-US" sz="1400" b="0" i="0" u="none" strike="noStrike">
                          <a:solidFill>
                            <a:srgbClr val="000000"/>
                          </a:solidFill>
                          <a:effectLst/>
                          <a:latin typeface="Arial" panose="020B0604020202020204" pitchFamily="34" charset="0"/>
                        </a:rPr>
                        <a:t>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rgbClr val="000000"/>
                          </a:solidFill>
                          <a:effectLst/>
                          <a:latin typeface="Arial" panose="020B0604020202020204" pitchFamily="34" charset="0"/>
                        </a:rPr>
                        <a:t>0.53</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1335701321"/>
                  </a:ext>
                </a:extLst>
              </a:tr>
              <a:tr h="0">
                <a:tc>
                  <a:txBody>
                    <a:bodyPr/>
                    <a:lstStyle/>
                    <a:p>
                      <a:pPr algn="ctr" rtl="0" fontAlgn="ctr">
                        <a:buNone/>
                      </a:pPr>
                      <a:r>
                        <a:rPr lang="en-US" sz="1400" b="0" i="0" u="none" strike="noStrike">
                          <a:solidFill>
                            <a:srgbClr val="000000"/>
                          </a:solidFill>
                          <a:effectLst/>
                          <a:latin typeface="Arial" panose="020B0604020202020204" pitchFamily="34" charset="0"/>
                        </a:rPr>
                        <a:t>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rgbClr val="000000"/>
                          </a:solidFill>
                          <a:effectLst/>
                          <a:latin typeface="Arial" panose="020B0604020202020204" pitchFamily="34" charset="0"/>
                        </a:rPr>
                        <a:t>0.80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2370354746"/>
                  </a:ext>
                </a:extLst>
              </a:tr>
              <a:tr h="0">
                <a:tc>
                  <a:txBody>
                    <a:bodyPr/>
                    <a:lstStyle/>
                    <a:p>
                      <a:pPr algn="ctr" rtl="0" fontAlgn="ctr">
                        <a:buNone/>
                      </a:pPr>
                      <a:r>
                        <a:rPr lang="en-US" sz="1400" b="0" i="0" u="none" strike="noStrike">
                          <a:solidFill>
                            <a:srgbClr val="000000"/>
                          </a:solidFill>
                          <a:effectLst/>
                          <a:latin typeface="Arial" panose="020B0604020202020204" pitchFamily="34" charset="0"/>
                        </a:rPr>
                        <a:t>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dirty="0">
                          <a:solidFill>
                            <a:srgbClr val="000000"/>
                          </a:solidFill>
                          <a:effectLst/>
                          <a:latin typeface="Arial" panose="020B0604020202020204" pitchFamily="34" charset="0"/>
                        </a:rPr>
                        <a:t>0.27</a:t>
                      </a:r>
                      <a:endParaRPr lang="en-US" dirty="0">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4250486402"/>
                  </a:ext>
                </a:extLst>
              </a:tr>
            </a:tbl>
          </a:graphicData>
        </a:graphic>
      </p:graphicFrame>
      <p:sp>
        <p:nvSpPr>
          <p:cNvPr id="9" name="Rectangle 2">
            <a:extLst>
              <a:ext uri="{FF2B5EF4-FFF2-40B4-BE49-F238E27FC236}">
                <a16:creationId xmlns:a16="http://schemas.microsoft.com/office/drawing/2014/main" id="{57D7E3EF-3FE7-5783-A3FA-7E24B78B35D2}"/>
              </a:ext>
            </a:extLst>
          </p:cNvPr>
          <p:cNvSpPr>
            <a:spLocks noChangeArrowheads="1"/>
          </p:cNvSpPr>
          <p:nvPr/>
        </p:nvSpPr>
        <p:spPr bwMode="auto">
          <a:xfrm>
            <a:off x="302455" y="1481797"/>
            <a:ext cx="2648481"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a:ln>
                  <a:noFill/>
                </a:ln>
                <a:solidFill>
                  <a:schemeClr val="bg2"/>
                </a:solidFill>
                <a:effectLst/>
                <a:latin typeface="Open Sans" panose="020B0606030504020204" pitchFamily="34" charset="0"/>
                <a:ea typeface="Open Sans" panose="020B0606030504020204" pitchFamily="34" charset="0"/>
                <a:cs typeface="Open Sans" panose="020B0606030504020204" pitchFamily="34" charset="0"/>
              </a:rPr>
              <a:t>doc-to-concept similarity matrix</a:t>
            </a:r>
            <a:endParaRPr kumimoji="0" lang="en-US" altLang="en-US" sz="1800" b="0" i="0" u="none" strike="noStrike" cap="none" normalizeH="0" baseline="0" dirty="0">
              <a:ln>
                <a:noFill/>
              </a:ln>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p:txBody>
      </p:sp>
      <p:graphicFrame>
        <p:nvGraphicFramePr>
          <p:cNvPr id="10" name="Table 9">
            <a:extLst>
              <a:ext uri="{FF2B5EF4-FFF2-40B4-BE49-F238E27FC236}">
                <a16:creationId xmlns:a16="http://schemas.microsoft.com/office/drawing/2014/main" id="{2F93349C-9407-A1F0-A116-E9E0F303F83F}"/>
              </a:ext>
            </a:extLst>
          </p:cNvPr>
          <p:cNvGraphicFramePr>
            <a:graphicFrameLocks noGrp="1"/>
          </p:cNvGraphicFramePr>
          <p:nvPr/>
        </p:nvGraphicFramePr>
        <p:xfrm>
          <a:off x="3127020" y="2753662"/>
          <a:ext cx="1114425" cy="807720"/>
        </p:xfrm>
        <a:graphic>
          <a:graphicData uri="http://schemas.openxmlformats.org/drawingml/2006/table">
            <a:tbl>
              <a:tblPr/>
              <a:tblGrid>
                <a:gridCol w="561975">
                  <a:extLst>
                    <a:ext uri="{9D8B030D-6E8A-4147-A177-3AD203B41FA5}">
                      <a16:colId xmlns:a16="http://schemas.microsoft.com/office/drawing/2014/main" val="4243659018"/>
                    </a:ext>
                  </a:extLst>
                </a:gridCol>
                <a:gridCol w="552450">
                  <a:extLst>
                    <a:ext uri="{9D8B030D-6E8A-4147-A177-3AD203B41FA5}">
                      <a16:colId xmlns:a16="http://schemas.microsoft.com/office/drawing/2014/main" val="1089689707"/>
                    </a:ext>
                  </a:extLst>
                </a:gridCol>
              </a:tblGrid>
              <a:tr h="0">
                <a:tc>
                  <a:txBody>
                    <a:bodyPr/>
                    <a:lstStyle/>
                    <a:p>
                      <a:pPr algn="ctr" rtl="0" fontAlgn="ctr">
                        <a:buNone/>
                      </a:pPr>
                      <a:r>
                        <a:rPr lang="en-US" sz="1400" b="0" i="0" u="none" strike="noStrike">
                          <a:solidFill>
                            <a:srgbClr val="000000"/>
                          </a:solidFill>
                          <a:effectLst/>
                          <a:latin typeface="Arial" panose="020B0604020202020204" pitchFamily="34" charset="0"/>
                        </a:rPr>
                        <a:t>9.64</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rgbClr val="000000"/>
                          </a:solidFill>
                          <a:effectLst/>
                          <a:latin typeface="Arial" panose="020B0604020202020204" pitchFamily="34" charset="0"/>
                        </a:rPr>
                        <a:t>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2155136396"/>
                  </a:ext>
                </a:extLst>
              </a:tr>
              <a:tr h="0">
                <a:tc>
                  <a:txBody>
                    <a:bodyPr/>
                    <a:lstStyle/>
                    <a:p>
                      <a:pPr algn="ctr" rtl="0" fontAlgn="ctr">
                        <a:buNone/>
                      </a:pPr>
                      <a:r>
                        <a:rPr lang="en-US" sz="1400" b="0" i="0" u="none" strike="noStrike">
                          <a:solidFill>
                            <a:srgbClr val="000000"/>
                          </a:solidFill>
                          <a:effectLst/>
                          <a:latin typeface="Arial" panose="020B0604020202020204" pitchFamily="34" charset="0"/>
                        </a:rPr>
                        <a:t>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dirty="0">
                          <a:solidFill>
                            <a:srgbClr val="000000"/>
                          </a:solidFill>
                          <a:effectLst/>
                          <a:latin typeface="Arial" panose="020B0604020202020204" pitchFamily="34" charset="0"/>
                        </a:rPr>
                        <a:t>5.29</a:t>
                      </a:r>
                      <a:endParaRPr lang="en-US" dirty="0">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508559091"/>
                  </a:ext>
                </a:extLst>
              </a:tr>
            </a:tbl>
          </a:graphicData>
        </a:graphic>
      </p:graphicFrame>
      <p:sp>
        <p:nvSpPr>
          <p:cNvPr id="11" name="Rectangle 3">
            <a:extLst>
              <a:ext uri="{FF2B5EF4-FFF2-40B4-BE49-F238E27FC236}">
                <a16:creationId xmlns:a16="http://schemas.microsoft.com/office/drawing/2014/main" id="{06F59F7B-DFDA-F726-FFC0-9B0B77BEBEB6}"/>
              </a:ext>
            </a:extLst>
          </p:cNvPr>
          <p:cNvSpPr>
            <a:spLocks noChangeArrowheads="1"/>
          </p:cNvSpPr>
          <p:nvPr/>
        </p:nvSpPr>
        <p:spPr bwMode="auto">
          <a:xfrm>
            <a:off x="2106415" y="2039839"/>
            <a:ext cx="2836033" cy="18004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a:ln>
                  <a:noFill/>
                </a:ln>
                <a:solidFill>
                  <a:schemeClr val="bg2"/>
                </a:solidFill>
                <a:effectLst/>
                <a:latin typeface="Open Sans" panose="020B0606030504020204" pitchFamily="34" charset="0"/>
                <a:ea typeface="Open Sans" panose="020B0606030504020204" pitchFamily="34" charset="0"/>
                <a:cs typeface="Open Sans" panose="020B060603050402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30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a:ln>
                  <a:noFill/>
                </a:ln>
                <a:solidFill>
                  <a:schemeClr val="bg2"/>
                </a:solidFill>
                <a:effectLst/>
                <a:latin typeface="Open Sans" panose="020B0606030504020204" pitchFamily="34" charset="0"/>
                <a:ea typeface="Open Sans" panose="020B0606030504020204" pitchFamily="34" charset="0"/>
                <a:cs typeface="Open Sans" panose="020B0606030504020204" pitchFamily="34" charset="0"/>
              </a:rPr>
              <a:t>              “strength” of each concept</a:t>
            </a:r>
            <a:endParaRPr kumimoji="0" lang="en-US" altLang="en-US" sz="600" b="0" i="0" u="none" strike="noStrike" cap="none" normalizeH="0" baseline="0" dirty="0">
              <a:ln>
                <a:noFill/>
              </a:ln>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dirty="0">
                <a:ln>
                  <a:noFill/>
                </a:ln>
                <a:solidFill>
                  <a:schemeClr val="bg2"/>
                </a:solidFill>
                <a:effectLst/>
                <a:latin typeface="Open Sans" panose="020B0606030504020204" pitchFamily="34" charset="0"/>
                <a:ea typeface="Open Sans" panose="020B0606030504020204" pitchFamily="34" charset="0"/>
                <a:cs typeface="Open Sans" panose="020B0606030504020204" pitchFamily="34" charset="0"/>
              </a:rPr>
            </a:br>
            <a:endParaRPr kumimoji="0" lang="en-US" altLang="en-US" sz="1800" b="0" i="0" u="none" strike="noStrike" cap="none" normalizeH="0" baseline="0" dirty="0">
              <a:ln>
                <a:noFill/>
              </a:ln>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dirty="0">
                <a:ln>
                  <a:noFill/>
                </a:ln>
                <a:solidFill>
                  <a:schemeClr val="bg2"/>
                </a:solidFill>
                <a:effectLst/>
                <a:latin typeface="Open Sans" panose="020B0606030504020204" pitchFamily="34" charset="0"/>
                <a:ea typeface="Open Sans" panose="020B0606030504020204" pitchFamily="34" charset="0"/>
                <a:cs typeface="Open Sans" panose="020B0606030504020204" pitchFamily="34" charset="0"/>
              </a:rPr>
            </a:br>
            <a:endParaRPr kumimoji="0" lang="en-US" altLang="en-US" sz="1800" b="0" i="0" u="none" strike="noStrike" cap="none" normalizeH="0" baseline="0" dirty="0">
              <a:ln>
                <a:noFill/>
              </a:ln>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p:txBody>
      </p:sp>
      <p:graphicFrame>
        <p:nvGraphicFramePr>
          <p:cNvPr id="16" name="Table 15">
            <a:extLst>
              <a:ext uri="{FF2B5EF4-FFF2-40B4-BE49-F238E27FC236}">
                <a16:creationId xmlns:a16="http://schemas.microsoft.com/office/drawing/2014/main" id="{B3C04965-34D5-DF66-BB7E-A2827F0E26FD}"/>
              </a:ext>
            </a:extLst>
          </p:cNvPr>
          <p:cNvGraphicFramePr>
            <a:graphicFrameLocks noGrp="1"/>
          </p:cNvGraphicFramePr>
          <p:nvPr/>
        </p:nvGraphicFramePr>
        <p:xfrm>
          <a:off x="5517423" y="2753662"/>
          <a:ext cx="2905125" cy="807720"/>
        </p:xfrm>
        <a:graphic>
          <a:graphicData uri="http://schemas.openxmlformats.org/drawingml/2006/table">
            <a:tbl>
              <a:tblPr/>
              <a:tblGrid>
                <a:gridCol w="581025">
                  <a:extLst>
                    <a:ext uri="{9D8B030D-6E8A-4147-A177-3AD203B41FA5}">
                      <a16:colId xmlns:a16="http://schemas.microsoft.com/office/drawing/2014/main" val="3366053481"/>
                    </a:ext>
                  </a:extLst>
                </a:gridCol>
                <a:gridCol w="581025">
                  <a:extLst>
                    <a:ext uri="{9D8B030D-6E8A-4147-A177-3AD203B41FA5}">
                      <a16:colId xmlns:a16="http://schemas.microsoft.com/office/drawing/2014/main" val="1886804556"/>
                    </a:ext>
                  </a:extLst>
                </a:gridCol>
                <a:gridCol w="581025">
                  <a:extLst>
                    <a:ext uri="{9D8B030D-6E8A-4147-A177-3AD203B41FA5}">
                      <a16:colId xmlns:a16="http://schemas.microsoft.com/office/drawing/2014/main" val="333373658"/>
                    </a:ext>
                  </a:extLst>
                </a:gridCol>
                <a:gridCol w="581025">
                  <a:extLst>
                    <a:ext uri="{9D8B030D-6E8A-4147-A177-3AD203B41FA5}">
                      <a16:colId xmlns:a16="http://schemas.microsoft.com/office/drawing/2014/main" val="134857957"/>
                    </a:ext>
                  </a:extLst>
                </a:gridCol>
                <a:gridCol w="581025">
                  <a:extLst>
                    <a:ext uri="{9D8B030D-6E8A-4147-A177-3AD203B41FA5}">
                      <a16:colId xmlns:a16="http://schemas.microsoft.com/office/drawing/2014/main" val="89821631"/>
                    </a:ext>
                  </a:extLst>
                </a:gridCol>
              </a:tblGrid>
              <a:tr h="0">
                <a:tc>
                  <a:txBody>
                    <a:bodyPr/>
                    <a:lstStyle/>
                    <a:p>
                      <a:pPr algn="ctr" rtl="0" fontAlgn="ctr">
                        <a:buNone/>
                      </a:pPr>
                      <a:r>
                        <a:rPr lang="en-US" sz="1400" b="0" i="0" u="none" strike="noStrike">
                          <a:solidFill>
                            <a:srgbClr val="000000"/>
                          </a:solidFill>
                          <a:effectLst/>
                          <a:latin typeface="Arial" panose="020B0604020202020204" pitchFamily="34" charset="0"/>
                        </a:rPr>
                        <a:t>0.58</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rgbClr val="000000"/>
                          </a:solidFill>
                          <a:effectLst/>
                          <a:latin typeface="Arial" panose="020B0604020202020204" pitchFamily="34" charset="0"/>
                        </a:rPr>
                        <a:t>0.58</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rgbClr val="000000"/>
                          </a:solidFill>
                          <a:effectLst/>
                          <a:latin typeface="Arial" panose="020B0604020202020204" pitchFamily="34" charset="0"/>
                        </a:rPr>
                        <a:t>0.58</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rgbClr val="000000"/>
                          </a:solidFill>
                          <a:effectLst/>
                          <a:latin typeface="Arial" panose="020B0604020202020204" pitchFamily="34" charset="0"/>
                        </a:rPr>
                        <a:t>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rgbClr val="000000"/>
                          </a:solidFill>
                          <a:effectLst/>
                          <a:latin typeface="Arial" panose="020B0604020202020204" pitchFamily="34" charset="0"/>
                        </a:rPr>
                        <a:t>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3847509535"/>
                  </a:ext>
                </a:extLst>
              </a:tr>
              <a:tr h="0">
                <a:tc>
                  <a:txBody>
                    <a:bodyPr/>
                    <a:lstStyle/>
                    <a:p>
                      <a:pPr algn="ctr" rtl="0" fontAlgn="ctr">
                        <a:buNone/>
                      </a:pPr>
                      <a:r>
                        <a:rPr lang="en-US" sz="1400" b="0" i="0" u="none" strike="noStrike">
                          <a:solidFill>
                            <a:srgbClr val="000000"/>
                          </a:solidFill>
                          <a:effectLst/>
                          <a:latin typeface="Arial" panose="020B0604020202020204" pitchFamily="34" charset="0"/>
                        </a:rPr>
                        <a:t>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rgbClr val="000000"/>
                          </a:solidFill>
                          <a:effectLst/>
                          <a:latin typeface="Arial" panose="020B0604020202020204" pitchFamily="34" charset="0"/>
                        </a:rPr>
                        <a:t>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dirty="0">
                          <a:solidFill>
                            <a:srgbClr val="000000"/>
                          </a:solidFill>
                          <a:effectLst/>
                          <a:latin typeface="Arial" panose="020B0604020202020204" pitchFamily="34" charset="0"/>
                        </a:rPr>
                        <a:t>0</a:t>
                      </a:r>
                      <a:endParaRPr lang="en-US" dirty="0">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rgbClr val="000000"/>
                          </a:solidFill>
                          <a:effectLst/>
                          <a:latin typeface="Arial" panose="020B0604020202020204" pitchFamily="34" charset="0"/>
                        </a:rPr>
                        <a:t>0.71</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dirty="0">
                          <a:solidFill>
                            <a:srgbClr val="000000"/>
                          </a:solidFill>
                          <a:effectLst/>
                          <a:latin typeface="Arial" panose="020B0604020202020204" pitchFamily="34" charset="0"/>
                        </a:rPr>
                        <a:t>0.71</a:t>
                      </a:r>
                      <a:endParaRPr lang="en-US" dirty="0">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141670811"/>
                  </a:ext>
                </a:extLst>
              </a:tr>
            </a:tbl>
          </a:graphicData>
        </a:graphic>
      </p:graphicFrame>
      <p:sp>
        <p:nvSpPr>
          <p:cNvPr id="17" name="Rectangle 4">
            <a:extLst>
              <a:ext uri="{FF2B5EF4-FFF2-40B4-BE49-F238E27FC236}">
                <a16:creationId xmlns:a16="http://schemas.microsoft.com/office/drawing/2014/main" id="{564AB36D-F5DA-D968-1981-C01BFDBBE4E4}"/>
              </a:ext>
            </a:extLst>
          </p:cNvPr>
          <p:cNvSpPr>
            <a:spLocks noChangeArrowheads="1"/>
          </p:cNvSpPr>
          <p:nvPr/>
        </p:nvSpPr>
        <p:spPr bwMode="auto">
          <a:xfrm>
            <a:off x="5600058" y="2380661"/>
            <a:ext cx="2739853"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a:ln>
                  <a:noFill/>
                </a:ln>
                <a:solidFill>
                  <a:schemeClr val="bg2"/>
                </a:solidFill>
                <a:effectLst/>
                <a:latin typeface="Open Sans" panose="020B0606030504020204" pitchFamily="34" charset="0"/>
                <a:ea typeface="Open Sans" panose="020B0606030504020204" pitchFamily="34" charset="0"/>
                <a:cs typeface="Open Sans" panose="020B0606030504020204" pitchFamily="34" charset="0"/>
              </a:rPr>
              <a:t>term-to-concept similarity matrix</a:t>
            </a:r>
            <a:endParaRPr kumimoji="0" lang="en-US" altLang="en-US" sz="1800" b="0" i="0" u="none" strike="noStrike" cap="none" normalizeH="0" baseline="0">
              <a:ln>
                <a:noFill/>
              </a:ln>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p:txBody>
      </p:sp>
      <p:sp>
        <p:nvSpPr>
          <p:cNvPr id="18" name="Equal 17">
            <a:extLst>
              <a:ext uri="{FF2B5EF4-FFF2-40B4-BE49-F238E27FC236}">
                <a16:creationId xmlns:a16="http://schemas.microsoft.com/office/drawing/2014/main" id="{AA480B57-E7B4-5643-6DEB-2FC326A53DB6}"/>
              </a:ext>
            </a:extLst>
          </p:cNvPr>
          <p:cNvSpPr/>
          <p:nvPr/>
        </p:nvSpPr>
        <p:spPr>
          <a:xfrm>
            <a:off x="272807" y="2854274"/>
            <a:ext cx="469535" cy="442299"/>
          </a:xfrm>
          <a:prstGeom prst="mathEqual">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9" name="Multiply 18">
            <a:extLst>
              <a:ext uri="{FF2B5EF4-FFF2-40B4-BE49-F238E27FC236}">
                <a16:creationId xmlns:a16="http://schemas.microsoft.com/office/drawing/2014/main" id="{A1FE5E0C-474B-69A8-99FA-F268199DB781}"/>
              </a:ext>
            </a:extLst>
          </p:cNvPr>
          <p:cNvSpPr/>
          <p:nvPr/>
        </p:nvSpPr>
        <p:spPr>
          <a:xfrm>
            <a:off x="2397985" y="2940085"/>
            <a:ext cx="371848" cy="356488"/>
          </a:xfrm>
          <a:prstGeom prst="mathMultiply">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Multiply 19">
            <a:extLst>
              <a:ext uri="{FF2B5EF4-FFF2-40B4-BE49-F238E27FC236}">
                <a16:creationId xmlns:a16="http://schemas.microsoft.com/office/drawing/2014/main" id="{3AD4604F-067D-0D7C-E4BE-B941F9D3868B}"/>
              </a:ext>
            </a:extLst>
          </p:cNvPr>
          <p:cNvSpPr/>
          <p:nvPr/>
        </p:nvSpPr>
        <p:spPr>
          <a:xfrm>
            <a:off x="4784556" y="2895371"/>
            <a:ext cx="371848" cy="356488"/>
          </a:xfrm>
          <a:prstGeom prst="mathMultiply">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E214AEE1-B773-170B-0955-5593C29E9211}"/>
                  </a:ext>
                </a:extLst>
              </p:cNvPr>
              <p:cNvSpPr txBox="1"/>
              <p:nvPr/>
            </p:nvSpPr>
            <p:spPr>
              <a:xfrm>
                <a:off x="872092" y="1031477"/>
                <a:ext cx="1114425" cy="369332"/>
              </a:xfrm>
              <a:prstGeom prst="rect">
                <a:avLst/>
              </a:prstGeom>
              <a:noFill/>
              <a:ln>
                <a:solidFill>
                  <a:schemeClr val="accent1"/>
                </a:solidFill>
              </a:ln>
            </p:spPr>
            <p:txBody>
              <a:bodyPr wrap="square" rtlCol="0">
                <a:spAutoFit/>
              </a:bodyPr>
              <a:lstStyle/>
              <a:p>
                <a:pPr algn="ctr"/>
                <a14:m>
                  <m:oMathPara xmlns:m="http://schemas.openxmlformats.org/officeDocument/2006/math">
                    <m:oMath>
                      <m:r>
                        <a:rPr lang="en-US" sz="1800" i="1" dirty="0"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𝑈</m:t>
                      </m:r>
                    </m:oMath>
                  </m:oMathPara>
                </a14:m>
                <a:endParaRPr lang="en-US" sz="180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26" name="TextBox 25">
                <a:extLst>
                  <a:ext uri="{FF2B5EF4-FFF2-40B4-BE49-F238E27FC236}">
                    <a16:creationId xmlns:a16="http://schemas.microsoft.com/office/drawing/2014/main" id="{E214AEE1-B773-170B-0955-5593C29E9211}"/>
                  </a:ext>
                </a:extLst>
              </p:cNvPr>
              <p:cNvSpPr txBox="1">
                <a:spLocks noRot="1" noChangeAspect="1" noMove="1" noResize="1" noEditPoints="1" noAdjustHandles="1" noChangeArrowheads="1" noChangeShapeType="1" noTextEdit="1"/>
              </p:cNvSpPr>
              <p:nvPr/>
            </p:nvSpPr>
            <p:spPr>
              <a:xfrm>
                <a:off x="872092" y="1031477"/>
                <a:ext cx="1114425" cy="369332"/>
              </a:xfrm>
              <a:prstGeom prst="rect">
                <a:avLst/>
              </a:prstGeom>
              <a:blipFill>
                <a:blip r:embed="rId3"/>
                <a:stretch>
                  <a:fillRect/>
                </a:stretch>
              </a:blipFill>
              <a:ln>
                <a:solidFill>
                  <a:schemeClr val="accent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4E226109-4540-6BEA-CE24-3829B8FD3B23}"/>
                  </a:ext>
                </a:extLst>
              </p:cNvPr>
              <p:cNvSpPr txBox="1"/>
              <p:nvPr/>
            </p:nvSpPr>
            <p:spPr>
              <a:xfrm>
                <a:off x="3127020" y="2066837"/>
                <a:ext cx="1114425" cy="369332"/>
              </a:xfrm>
              <a:prstGeom prst="rect">
                <a:avLst/>
              </a:prstGeom>
              <a:noFill/>
              <a:ln>
                <a:solidFill>
                  <a:schemeClr val="accent1"/>
                </a:solidFill>
              </a:ln>
            </p:spPr>
            <p:txBody>
              <a:bodyPr wrap="square" rtlCol="0">
                <a:spAutoFit/>
              </a:bodyPr>
              <a:lstStyle/>
              <a:p>
                <a:pPr algn="ctr"/>
                <a14:m>
                  <m:oMathPara xmlns:m="http://schemas.openxmlformats.org/officeDocument/2006/math">
                    <m:oMath>
                      <m:r>
                        <m:rPr>
                          <m:sty m:val="p"/>
                        </m:rPr>
                        <a:rPr lang="en-US" sz="1800" b="0" i="1"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Σ</m:t>
                      </m:r>
                    </m:oMath>
                  </m:oMathPara>
                </a14:m>
                <a:endParaRPr lang="en-US" sz="180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27" name="TextBox 26">
                <a:extLst>
                  <a:ext uri="{FF2B5EF4-FFF2-40B4-BE49-F238E27FC236}">
                    <a16:creationId xmlns:a16="http://schemas.microsoft.com/office/drawing/2014/main" id="{4E226109-4540-6BEA-CE24-3829B8FD3B23}"/>
                  </a:ext>
                </a:extLst>
              </p:cNvPr>
              <p:cNvSpPr txBox="1">
                <a:spLocks noRot="1" noChangeAspect="1" noMove="1" noResize="1" noEditPoints="1" noAdjustHandles="1" noChangeArrowheads="1" noChangeShapeType="1" noTextEdit="1"/>
              </p:cNvSpPr>
              <p:nvPr/>
            </p:nvSpPr>
            <p:spPr>
              <a:xfrm>
                <a:off x="3127020" y="2066837"/>
                <a:ext cx="1114425" cy="369332"/>
              </a:xfrm>
              <a:prstGeom prst="rect">
                <a:avLst/>
              </a:prstGeom>
              <a:blipFill>
                <a:blip r:embed="rId4"/>
                <a:stretch>
                  <a:fillRect/>
                </a:stretch>
              </a:blipFill>
              <a:ln>
                <a:solidFill>
                  <a:schemeClr val="accent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8C337ED9-F429-81E6-24A9-FD5EC7DF45DB}"/>
                  </a:ext>
                </a:extLst>
              </p:cNvPr>
              <p:cNvSpPr txBox="1"/>
              <p:nvPr/>
            </p:nvSpPr>
            <p:spPr>
              <a:xfrm>
                <a:off x="6412771" y="2039839"/>
                <a:ext cx="1114425" cy="369332"/>
              </a:xfrm>
              <a:prstGeom prst="rect">
                <a:avLst/>
              </a:prstGeom>
              <a:noFill/>
              <a:ln>
                <a:solidFill>
                  <a:schemeClr val="accent1"/>
                </a:solidFill>
              </a:ln>
            </p:spPr>
            <p:txBody>
              <a:bodyPr wrap="square" rtlCol="0">
                <a:spAutoFit/>
              </a:bodyPr>
              <a:lstStyle/>
              <a:p>
                <a:pPr algn="ctr"/>
                <a14:m>
                  <m:oMathPara xmlns:m="http://schemas.openxmlformats.org/officeDocument/2006/math">
                    <m:oMathParaPr>
                      <m:jc m:val="center"/>
                    </m:oMathParaPr>
                    <m:oMath>
                      <m:sSup>
                        <m:sSupPr>
                          <m:ctrlPr>
                            <a:rPr lang="en-US" sz="1800" b="0" i="1" smtClean="0">
                              <a:solidFill>
                                <a:schemeClr val="bg2"/>
                              </a:solidFill>
                              <a:latin typeface="Cambria Math" panose="02040503050406030204" pitchFamily="18" charset="0"/>
                              <a:ea typeface="Open Sans" panose="020B0606030504020204" pitchFamily="34" charset="0"/>
                              <a:cs typeface="Open Sans" panose="020B0606030504020204" pitchFamily="34" charset="0"/>
                            </a:rPr>
                          </m:ctrlPr>
                        </m:sSupPr>
                        <m:e>
                          <m:r>
                            <a:rPr lang="en-US" sz="1800" b="0" i="1"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𝑉</m:t>
                          </m:r>
                        </m:e>
                        <m:sup>
                          <m:r>
                            <a:rPr lang="en-US" sz="1800" b="0" i="1" smtClean="0">
                              <a:solidFill>
                                <a:schemeClr val="bg2"/>
                              </a:solidFill>
                              <a:latin typeface="Cambria Math" panose="02040503050406030204" pitchFamily="18" charset="0"/>
                              <a:ea typeface="Open Sans" panose="020B0606030504020204" pitchFamily="34" charset="0"/>
                              <a:cs typeface="Open Sans" panose="020B0606030504020204" pitchFamily="34" charset="0"/>
                            </a:rPr>
                            <m:t>𝑇</m:t>
                          </m:r>
                        </m:sup>
                      </m:sSup>
                    </m:oMath>
                  </m:oMathPara>
                </a14:m>
                <a:endParaRPr lang="en-US" sz="1800" b="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28" name="TextBox 27">
                <a:extLst>
                  <a:ext uri="{FF2B5EF4-FFF2-40B4-BE49-F238E27FC236}">
                    <a16:creationId xmlns:a16="http://schemas.microsoft.com/office/drawing/2014/main" id="{8C337ED9-F429-81E6-24A9-FD5EC7DF45DB}"/>
                  </a:ext>
                </a:extLst>
              </p:cNvPr>
              <p:cNvSpPr txBox="1">
                <a:spLocks noRot="1" noChangeAspect="1" noMove="1" noResize="1" noEditPoints="1" noAdjustHandles="1" noChangeArrowheads="1" noChangeShapeType="1" noTextEdit="1"/>
              </p:cNvSpPr>
              <p:nvPr/>
            </p:nvSpPr>
            <p:spPr>
              <a:xfrm>
                <a:off x="6412771" y="2039839"/>
                <a:ext cx="1114425" cy="369332"/>
              </a:xfrm>
              <a:prstGeom prst="rect">
                <a:avLst/>
              </a:prstGeom>
              <a:blipFill>
                <a:blip r:embed="rId5"/>
                <a:stretch>
                  <a:fillRect/>
                </a:stretch>
              </a:blipFill>
              <a:ln>
                <a:solidFill>
                  <a:schemeClr val="accent1"/>
                </a:solidFill>
              </a:ln>
            </p:spPr>
            <p:txBody>
              <a:bodyPr/>
              <a:lstStyle/>
              <a:p>
                <a:r>
                  <a:rPr lang="en-US">
                    <a:noFill/>
                  </a:rPr>
                  <a:t> </a:t>
                </a:r>
              </a:p>
            </p:txBody>
          </p:sp>
        </mc:Fallback>
      </mc:AlternateContent>
    </p:spTree>
    <p:extLst>
      <p:ext uri="{BB962C8B-B14F-4D97-AF65-F5344CB8AC3E}">
        <p14:creationId xmlns:p14="http://schemas.microsoft.com/office/powerpoint/2010/main" val="206598739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0BE90C-5824-B025-2D45-9E10A1D31AC5}"/>
            </a:ext>
          </a:extLst>
        </p:cNvPr>
        <p:cNvGrpSpPr/>
        <p:nvPr/>
      </p:nvGrpSpPr>
      <p:grpSpPr>
        <a:xfrm>
          <a:off x="0" y="0"/>
          <a:ext cx="0" cy="0"/>
          <a:chOff x="0" y="0"/>
          <a:chExt cx="0" cy="0"/>
        </a:xfrm>
      </p:grpSpPr>
      <p:graphicFrame>
        <p:nvGraphicFramePr>
          <p:cNvPr id="8" name="Table 7">
            <a:extLst>
              <a:ext uri="{FF2B5EF4-FFF2-40B4-BE49-F238E27FC236}">
                <a16:creationId xmlns:a16="http://schemas.microsoft.com/office/drawing/2014/main" id="{6C9872F2-BA57-614F-1238-309F9FD1B8DE}"/>
              </a:ext>
            </a:extLst>
          </p:cNvPr>
          <p:cNvGraphicFramePr>
            <a:graphicFrameLocks noGrp="1"/>
          </p:cNvGraphicFramePr>
          <p:nvPr/>
        </p:nvGraphicFramePr>
        <p:xfrm>
          <a:off x="872092" y="1820108"/>
          <a:ext cx="1114425" cy="2827020"/>
        </p:xfrm>
        <a:graphic>
          <a:graphicData uri="http://schemas.openxmlformats.org/drawingml/2006/table">
            <a:tbl>
              <a:tblPr/>
              <a:tblGrid>
                <a:gridCol w="561975">
                  <a:extLst>
                    <a:ext uri="{9D8B030D-6E8A-4147-A177-3AD203B41FA5}">
                      <a16:colId xmlns:a16="http://schemas.microsoft.com/office/drawing/2014/main" val="2272479392"/>
                    </a:ext>
                  </a:extLst>
                </a:gridCol>
                <a:gridCol w="552450">
                  <a:extLst>
                    <a:ext uri="{9D8B030D-6E8A-4147-A177-3AD203B41FA5}">
                      <a16:colId xmlns:a16="http://schemas.microsoft.com/office/drawing/2014/main" val="2539191863"/>
                    </a:ext>
                  </a:extLst>
                </a:gridCol>
              </a:tblGrid>
              <a:tr h="0">
                <a:tc>
                  <a:txBody>
                    <a:bodyPr/>
                    <a:lstStyle/>
                    <a:p>
                      <a:pPr algn="ctr" rtl="0" fontAlgn="ctr">
                        <a:buNone/>
                      </a:pPr>
                      <a:r>
                        <a:rPr lang="en-US" sz="1400" b="0" i="0" u="none" strike="noStrike">
                          <a:solidFill>
                            <a:srgbClr val="000000"/>
                          </a:solidFill>
                          <a:effectLst/>
                          <a:latin typeface="Arial" panose="020B0604020202020204" pitchFamily="34" charset="0"/>
                        </a:rPr>
                        <a:t>0.18</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rgbClr val="000000"/>
                          </a:solidFill>
                          <a:effectLst/>
                          <a:latin typeface="Arial" panose="020B0604020202020204" pitchFamily="34" charset="0"/>
                        </a:rPr>
                        <a:t>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1325200620"/>
                  </a:ext>
                </a:extLst>
              </a:tr>
              <a:tr h="0">
                <a:tc>
                  <a:txBody>
                    <a:bodyPr/>
                    <a:lstStyle/>
                    <a:p>
                      <a:pPr algn="ctr" rtl="0" fontAlgn="ctr">
                        <a:buNone/>
                      </a:pPr>
                      <a:r>
                        <a:rPr lang="en-US" sz="1400" b="0" i="0" u="none" strike="noStrike">
                          <a:solidFill>
                            <a:srgbClr val="000000"/>
                          </a:solidFill>
                          <a:effectLst/>
                          <a:latin typeface="Arial" panose="020B0604020202020204" pitchFamily="34" charset="0"/>
                        </a:rPr>
                        <a:t>0.36</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dirty="0">
                          <a:solidFill>
                            <a:srgbClr val="000000"/>
                          </a:solidFill>
                          <a:effectLst/>
                          <a:latin typeface="Arial" panose="020B0604020202020204" pitchFamily="34" charset="0"/>
                        </a:rPr>
                        <a:t>0</a:t>
                      </a:r>
                      <a:endParaRPr lang="en-US" dirty="0">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3104249073"/>
                  </a:ext>
                </a:extLst>
              </a:tr>
              <a:tr h="0">
                <a:tc>
                  <a:txBody>
                    <a:bodyPr/>
                    <a:lstStyle/>
                    <a:p>
                      <a:pPr algn="ctr" rtl="0" fontAlgn="ctr">
                        <a:buNone/>
                      </a:pPr>
                      <a:r>
                        <a:rPr lang="en-US" sz="1400" b="0" i="0" u="none" strike="noStrike">
                          <a:solidFill>
                            <a:srgbClr val="000000"/>
                          </a:solidFill>
                          <a:effectLst/>
                          <a:latin typeface="Arial" panose="020B0604020202020204" pitchFamily="34" charset="0"/>
                        </a:rPr>
                        <a:t>0.18</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rgbClr val="000000"/>
                          </a:solidFill>
                          <a:effectLst/>
                          <a:latin typeface="Arial" panose="020B0604020202020204" pitchFamily="34" charset="0"/>
                        </a:rPr>
                        <a:t>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2529714146"/>
                  </a:ext>
                </a:extLst>
              </a:tr>
              <a:tr h="0">
                <a:tc>
                  <a:txBody>
                    <a:bodyPr/>
                    <a:lstStyle/>
                    <a:p>
                      <a:pPr algn="ctr" rtl="0" fontAlgn="ctr">
                        <a:buNone/>
                      </a:pPr>
                      <a:r>
                        <a:rPr lang="en-US" sz="1400" b="0" i="0" u="none" strike="noStrike">
                          <a:solidFill>
                            <a:srgbClr val="000000"/>
                          </a:solidFill>
                          <a:effectLst/>
                          <a:latin typeface="Arial" panose="020B0604020202020204" pitchFamily="34" charset="0"/>
                        </a:rPr>
                        <a:t>0.90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rgbClr val="000000"/>
                          </a:solidFill>
                          <a:effectLst/>
                          <a:latin typeface="Arial" panose="020B0604020202020204" pitchFamily="34" charset="0"/>
                        </a:rPr>
                        <a:t>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433969260"/>
                  </a:ext>
                </a:extLst>
              </a:tr>
              <a:tr h="0">
                <a:tc>
                  <a:txBody>
                    <a:bodyPr/>
                    <a:lstStyle/>
                    <a:p>
                      <a:pPr algn="ctr" rtl="0" fontAlgn="ctr">
                        <a:buNone/>
                      </a:pPr>
                      <a:r>
                        <a:rPr lang="en-US" sz="1400" b="0" i="0" u="none" strike="noStrike">
                          <a:solidFill>
                            <a:srgbClr val="000000"/>
                          </a:solidFill>
                          <a:effectLst/>
                          <a:latin typeface="Arial" panose="020B0604020202020204" pitchFamily="34" charset="0"/>
                        </a:rPr>
                        <a:t>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rgbClr val="000000"/>
                          </a:solidFill>
                          <a:effectLst/>
                          <a:latin typeface="Arial" panose="020B0604020202020204" pitchFamily="34" charset="0"/>
                        </a:rPr>
                        <a:t>0.53</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1335701321"/>
                  </a:ext>
                </a:extLst>
              </a:tr>
              <a:tr h="0">
                <a:tc>
                  <a:txBody>
                    <a:bodyPr/>
                    <a:lstStyle/>
                    <a:p>
                      <a:pPr algn="ctr" rtl="0" fontAlgn="ctr">
                        <a:buNone/>
                      </a:pPr>
                      <a:r>
                        <a:rPr lang="en-US" sz="1400" b="0" i="0" u="none" strike="noStrike">
                          <a:solidFill>
                            <a:srgbClr val="000000"/>
                          </a:solidFill>
                          <a:effectLst/>
                          <a:latin typeface="Arial" panose="020B0604020202020204" pitchFamily="34" charset="0"/>
                        </a:rPr>
                        <a:t>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rgbClr val="000000"/>
                          </a:solidFill>
                          <a:effectLst/>
                          <a:latin typeface="Arial" panose="020B0604020202020204" pitchFamily="34" charset="0"/>
                        </a:rPr>
                        <a:t>0.80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2370354746"/>
                  </a:ext>
                </a:extLst>
              </a:tr>
              <a:tr h="0">
                <a:tc>
                  <a:txBody>
                    <a:bodyPr/>
                    <a:lstStyle/>
                    <a:p>
                      <a:pPr algn="ctr" rtl="0" fontAlgn="ctr">
                        <a:buNone/>
                      </a:pPr>
                      <a:r>
                        <a:rPr lang="en-US" sz="1400" b="0" i="0" u="none" strike="noStrike">
                          <a:solidFill>
                            <a:srgbClr val="000000"/>
                          </a:solidFill>
                          <a:effectLst/>
                          <a:latin typeface="Arial" panose="020B0604020202020204" pitchFamily="34" charset="0"/>
                        </a:rPr>
                        <a:t>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dirty="0">
                          <a:solidFill>
                            <a:srgbClr val="000000"/>
                          </a:solidFill>
                          <a:effectLst/>
                          <a:latin typeface="Arial" panose="020B0604020202020204" pitchFamily="34" charset="0"/>
                        </a:rPr>
                        <a:t>0.27</a:t>
                      </a:r>
                      <a:endParaRPr lang="en-US" dirty="0">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4250486402"/>
                  </a:ext>
                </a:extLst>
              </a:tr>
            </a:tbl>
          </a:graphicData>
        </a:graphic>
      </p:graphicFrame>
      <p:sp>
        <p:nvSpPr>
          <p:cNvPr id="9" name="Rectangle 2">
            <a:extLst>
              <a:ext uri="{FF2B5EF4-FFF2-40B4-BE49-F238E27FC236}">
                <a16:creationId xmlns:a16="http://schemas.microsoft.com/office/drawing/2014/main" id="{CC635C63-5E49-84B0-31D4-79439E6177DB}"/>
              </a:ext>
            </a:extLst>
          </p:cNvPr>
          <p:cNvSpPr>
            <a:spLocks noChangeArrowheads="1"/>
          </p:cNvSpPr>
          <p:nvPr/>
        </p:nvSpPr>
        <p:spPr bwMode="auto">
          <a:xfrm>
            <a:off x="302455" y="1481797"/>
            <a:ext cx="2648481"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a:ln>
                  <a:noFill/>
                </a:ln>
                <a:solidFill>
                  <a:schemeClr val="bg2"/>
                </a:solidFill>
                <a:effectLst/>
                <a:latin typeface="Open Sans" panose="020B0606030504020204" pitchFamily="34" charset="0"/>
                <a:ea typeface="Open Sans" panose="020B0606030504020204" pitchFamily="34" charset="0"/>
                <a:cs typeface="Open Sans" panose="020B0606030504020204" pitchFamily="34" charset="0"/>
              </a:rPr>
              <a:t>doc-to-concept similarity matrix</a:t>
            </a:r>
            <a:endParaRPr kumimoji="0" lang="en-US" altLang="en-US" sz="1800" b="0" i="0" u="none" strike="noStrike" cap="none" normalizeH="0" baseline="0" dirty="0">
              <a:ln>
                <a:noFill/>
              </a:ln>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p:txBody>
      </p:sp>
      <p:graphicFrame>
        <p:nvGraphicFramePr>
          <p:cNvPr id="10" name="Table 9">
            <a:extLst>
              <a:ext uri="{FF2B5EF4-FFF2-40B4-BE49-F238E27FC236}">
                <a16:creationId xmlns:a16="http://schemas.microsoft.com/office/drawing/2014/main" id="{92883A17-9237-D54F-CD51-E56FF86A997C}"/>
              </a:ext>
            </a:extLst>
          </p:cNvPr>
          <p:cNvGraphicFramePr>
            <a:graphicFrameLocks noGrp="1"/>
          </p:cNvGraphicFramePr>
          <p:nvPr/>
        </p:nvGraphicFramePr>
        <p:xfrm>
          <a:off x="3127020" y="2753662"/>
          <a:ext cx="1114425" cy="807720"/>
        </p:xfrm>
        <a:graphic>
          <a:graphicData uri="http://schemas.openxmlformats.org/drawingml/2006/table">
            <a:tbl>
              <a:tblPr/>
              <a:tblGrid>
                <a:gridCol w="561975">
                  <a:extLst>
                    <a:ext uri="{9D8B030D-6E8A-4147-A177-3AD203B41FA5}">
                      <a16:colId xmlns:a16="http://schemas.microsoft.com/office/drawing/2014/main" val="4243659018"/>
                    </a:ext>
                  </a:extLst>
                </a:gridCol>
                <a:gridCol w="552450">
                  <a:extLst>
                    <a:ext uri="{9D8B030D-6E8A-4147-A177-3AD203B41FA5}">
                      <a16:colId xmlns:a16="http://schemas.microsoft.com/office/drawing/2014/main" val="1089689707"/>
                    </a:ext>
                  </a:extLst>
                </a:gridCol>
              </a:tblGrid>
              <a:tr h="0">
                <a:tc>
                  <a:txBody>
                    <a:bodyPr/>
                    <a:lstStyle/>
                    <a:p>
                      <a:pPr algn="ctr" rtl="0" fontAlgn="ctr">
                        <a:buNone/>
                      </a:pPr>
                      <a:r>
                        <a:rPr lang="en-US" sz="1400" b="0" i="0" u="none" strike="noStrike">
                          <a:solidFill>
                            <a:srgbClr val="000000"/>
                          </a:solidFill>
                          <a:effectLst/>
                          <a:latin typeface="Arial" panose="020B0604020202020204" pitchFamily="34" charset="0"/>
                        </a:rPr>
                        <a:t>9.64</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rgbClr val="000000"/>
                          </a:solidFill>
                          <a:effectLst/>
                          <a:latin typeface="Arial" panose="020B0604020202020204" pitchFamily="34" charset="0"/>
                        </a:rPr>
                        <a:t>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2155136396"/>
                  </a:ext>
                </a:extLst>
              </a:tr>
              <a:tr h="0">
                <a:tc>
                  <a:txBody>
                    <a:bodyPr/>
                    <a:lstStyle/>
                    <a:p>
                      <a:pPr algn="ctr" rtl="0" fontAlgn="ctr">
                        <a:buNone/>
                      </a:pPr>
                      <a:r>
                        <a:rPr lang="en-US" sz="1400" b="0" i="0" u="none" strike="noStrike">
                          <a:solidFill>
                            <a:srgbClr val="000000"/>
                          </a:solidFill>
                          <a:effectLst/>
                          <a:latin typeface="Arial" panose="020B0604020202020204" pitchFamily="34" charset="0"/>
                        </a:rPr>
                        <a:t>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dirty="0">
                          <a:solidFill>
                            <a:srgbClr val="000000"/>
                          </a:solidFill>
                          <a:effectLst/>
                          <a:latin typeface="Arial" panose="020B0604020202020204" pitchFamily="34" charset="0"/>
                        </a:rPr>
                        <a:t>5.29</a:t>
                      </a:r>
                      <a:endParaRPr lang="en-US" dirty="0">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508559091"/>
                  </a:ext>
                </a:extLst>
              </a:tr>
            </a:tbl>
          </a:graphicData>
        </a:graphic>
      </p:graphicFrame>
      <p:sp>
        <p:nvSpPr>
          <p:cNvPr id="11" name="Rectangle 3">
            <a:extLst>
              <a:ext uri="{FF2B5EF4-FFF2-40B4-BE49-F238E27FC236}">
                <a16:creationId xmlns:a16="http://schemas.microsoft.com/office/drawing/2014/main" id="{68FFC10B-4076-FE53-A568-F0A7A95F7980}"/>
              </a:ext>
            </a:extLst>
          </p:cNvPr>
          <p:cNvSpPr>
            <a:spLocks noChangeArrowheads="1"/>
          </p:cNvSpPr>
          <p:nvPr/>
        </p:nvSpPr>
        <p:spPr bwMode="auto">
          <a:xfrm>
            <a:off x="2106415" y="2039839"/>
            <a:ext cx="2836033" cy="18004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a:ln>
                  <a:noFill/>
                </a:ln>
                <a:solidFill>
                  <a:schemeClr val="bg2"/>
                </a:solidFill>
                <a:effectLst/>
                <a:latin typeface="Open Sans" panose="020B0606030504020204" pitchFamily="34" charset="0"/>
                <a:ea typeface="Open Sans" panose="020B0606030504020204" pitchFamily="34" charset="0"/>
                <a:cs typeface="Open Sans" panose="020B060603050402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30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a:ln>
                  <a:noFill/>
                </a:ln>
                <a:solidFill>
                  <a:schemeClr val="bg2"/>
                </a:solidFill>
                <a:effectLst/>
                <a:latin typeface="Open Sans" panose="020B0606030504020204" pitchFamily="34" charset="0"/>
                <a:ea typeface="Open Sans" panose="020B0606030504020204" pitchFamily="34" charset="0"/>
                <a:cs typeface="Open Sans" panose="020B0606030504020204" pitchFamily="34" charset="0"/>
              </a:rPr>
              <a:t>              “strength” of each concept</a:t>
            </a:r>
            <a:endParaRPr kumimoji="0" lang="en-US" altLang="en-US" sz="600" b="0" i="0" u="none" strike="noStrike" cap="none" normalizeH="0" baseline="0" dirty="0">
              <a:ln>
                <a:noFill/>
              </a:ln>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dirty="0">
                <a:ln>
                  <a:noFill/>
                </a:ln>
                <a:solidFill>
                  <a:schemeClr val="bg2"/>
                </a:solidFill>
                <a:effectLst/>
                <a:latin typeface="Open Sans" panose="020B0606030504020204" pitchFamily="34" charset="0"/>
                <a:ea typeface="Open Sans" panose="020B0606030504020204" pitchFamily="34" charset="0"/>
                <a:cs typeface="Open Sans" panose="020B0606030504020204" pitchFamily="34" charset="0"/>
              </a:rPr>
            </a:br>
            <a:endParaRPr kumimoji="0" lang="en-US" altLang="en-US" sz="1800" b="0" i="0" u="none" strike="noStrike" cap="none" normalizeH="0" baseline="0" dirty="0">
              <a:ln>
                <a:noFill/>
              </a:ln>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dirty="0">
                <a:ln>
                  <a:noFill/>
                </a:ln>
                <a:solidFill>
                  <a:schemeClr val="bg2"/>
                </a:solidFill>
                <a:effectLst/>
                <a:latin typeface="Open Sans" panose="020B0606030504020204" pitchFamily="34" charset="0"/>
                <a:ea typeface="Open Sans" panose="020B0606030504020204" pitchFamily="34" charset="0"/>
                <a:cs typeface="Open Sans" panose="020B0606030504020204" pitchFamily="34" charset="0"/>
              </a:rPr>
            </a:br>
            <a:endParaRPr kumimoji="0" lang="en-US" altLang="en-US" sz="1800" b="0" i="0" u="none" strike="noStrike" cap="none" normalizeH="0" baseline="0" dirty="0">
              <a:ln>
                <a:noFill/>
              </a:ln>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p:txBody>
      </p:sp>
      <p:graphicFrame>
        <p:nvGraphicFramePr>
          <p:cNvPr id="16" name="Table 15">
            <a:extLst>
              <a:ext uri="{FF2B5EF4-FFF2-40B4-BE49-F238E27FC236}">
                <a16:creationId xmlns:a16="http://schemas.microsoft.com/office/drawing/2014/main" id="{41FF395E-3065-75F0-1837-BBFB8255F3F3}"/>
              </a:ext>
            </a:extLst>
          </p:cNvPr>
          <p:cNvGraphicFramePr>
            <a:graphicFrameLocks noGrp="1"/>
          </p:cNvGraphicFramePr>
          <p:nvPr/>
        </p:nvGraphicFramePr>
        <p:xfrm>
          <a:off x="5517423" y="2753662"/>
          <a:ext cx="2905125" cy="807720"/>
        </p:xfrm>
        <a:graphic>
          <a:graphicData uri="http://schemas.openxmlformats.org/drawingml/2006/table">
            <a:tbl>
              <a:tblPr/>
              <a:tblGrid>
                <a:gridCol w="581025">
                  <a:extLst>
                    <a:ext uri="{9D8B030D-6E8A-4147-A177-3AD203B41FA5}">
                      <a16:colId xmlns:a16="http://schemas.microsoft.com/office/drawing/2014/main" val="3366053481"/>
                    </a:ext>
                  </a:extLst>
                </a:gridCol>
                <a:gridCol w="581025">
                  <a:extLst>
                    <a:ext uri="{9D8B030D-6E8A-4147-A177-3AD203B41FA5}">
                      <a16:colId xmlns:a16="http://schemas.microsoft.com/office/drawing/2014/main" val="1886804556"/>
                    </a:ext>
                  </a:extLst>
                </a:gridCol>
                <a:gridCol w="581025">
                  <a:extLst>
                    <a:ext uri="{9D8B030D-6E8A-4147-A177-3AD203B41FA5}">
                      <a16:colId xmlns:a16="http://schemas.microsoft.com/office/drawing/2014/main" val="333373658"/>
                    </a:ext>
                  </a:extLst>
                </a:gridCol>
                <a:gridCol w="581025">
                  <a:extLst>
                    <a:ext uri="{9D8B030D-6E8A-4147-A177-3AD203B41FA5}">
                      <a16:colId xmlns:a16="http://schemas.microsoft.com/office/drawing/2014/main" val="134857957"/>
                    </a:ext>
                  </a:extLst>
                </a:gridCol>
                <a:gridCol w="581025">
                  <a:extLst>
                    <a:ext uri="{9D8B030D-6E8A-4147-A177-3AD203B41FA5}">
                      <a16:colId xmlns:a16="http://schemas.microsoft.com/office/drawing/2014/main" val="89821631"/>
                    </a:ext>
                  </a:extLst>
                </a:gridCol>
              </a:tblGrid>
              <a:tr h="0">
                <a:tc>
                  <a:txBody>
                    <a:bodyPr/>
                    <a:lstStyle/>
                    <a:p>
                      <a:pPr algn="ctr" rtl="0" fontAlgn="ctr">
                        <a:buNone/>
                      </a:pPr>
                      <a:r>
                        <a:rPr lang="en-US" sz="1400" b="0" i="0" u="none" strike="noStrike">
                          <a:solidFill>
                            <a:srgbClr val="000000"/>
                          </a:solidFill>
                          <a:effectLst/>
                          <a:latin typeface="Arial" panose="020B0604020202020204" pitchFamily="34" charset="0"/>
                        </a:rPr>
                        <a:t>0.58</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rgbClr val="000000"/>
                          </a:solidFill>
                          <a:effectLst/>
                          <a:latin typeface="Arial" panose="020B0604020202020204" pitchFamily="34" charset="0"/>
                        </a:rPr>
                        <a:t>0.58</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rgbClr val="000000"/>
                          </a:solidFill>
                          <a:effectLst/>
                          <a:latin typeface="Arial" panose="020B0604020202020204" pitchFamily="34" charset="0"/>
                        </a:rPr>
                        <a:t>0.58</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rgbClr val="000000"/>
                          </a:solidFill>
                          <a:effectLst/>
                          <a:latin typeface="Arial" panose="020B0604020202020204" pitchFamily="34" charset="0"/>
                        </a:rPr>
                        <a:t>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rgbClr val="000000"/>
                          </a:solidFill>
                          <a:effectLst/>
                          <a:latin typeface="Arial" panose="020B0604020202020204" pitchFamily="34" charset="0"/>
                        </a:rPr>
                        <a:t>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3847509535"/>
                  </a:ext>
                </a:extLst>
              </a:tr>
              <a:tr h="0">
                <a:tc>
                  <a:txBody>
                    <a:bodyPr/>
                    <a:lstStyle/>
                    <a:p>
                      <a:pPr algn="ctr" rtl="0" fontAlgn="ctr">
                        <a:buNone/>
                      </a:pPr>
                      <a:r>
                        <a:rPr lang="en-US" sz="1400" b="0" i="0" u="none" strike="noStrike">
                          <a:solidFill>
                            <a:srgbClr val="000000"/>
                          </a:solidFill>
                          <a:effectLst/>
                          <a:latin typeface="Arial" panose="020B0604020202020204" pitchFamily="34" charset="0"/>
                        </a:rPr>
                        <a:t>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rgbClr val="000000"/>
                          </a:solidFill>
                          <a:effectLst/>
                          <a:latin typeface="Arial" panose="020B0604020202020204" pitchFamily="34" charset="0"/>
                        </a:rPr>
                        <a:t>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dirty="0">
                          <a:solidFill>
                            <a:srgbClr val="000000"/>
                          </a:solidFill>
                          <a:effectLst/>
                          <a:latin typeface="Arial" panose="020B0604020202020204" pitchFamily="34" charset="0"/>
                        </a:rPr>
                        <a:t>0</a:t>
                      </a:r>
                      <a:endParaRPr lang="en-US" dirty="0">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rgbClr val="000000"/>
                          </a:solidFill>
                          <a:effectLst/>
                          <a:latin typeface="Arial" panose="020B0604020202020204" pitchFamily="34" charset="0"/>
                        </a:rPr>
                        <a:t>0.71</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dirty="0">
                          <a:solidFill>
                            <a:srgbClr val="000000"/>
                          </a:solidFill>
                          <a:effectLst/>
                          <a:latin typeface="Arial" panose="020B0604020202020204" pitchFamily="34" charset="0"/>
                        </a:rPr>
                        <a:t>0.71</a:t>
                      </a:r>
                      <a:endParaRPr lang="en-US" dirty="0">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141670811"/>
                  </a:ext>
                </a:extLst>
              </a:tr>
            </a:tbl>
          </a:graphicData>
        </a:graphic>
      </p:graphicFrame>
      <p:sp>
        <p:nvSpPr>
          <p:cNvPr id="17" name="Rectangle 4">
            <a:extLst>
              <a:ext uri="{FF2B5EF4-FFF2-40B4-BE49-F238E27FC236}">
                <a16:creationId xmlns:a16="http://schemas.microsoft.com/office/drawing/2014/main" id="{DEEF28C2-32B5-5D17-D6FD-0B7990C1E8B4}"/>
              </a:ext>
            </a:extLst>
          </p:cNvPr>
          <p:cNvSpPr>
            <a:spLocks noChangeArrowheads="1"/>
          </p:cNvSpPr>
          <p:nvPr/>
        </p:nvSpPr>
        <p:spPr bwMode="auto">
          <a:xfrm>
            <a:off x="5600058" y="2380661"/>
            <a:ext cx="2739853"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a:ln>
                  <a:noFill/>
                </a:ln>
                <a:solidFill>
                  <a:schemeClr val="bg2"/>
                </a:solidFill>
                <a:effectLst/>
                <a:latin typeface="Open Sans" panose="020B0606030504020204" pitchFamily="34" charset="0"/>
                <a:ea typeface="Open Sans" panose="020B0606030504020204" pitchFamily="34" charset="0"/>
                <a:cs typeface="Open Sans" panose="020B0606030504020204" pitchFamily="34" charset="0"/>
              </a:rPr>
              <a:t>term-to-concept similarity matrix</a:t>
            </a:r>
            <a:endParaRPr kumimoji="0" lang="en-US" altLang="en-US" sz="1800" b="0" i="0" u="none" strike="noStrike" cap="none" normalizeH="0" baseline="0">
              <a:ln>
                <a:noFill/>
              </a:ln>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p:txBody>
      </p:sp>
      <p:sp>
        <p:nvSpPr>
          <p:cNvPr id="18" name="Equal 17">
            <a:extLst>
              <a:ext uri="{FF2B5EF4-FFF2-40B4-BE49-F238E27FC236}">
                <a16:creationId xmlns:a16="http://schemas.microsoft.com/office/drawing/2014/main" id="{591F83E1-E08E-7FC0-5F20-E491BA035558}"/>
              </a:ext>
            </a:extLst>
          </p:cNvPr>
          <p:cNvSpPr/>
          <p:nvPr/>
        </p:nvSpPr>
        <p:spPr>
          <a:xfrm>
            <a:off x="272807" y="2854274"/>
            <a:ext cx="469535" cy="442299"/>
          </a:xfrm>
          <a:prstGeom prst="mathEqual">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9" name="Multiply 18">
            <a:extLst>
              <a:ext uri="{FF2B5EF4-FFF2-40B4-BE49-F238E27FC236}">
                <a16:creationId xmlns:a16="http://schemas.microsoft.com/office/drawing/2014/main" id="{A12BB278-2E20-48BE-9041-388742BBD9DE}"/>
              </a:ext>
            </a:extLst>
          </p:cNvPr>
          <p:cNvSpPr/>
          <p:nvPr/>
        </p:nvSpPr>
        <p:spPr>
          <a:xfrm>
            <a:off x="2397985" y="2940085"/>
            <a:ext cx="371848" cy="356488"/>
          </a:xfrm>
          <a:prstGeom prst="mathMultiply">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Multiply 19">
            <a:extLst>
              <a:ext uri="{FF2B5EF4-FFF2-40B4-BE49-F238E27FC236}">
                <a16:creationId xmlns:a16="http://schemas.microsoft.com/office/drawing/2014/main" id="{088AAC84-2B89-B74B-3FCB-00FDF9E98DF5}"/>
              </a:ext>
            </a:extLst>
          </p:cNvPr>
          <p:cNvSpPr/>
          <p:nvPr/>
        </p:nvSpPr>
        <p:spPr>
          <a:xfrm>
            <a:off x="4784556" y="2895371"/>
            <a:ext cx="371848" cy="356488"/>
          </a:xfrm>
          <a:prstGeom prst="mathMultiply">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3" name="Straight Arrow Connector 22">
            <a:extLst>
              <a:ext uri="{FF2B5EF4-FFF2-40B4-BE49-F238E27FC236}">
                <a16:creationId xmlns:a16="http://schemas.microsoft.com/office/drawing/2014/main" id="{F715BB80-8F3C-2C14-E1C3-B83AA55ECC29}"/>
              </a:ext>
            </a:extLst>
          </p:cNvPr>
          <p:cNvCxnSpPr>
            <a:cxnSpLocks/>
          </p:cNvCxnSpPr>
          <p:nvPr/>
        </p:nvCxnSpPr>
        <p:spPr>
          <a:xfrm flipH="1" flipV="1">
            <a:off x="1171852" y="4685293"/>
            <a:ext cx="1473694" cy="3008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4353011E-368D-2FD4-272C-06A06CB0A7DE}"/>
              </a:ext>
            </a:extLst>
          </p:cNvPr>
          <p:cNvSpPr txBox="1"/>
          <p:nvPr/>
        </p:nvSpPr>
        <p:spPr>
          <a:xfrm>
            <a:off x="2645546" y="4727599"/>
            <a:ext cx="1305017" cy="307777"/>
          </a:xfrm>
          <a:prstGeom prst="rect">
            <a:avLst/>
          </a:prstGeom>
          <a:noFill/>
          <a:ln>
            <a:solidFill>
              <a:schemeClr val="accent1"/>
            </a:solidFill>
          </a:ln>
        </p:spPr>
        <p:txBody>
          <a:bodyPr wrap="square" rtlCol="0">
            <a:spAutoFit/>
          </a:bodyPr>
          <a:lstStyle/>
          <a:p>
            <a:r>
              <a:rPr lang="en-US" dirty="0">
                <a:solidFill>
                  <a:schemeClr val="bg2"/>
                </a:solidFill>
                <a:latin typeface="Open Sans" panose="020B0606030504020204" pitchFamily="34" charset="0"/>
                <a:ea typeface="Open Sans" panose="020B0606030504020204" pitchFamily="34" charset="0"/>
                <a:cs typeface="Open Sans" panose="020B0606030504020204" pitchFamily="34" charset="0"/>
              </a:rPr>
              <a:t>CS Concept</a:t>
            </a:r>
          </a:p>
        </p:txBody>
      </p:sp>
    </p:spTree>
    <p:extLst>
      <p:ext uri="{BB962C8B-B14F-4D97-AF65-F5344CB8AC3E}">
        <p14:creationId xmlns:p14="http://schemas.microsoft.com/office/powerpoint/2010/main" val="183561071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DC0A3-D49A-D695-F550-FD1FE936D70F}"/>
            </a:ext>
          </a:extLst>
        </p:cNvPr>
        <p:cNvGrpSpPr/>
        <p:nvPr/>
      </p:nvGrpSpPr>
      <p:grpSpPr>
        <a:xfrm>
          <a:off x="0" y="0"/>
          <a:ext cx="0" cy="0"/>
          <a:chOff x="0" y="0"/>
          <a:chExt cx="0" cy="0"/>
        </a:xfrm>
      </p:grpSpPr>
      <p:graphicFrame>
        <p:nvGraphicFramePr>
          <p:cNvPr id="8" name="Table 7">
            <a:extLst>
              <a:ext uri="{FF2B5EF4-FFF2-40B4-BE49-F238E27FC236}">
                <a16:creationId xmlns:a16="http://schemas.microsoft.com/office/drawing/2014/main" id="{615FB919-B388-6F0E-FB18-92B3928804A9}"/>
              </a:ext>
            </a:extLst>
          </p:cNvPr>
          <p:cNvGraphicFramePr>
            <a:graphicFrameLocks noGrp="1"/>
          </p:cNvGraphicFramePr>
          <p:nvPr/>
        </p:nvGraphicFramePr>
        <p:xfrm>
          <a:off x="872092" y="1820108"/>
          <a:ext cx="1114425" cy="2827020"/>
        </p:xfrm>
        <a:graphic>
          <a:graphicData uri="http://schemas.openxmlformats.org/drawingml/2006/table">
            <a:tbl>
              <a:tblPr/>
              <a:tblGrid>
                <a:gridCol w="561975">
                  <a:extLst>
                    <a:ext uri="{9D8B030D-6E8A-4147-A177-3AD203B41FA5}">
                      <a16:colId xmlns:a16="http://schemas.microsoft.com/office/drawing/2014/main" val="2272479392"/>
                    </a:ext>
                  </a:extLst>
                </a:gridCol>
                <a:gridCol w="552450">
                  <a:extLst>
                    <a:ext uri="{9D8B030D-6E8A-4147-A177-3AD203B41FA5}">
                      <a16:colId xmlns:a16="http://schemas.microsoft.com/office/drawing/2014/main" val="2539191863"/>
                    </a:ext>
                  </a:extLst>
                </a:gridCol>
              </a:tblGrid>
              <a:tr h="0">
                <a:tc>
                  <a:txBody>
                    <a:bodyPr/>
                    <a:lstStyle/>
                    <a:p>
                      <a:pPr algn="ctr" rtl="0" fontAlgn="ctr">
                        <a:buNone/>
                      </a:pPr>
                      <a:r>
                        <a:rPr lang="en-US" sz="1400" b="0" i="0" u="none" strike="noStrike">
                          <a:solidFill>
                            <a:srgbClr val="000000"/>
                          </a:solidFill>
                          <a:effectLst/>
                          <a:latin typeface="Arial" panose="020B0604020202020204" pitchFamily="34" charset="0"/>
                        </a:rPr>
                        <a:t>0.18</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rgbClr val="000000"/>
                          </a:solidFill>
                          <a:effectLst/>
                          <a:latin typeface="Arial" panose="020B0604020202020204" pitchFamily="34" charset="0"/>
                        </a:rPr>
                        <a:t>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1325200620"/>
                  </a:ext>
                </a:extLst>
              </a:tr>
              <a:tr h="0">
                <a:tc>
                  <a:txBody>
                    <a:bodyPr/>
                    <a:lstStyle/>
                    <a:p>
                      <a:pPr algn="ctr" rtl="0" fontAlgn="ctr">
                        <a:buNone/>
                      </a:pPr>
                      <a:r>
                        <a:rPr lang="en-US" sz="1400" b="0" i="0" u="none" strike="noStrike">
                          <a:solidFill>
                            <a:srgbClr val="000000"/>
                          </a:solidFill>
                          <a:effectLst/>
                          <a:latin typeface="Arial" panose="020B0604020202020204" pitchFamily="34" charset="0"/>
                        </a:rPr>
                        <a:t>0.36</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dirty="0">
                          <a:solidFill>
                            <a:srgbClr val="000000"/>
                          </a:solidFill>
                          <a:effectLst/>
                          <a:latin typeface="Arial" panose="020B0604020202020204" pitchFamily="34" charset="0"/>
                        </a:rPr>
                        <a:t>0</a:t>
                      </a:r>
                      <a:endParaRPr lang="en-US" dirty="0">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3104249073"/>
                  </a:ext>
                </a:extLst>
              </a:tr>
              <a:tr h="0">
                <a:tc>
                  <a:txBody>
                    <a:bodyPr/>
                    <a:lstStyle/>
                    <a:p>
                      <a:pPr algn="ctr" rtl="0" fontAlgn="ctr">
                        <a:buNone/>
                      </a:pPr>
                      <a:r>
                        <a:rPr lang="en-US" sz="1400" b="0" i="0" u="none" strike="noStrike">
                          <a:solidFill>
                            <a:srgbClr val="000000"/>
                          </a:solidFill>
                          <a:effectLst/>
                          <a:latin typeface="Arial" panose="020B0604020202020204" pitchFamily="34" charset="0"/>
                        </a:rPr>
                        <a:t>0.18</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rgbClr val="000000"/>
                          </a:solidFill>
                          <a:effectLst/>
                          <a:latin typeface="Arial" panose="020B0604020202020204" pitchFamily="34" charset="0"/>
                        </a:rPr>
                        <a:t>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2529714146"/>
                  </a:ext>
                </a:extLst>
              </a:tr>
              <a:tr h="0">
                <a:tc>
                  <a:txBody>
                    <a:bodyPr/>
                    <a:lstStyle/>
                    <a:p>
                      <a:pPr algn="ctr" rtl="0" fontAlgn="ctr">
                        <a:buNone/>
                      </a:pPr>
                      <a:r>
                        <a:rPr lang="en-US" sz="1400" b="0" i="0" u="none" strike="noStrike">
                          <a:solidFill>
                            <a:srgbClr val="000000"/>
                          </a:solidFill>
                          <a:effectLst/>
                          <a:latin typeface="Arial" panose="020B0604020202020204" pitchFamily="34" charset="0"/>
                        </a:rPr>
                        <a:t>0.90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rgbClr val="000000"/>
                          </a:solidFill>
                          <a:effectLst/>
                          <a:latin typeface="Arial" panose="020B0604020202020204" pitchFamily="34" charset="0"/>
                        </a:rPr>
                        <a:t>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433969260"/>
                  </a:ext>
                </a:extLst>
              </a:tr>
              <a:tr h="0">
                <a:tc>
                  <a:txBody>
                    <a:bodyPr/>
                    <a:lstStyle/>
                    <a:p>
                      <a:pPr algn="ctr" rtl="0" fontAlgn="ctr">
                        <a:buNone/>
                      </a:pPr>
                      <a:r>
                        <a:rPr lang="en-US" sz="1400" b="0" i="0" u="none" strike="noStrike">
                          <a:solidFill>
                            <a:srgbClr val="000000"/>
                          </a:solidFill>
                          <a:effectLst/>
                          <a:latin typeface="Arial" panose="020B0604020202020204" pitchFamily="34" charset="0"/>
                        </a:rPr>
                        <a:t>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rgbClr val="000000"/>
                          </a:solidFill>
                          <a:effectLst/>
                          <a:latin typeface="Arial" panose="020B0604020202020204" pitchFamily="34" charset="0"/>
                        </a:rPr>
                        <a:t>0.53</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1335701321"/>
                  </a:ext>
                </a:extLst>
              </a:tr>
              <a:tr h="0">
                <a:tc>
                  <a:txBody>
                    <a:bodyPr/>
                    <a:lstStyle/>
                    <a:p>
                      <a:pPr algn="ctr" rtl="0" fontAlgn="ctr">
                        <a:buNone/>
                      </a:pPr>
                      <a:r>
                        <a:rPr lang="en-US" sz="1400" b="0" i="0" u="none" strike="noStrike">
                          <a:solidFill>
                            <a:srgbClr val="000000"/>
                          </a:solidFill>
                          <a:effectLst/>
                          <a:latin typeface="Arial" panose="020B0604020202020204" pitchFamily="34" charset="0"/>
                        </a:rPr>
                        <a:t>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rgbClr val="000000"/>
                          </a:solidFill>
                          <a:effectLst/>
                          <a:latin typeface="Arial" panose="020B0604020202020204" pitchFamily="34" charset="0"/>
                        </a:rPr>
                        <a:t>0.80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2370354746"/>
                  </a:ext>
                </a:extLst>
              </a:tr>
              <a:tr h="0">
                <a:tc>
                  <a:txBody>
                    <a:bodyPr/>
                    <a:lstStyle/>
                    <a:p>
                      <a:pPr algn="ctr" rtl="0" fontAlgn="ctr">
                        <a:buNone/>
                      </a:pPr>
                      <a:r>
                        <a:rPr lang="en-US" sz="1400" b="0" i="0" u="none" strike="noStrike">
                          <a:solidFill>
                            <a:srgbClr val="000000"/>
                          </a:solidFill>
                          <a:effectLst/>
                          <a:latin typeface="Arial" panose="020B0604020202020204" pitchFamily="34" charset="0"/>
                        </a:rPr>
                        <a:t>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dirty="0">
                          <a:solidFill>
                            <a:srgbClr val="000000"/>
                          </a:solidFill>
                          <a:effectLst/>
                          <a:latin typeface="Arial" panose="020B0604020202020204" pitchFamily="34" charset="0"/>
                        </a:rPr>
                        <a:t>0.27</a:t>
                      </a:r>
                      <a:endParaRPr lang="en-US" dirty="0">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4250486402"/>
                  </a:ext>
                </a:extLst>
              </a:tr>
            </a:tbl>
          </a:graphicData>
        </a:graphic>
      </p:graphicFrame>
      <p:sp>
        <p:nvSpPr>
          <p:cNvPr id="9" name="Rectangle 2">
            <a:extLst>
              <a:ext uri="{FF2B5EF4-FFF2-40B4-BE49-F238E27FC236}">
                <a16:creationId xmlns:a16="http://schemas.microsoft.com/office/drawing/2014/main" id="{F0103438-DCDC-F3E3-5E36-84188C39995E}"/>
              </a:ext>
            </a:extLst>
          </p:cNvPr>
          <p:cNvSpPr>
            <a:spLocks noChangeArrowheads="1"/>
          </p:cNvSpPr>
          <p:nvPr/>
        </p:nvSpPr>
        <p:spPr bwMode="auto">
          <a:xfrm>
            <a:off x="302455" y="1481797"/>
            <a:ext cx="2648481"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a:ln>
                  <a:noFill/>
                </a:ln>
                <a:solidFill>
                  <a:schemeClr val="bg2"/>
                </a:solidFill>
                <a:effectLst/>
                <a:latin typeface="Open Sans" panose="020B0606030504020204" pitchFamily="34" charset="0"/>
                <a:ea typeface="Open Sans" panose="020B0606030504020204" pitchFamily="34" charset="0"/>
                <a:cs typeface="Open Sans" panose="020B0606030504020204" pitchFamily="34" charset="0"/>
              </a:rPr>
              <a:t>doc-to-concept similarity matrix</a:t>
            </a:r>
            <a:endParaRPr kumimoji="0" lang="en-US" altLang="en-US" sz="1800" b="0" i="0" u="none" strike="noStrike" cap="none" normalizeH="0" baseline="0" dirty="0">
              <a:ln>
                <a:noFill/>
              </a:ln>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p:txBody>
      </p:sp>
      <p:graphicFrame>
        <p:nvGraphicFramePr>
          <p:cNvPr id="10" name="Table 9">
            <a:extLst>
              <a:ext uri="{FF2B5EF4-FFF2-40B4-BE49-F238E27FC236}">
                <a16:creationId xmlns:a16="http://schemas.microsoft.com/office/drawing/2014/main" id="{CC0DFB06-662C-1916-000C-548C173B534A}"/>
              </a:ext>
            </a:extLst>
          </p:cNvPr>
          <p:cNvGraphicFramePr>
            <a:graphicFrameLocks noGrp="1"/>
          </p:cNvGraphicFramePr>
          <p:nvPr/>
        </p:nvGraphicFramePr>
        <p:xfrm>
          <a:off x="3127020" y="2753662"/>
          <a:ext cx="1114425" cy="807720"/>
        </p:xfrm>
        <a:graphic>
          <a:graphicData uri="http://schemas.openxmlformats.org/drawingml/2006/table">
            <a:tbl>
              <a:tblPr/>
              <a:tblGrid>
                <a:gridCol w="561975">
                  <a:extLst>
                    <a:ext uri="{9D8B030D-6E8A-4147-A177-3AD203B41FA5}">
                      <a16:colId xmlns:a16="http://schemas.microsoft.com/office/drawing/2014/main" val="4243659018"/>
                    </a:ext>
                  </a:extLst>
                </a:gridCol>
                <a:gridCol w="552450">
                  <a:extLst>
                    <a:ext uri="{9D8B030D-6E8A-4147-A177-3AD203B41FA5}">
                      <a16:colId xmlns:a16="http://schemas.microsoft.com/office/drawing/2014/main" val="1089689707"/>
                    </a:ext>
                  </a:extLst>
                </a:gridCol>
              </a:tblGrid>
              <a:tr h="0">
                <a:tc>
                  <a:txBody>
                    <a:bodyPr/>
                    <a:lstStyle/>
                    <a:p>
                      <a:pPr algn="ctr" rtl="0" fontAlgn="ctr">
                        <a:buNone/>
                      </a:pPr>
                      <a:r>
                        <a:rPr lang="en-US" sz="1400" b="0" i="0" u="none" strike="noStrike">
                          <a:solidFill>
                            <a:srgbClr val="000000"/>
                          </a:solidFill>
                          <a:effectLst/>
                          <a:latin typeface="Arial" panose="020B0604020202020204" pitchFamily="34" charset="0"/>
                        </a:rPr>
                        <a:t>9.64</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rgbClr val="000000"/>
                          </a:solidFill>
                          <a:effectLst/>
                          <a:latin typeface="Arial" panose="020B0604020202020204" pitchFamily="34" charset="0"/>
                        </a:rPr>
                        <a:t>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2155136396"/>
                  </a:ext>
                </a:extLst>
              </a:tr>
              <a:tr h="0">
                <a:tc>
                  <a:txBody>
                    <a:bodyPr/>
                    <a:lstStyle/>
                    <a:p>
                      <a:pPr algn="ctr" rtl="0" fontAlgn="ctr">
                        <a:buNone/>
                      </a:pPr>
                      <a:r>
                        <a:rPr lang="en-US" sz="1400" b="0" i="0" u="none" strike="noStrike">
                          <a:solidFill>
                            <a:srgbClr val="000000"/>
                          </a:solidFill>
                          <a:effectLst/>
                          <a:latin typeface="Arial" panose="020B0604020202020204" pitchFamily="34" charset="0"/>
                        </a:rPr>
                        <a:t>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dirty="0">
                          <a:solidFill>
                            <a:srgbClr val="000000"/>
                          </a:solidFill>
                          <a:effectLst/>
                          <a:latin typeface="Arial" panose="020B0604020202020204" pitchFamily="34" charset="0"/>
                        </a:rPr>
                        <a:t>5.29</a:t>
                      </a:r>
                      <a:endParaRPr lang="en-US" dirty="0">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508559091"/>
                  </a:ext>
                </a:extLst>
              </a:tr>
            </a:tbl>
          </a:graphicData>
        </a:graphic>
      </p:graphicFrame>
      <p:sp>
        <p:nvSpPr>
          <p:cNvPr id="11" name="Rectangle 3">
            <a:extLst>
              <a:ext uri="{FF2B5EF4-FFF2-40B4-BE49-F238E27FC236}">
                <a16:creationId xmlns:a16="http://schemas.microsoft.com/office/drawing/2014/main" id="{D4A09950-3A13-294F-0171-8CF0A97361AF}"/>
              </a:ext>
            </a:extLst>
          </p:cNvPr>
          <p:cNvSpPr>
            <a:spLocks noChangeArrowheads="1"/>
          </p:cNvSpPr>
          <p:nvPr/>
        </p:nvSpPr>
        <p:spPr bwMode="auto">
          <a:xfrm>
            <a:off x="2106415" y="2039839"/>
            <a:ext cx="2836033" cy="18004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a:ln>
                  <a:noFill/>
                </a:ln>
                <a:solidFill>
                  <a:schemeClr val="bg2"/>
                </a:solidFill>
                <a:effectLst/>
                <a:latin typeface="Open Sans" panose="020B0606030504020204" pitchFamily="34" charset="0"/>
                <a:ea typeface="Open Sans" panose="020B0606030504020204" pitchFamily="34" charset="0"/>
                <a:cs typeface="Open Sans" panose="020B060603050402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30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a:ln>
                  <a:noFill/>
                </a:ln>
                <a:solidFill>
                  <a:schemeClr val="bg2"/>
                </a:solidFill>
                <a:effectLst/>
                <a:latin typeface="Open Sans" panose="020B0606030504020204" pitchFamily="34" charset="0"/>
                <a:ea typeface="Open Sans" panose="020B0606030504020204" pitchFamily="34" charset="0"/>
                <a:cs typeface="Open Sans" panose="020B0606030504020204" pitchFamily="34" charset="0"/>
              </a:rPr>
              <a:t>              “strength” of each concept</a:t>
            </a:r>
            <a:endParaRPr kumimoji="0" lang="en-US" altLang="en-US" sz="600" b="0" i="0" u="none" strike="noStrike" cap="none" normalizeH="0" baseline="0" dirty="0">
              <a:ln>
                <a:noFill/>
              </a:ln>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dirty="0">
                <a:ln>
                  <a:noFill/>
                </a:ln>
                <a:solidFill>
                  <a:schemeClr val="bg2"/>
                </a:solidFill>
                <a:effectLst/>
                <a:latin typeface="Open Sans" panose="020B0606030504020204" pitchFamily="34" charset="0"/>
                <a:ea typeface="Open Sans" panose="020B0606030504020204" pitchFamily="34" charset="0"/>
                <a:cs typeface="Open Sans" panose="020B0606030504020204" pitchFamily="34" charset="0"/>
              </a:rPr>
            </a:br>
            <a:endParaRPr kumimoji="0" lang="en-US" altLang="en-US" sz="1800" b="0" i="0" u="none" strike="noStrike" cap="none" normalizeH="0" baseline="0" dirty="0">
              <a:ln>
                <a:noFill/>
              </a:ln>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dirty="0">
                <a:ln>
                  <a:noFill/>
                </a:ln>
                <a:solidFill>
                  <a:schemeClr val="bg2"/>
                </a:solidFill>
                <a:effectLst/>
                <a:latin typeface="Open Sans" panose="020B0606030504020204" pitchFamily="34" charset="0"/>
                <a:ea typeface="Open Sans" panose="020B0606030504020204" pitchFamily="34" charset="0"/>
                <a:cs typeface="Open Sans" panose="020B0606030504020204" pitchFamily="34" charset="0"/>
              </a:rPr>
            </a:br>
            <a:endParaRPr kumimoji="0" lang="en-US" altLang="en-US" sz="1800" b="0" i="0" u="none" strike="noStrike" cap="none" normalizeH="0" baseline="0" dirty="0">
              <a:ln>
                <a:noFill/>
              </a:ln>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p:txBody>
      </p:sp>
      <p:graphicFrame>
        <p:nvGraphicFramePr>
          <p:cNvPr id="16" name="Table 15">
            <a:extLst>
              <a:ext uri="{FF2B5EF4-FFF2-40B4-BE49-F238E27FC236}">
                <a16:creationId xmlns:a16="http://schemas.microsoft.com/office/drawing/2014/main" id="{2A544720-71B7-3A72-5CA2-F3206D21BDEE}"/>
              </a:ext>
            </a:extLst>
          </p:cNvPr>
          <p:cNvGraphicFramePr>
            <a:graphicFrameLocks noGrp="1"/>
          </p:cNvGraphicFramePr>
          <p:nvPr/>
        </p:nvGraphicFramePr>
        <p:xfrm>
          <a:off x="5517423" y="2753662"/>
          <a:ext cx="2905125" cy="807720"/>
        </p:xfrm>
        <a:graphic>
          <a:graphicData uri="http://schemas.openxmlformats.org/drawingml/2006/table">
            <a:tbl>
              <a:tblPr/>
              <a:tblGrid>
                <a:gridCol w="581025">
                  <a:extLst>
                    <a:ext uri="{9D8B030D-6E8A-4147-A177-3AD203B41FA5}">
                      <a16:colId xmlns:a16="http://schemas.microsoft.com/office/drawing/2014/main" val="3366053481"/>
                    </a:ext>
                  </a:extLst>
                </a:gridCol>
                <a:gridCol w="581025">
                  <a:extLst>
                    <a:ext uri="{9D8B030D-6E8A-4147-A177-3AD203B41FA5}">
                      <a16:colId xmlns:a16="http://schemas.microsoft.com/office/drawing/2014/main" val="1886804556"/>
                    </a:ext>
                  </a:extLst>
                </a:gridCol>
                <a:gridCol w="581025">
                  <a:extLst>
                    <a:ext uri="{9D8B030D-6E8A-4147-A177-3AD203B41FA5}">
                      <a16:colId xmlns:a16="http://schemas.microsoft.com/office/drawing/2014/main" val="333373658"/>
                    </a:ext>
                  </a:extLst>
                </a:gridCol>
                <a:gridCol w="581025">
                  <a:extLst>
                    <a:ext uri="{9D8B030D-6E8A-4147-A177-3AD203B41FA5}">
                      <a16:colId xmlns:a16="http://schemas.microsoft.com/office/drawing/2014/main" val="134857957"/>
                    </a:ext>
                  </a:extLst>
                </a:gridCol>
                <a:gridCol w="581025">
                  <a:extLst>
                    <a:ext uri="{9D8B030D-6E8A-4147-A177-3AD203B41FA5}">
                      <a16:colId xmlns:a16="http://schemas.microsoft.com/office/drawing/2014/main" val="89821631"/>
                    </a:ext>
                  </a:extLst>
                </a:gridCol>
              </a:tblGrid>
              <a:tr h="0">
                <a:tc>
                  <a:txBody>
                    <a:bodyPr/>
                    <a:lstStyle/>
                    <a:p>
                      <a:pPr algn="ctr" rtl="0" fontAlgn="ctr">
                        <a:buNone/>
                      </a:pPr>
                      <a:r>
                        <a:rPr lang="en-US" sz="1400" b="0" i="0" u="none" strike="noStrike">
                          <a:solidFill>
                            <a:srgbClr val="000000"/>
                          </a:solidFill>
                          <a:effectLst/>
                          <a:latin typeface="Arial" panose="020B0604020202020204" pitchFamily="34" charset="0"/>
                        </a:rPr>
                        <a:t>0.58</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rgbClr val="000000"/>
                          </a:solidFill>
                          <a:effectLst/>
                          <a:latin typeface="Arial" panose="020B0604020202020204" pitchFamily="34" charset="0"/>
                        </a:rPr>
                        <a:t>0.58</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rgbClr val="000000"/>
                          </a:solidFill>
                          <a:effectLst/>
                          <a:latin typeface="Arial" panose="020B0604020202020204" pitchFamily="34" charset="0"/>
                        </a:rPr>
                        <a:t>0.58</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rgbClr val="000000"/>
                          </a:solidFill>
                          <a:effectLst/>
                          <a:latin typeface="Arial" panose="020B0604020202020204" pitchFamily="34" charset="0"/>
                        </a:rPr>
                        <a:t>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rgbClr val="000000"/>
                          </a:solidFill>
                          <a:effectLst/>
                          <a:latin typeface="Arial" panose="020B0604020202020204" pitchFamily="34" charset="0"/>
                        </a:rPr>
                        <a:t>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3847509535"/>
                  </a:ext>
                </a:extLst>
              </a:tr>
              <a:tr h="0">
                <a:tc>
                  <a:txBody>
                    <a:bodyPr/>
                    <a:lstStyle/>
                    <a:p>
                      <a:pPr algn="ctr" rtl="0" fontAlgn="ctr">
                        <a:buNone/>
                      </a:pPr>
                      <a:r>
                        <a:rPr lang="en-US" sz="1400" b="0" i="0" u="none" strike="noStrike">
                          <a:solidFill>
                            <a:srgbClr val="000000"/>
                          </a:solidFill>
                          <a:effectLst/>
                          <a:latin typeface="Arial" panose="020B0604020202020204" pitchFamily="34" charset="0"/>
                        </a:rPr>
                        <a:t>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rgbClr val="000000"/>
                          </a:solidFill>
                          <a:effectLst/>
                          <a:latin typeface="Arial" panose="020B0604020202020204" pitchFamily="34" charset="0"/>
                        </a:rPr>
                        <a:t>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dirty="0">
                          <a:solidFill>
                            <a:srgbClr val="000000"/>
                          </a:solidFill>
                          <a:effectLst/>
                          <a:latin typeface="Arial" panose="020B0604020202020204" pitchFamily="34" charset="0"/>
                        </a:rPr>
                        <a:t>0</a:t>
                      </a:r>
                      <a:endParaRPr lang="en-US" dirty="0">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rgbClr val="000000"/>
                          </a:solidFill>
                          <a:effectLst/>
                          <a:latin typeface="Arial" panose="020B0604020202020204" pitchFamily="34" charset="0"/>
                        </a:rPr>
                        <a:t>0.71</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dirty="0">
                          <a:solidFill>
                            <a:srgbClr val="000000"/>
                          </a:solidFill>
                          <a:effectLst/>
                          <a:latin typeface="Arial" panose="020B0604020202020204" pitchFamily="34" charset="0"/>
                        </a:rPr>
                        <a:t>0.71</a:t>
                      </a:r>
                      <a:endParaRPr lang="en-US" dirty="0">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141670811"/>
                  </a:ext>
                </a:extLst>
              </a:tr>
            </a:tbl>
          </a:graphicData>
        </a:graphic>
      </p:graphicFrame>
      <p:sp>
        <p:nvSpPr>
          <p:cNvPr id="17" name="Rectangle 4">
            <a:extLst>
              <a:ext uri="{FF2B5EF4-FFF2-40B4-BE49-F238E27FC236}">
                <a16:creationId xmlns:a16="http://schemas.microsoft.com/office/drawing/2014/main" id="{AAD15920-1F83-AB47-B4E1-2A8EE786D83D}"/>
              </a:ext>
            </a:extLst>
          </p:cNvPr>
          <p:cNvSpPr>
            <a:spLocks noChangeArrowheads="1"/>
          </p:cNvSpPr>
          <p:nvPr/>
        </p:nvSpPr>
        <p:spPr bwMode="auto">
          <a:xfrm>
            <a:off x="5600058" y="2380661"/>
            <a:ext cx="2739853"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a:ln>
                  <a:noFill/>
                </a:ln>
                <a:solidFill>
                  <a:schemeClr val="bg2"/>
                </a:solidFill>
                <a:effectLst/>
                <a:latin typeface="Open Sans" panose="020B0606030504020204" pitchFamily="34" charset="0"/>
                <a:ea typeface="Open Sans" panose="020B0606030504020204" pitchFamily="34" charset="0"/>
                <a:cs typeface="Open Sans" panose="020B0606030504020204" pitchFamily="34" charset="0"/>
              </a:rPr>
              <a:t>term-to-concept similarity matrix</a:t>
            </a:r>
            <a:endParaRPr kumimoji="0" lang="en-US" altLang="en-US" sz="1800" b="0" i="0" u="none" strike="noStrike" cap="none" normalizeH="0" baseline="0">
              <a:ln>
                <a:noFill/>
              </a:ln>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p:txBody>
      </p:sp>
      <p:sp>
        <p:nvSpPr>
          <p:cNvPr id="18" name="Equal 17">
            <a:extLst>
              <a:ext uri="{FF2B5EF4-FFF2-40B4-BE49-F238E27FC236}">
                <a16:creationId xmlns:a16="http://schemas.microsoft.com/office/drawing/2014/main" id="{79B525EE-2927-36E3-90FC-37970D6E0AB0}"/>
              </a:ext>
            </a:extLst>
          </p:cNvPr>
          <p:cNvSpPr/>
          <p:nvPr/>
        </p:nvSpPr>
        <p:spPr>
          <a:xfrm>
            <a:off x="272807" y="2854274"/>
            <a:ext cx="469535" cy="442299"/>
          </a:xfrm>
          <a:prstGeom prst="mathEqual">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9" name="Multiply 18">
            <a:extLst>
              <a:ext uri="{FF2B5EF4-FFF2-40B4-BE49-F238E27FC236}">
                <a16:creationId xmlns:a16="http://schemas.microsoft.com/office/drawing/2014/main" id="{39A99DCB-C2AD-052C-6528-0A7807AB645F}"/>
              </a:ext>
            </a:extLst>
          </p:cNvPr>
          <p:cNvSpPr/>
          <p:nvPr/>
        </p:nvSpPr>
        <p:spPr>
          <a:xfrm>
            <a:off x="2397985" y="2940085"/>
            <a:ext cx="371848" cy="356488"/>
          </a:xfrm>
          <a:prstGeom prst="mathMultiply">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Multiply 19">
            <a:extLst>
              <a:ext uri="{FF2B5EF4-FFF2-40B4-BE49-F238E27FC236}">
                <a16:creationId xmlns:a16="http://schemas.microsoft.com/office/drawing/2014/main" id="{BEEC9EB9-7BCF-10E6-1204-A730A04BF85F}"/>
              </a:ext>
            </a:extLst>
          </p:cNvPr>
          <p:cNvSpPr/>
          <p:nvPr/>
        </p:nvSpPr>
        <p:spPr>
          <a:xfrm>
            <a:off x="4784556" y="2895371"/>
            <a:ext cx="371848" cy="356488"/>
          </a:xfrm>
          <a:prstGeom prst="mathMultiply">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 name="Straight Arrow Connector 3">
            <a:extLst>
              <a:ext uri="{FF2B5EF4-FFF2-40B4-BE49-F238E27FC236}">
                <a16:creationId xmlns:a16="http://schemas.microsoft.com/office/drawing/2014/main" id="{8B4BE12F-E51D-8A12-EB34-28A382E06BDC}"/>
              </a:ext>
            </a:extLst>
          </p:cNvPr>
          <p:cNvCxnSpPr/>
          <p:nvPr/>
        </p:nvCxnSpPr>
        <p:spPr>
          <a:xfrm flipV="1">
            <a:off x="4572000" y="3382392"/>
            <a:ext cx="945423" cy="8345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F9E88799-2AEE-C13A-F501-75486A58D363}"/>
              </a:ext>
            </a:extLst>
          </p:cNvPr>
          <p:cNvSpPr txBox="1"/>
          <p:nvPr/>
        </p:nvSpPr>
        <p:spPr>
          <a:xfrm>
            <a:off x="3845718" y="4220171"/>
            <a:ext cx="1452563" cy="307777"/>
          </a:xfrm>
          <a:prstGeom prst="rect">
            <a:avLst/>
          </a:prstGeom>
          <a:noFill/>
          <a:ln>
            <a:solidFill>
              <a:schemeClr val="accent1"/>
            </a:solidFill>
          </a:ln>
        </p:spPr>
        <p:txBody>
          <a:bodyPr wrap="square" rtlCol="0">
            <a:spAutoFit/>
          </a:bodyPr>
          <a:lstStyle/>
          <a:p>
            <a:r>
              <a:rPr lang="en-US" dirty="0">
                <a:solidFill>
                  <a:schemeClr val="bg2"/>
                </a:solidFill>
                <a:latin typeface="Open Sans" panose="020B0606030504020204" pitchFamily="34" charset="0"/>
                <a:ea typeface="Open Sans" panose="020B0606030504020204" pitchFamily="34" charset="0"/>
                <a:cs typeface="Open Sans" panose="020B0606030504020204" pitchFamily="34" charset="0"/>
              </a:rPr>
              <a:t>MD Concept</a:t>
            </a:r>
          </a:p>
        </p:txBody>
      </p:sp>
      <p:cxnSp>
        <p:nvCxnSpPr>
          <p:cNvPr id="6" name="Straight Arrow Connector 5">
            <a:extLst>
              <a:ext uri="{FF2B5EF4-FFF2-40B4-BE49-F238E27FC236}">
                <a16:creationId xmlns:a16="http://schemas.microsoft.com/office/drawing/2014/main" id="{4FE5DDC0-9C71-5E31-E709-F7E1DAB7524F}"/>
              </a:ext>
            </a:extLst>
          </p:cNvPr>
          <p:cNvCxnSpPr>
            <a:cxnSpLocks/>
            <a:stCxn id="7" idx="2"/>
          </p:cNvCxnSpPr>
          <p:nvPr/>
        </p:nvCxnSpPr>
        <p:spPr>
          <a:xfrm>
            <a:off x="4469736" y="1889889"/>
            <a:ext cx="1047686" cy="10252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C6EF1A80-1266-8080-7BAB-29B550095B02}"/>
              </a:ext>
            </a:extLst>
          </p:cNvPr>
          <p:cNvSpPr txBox="1"/>
          <p:nvPr/>
        </p:nvSpPr>
        <p:spPr>
          <a:xfrm>
            <a:off x="3743454" y="1582112"/>
            <a:ext cx="1452563" cy="307777"/>
          </a:xfrm>
          <a:prstGeom prst="rect">
            <a:avLst/>
          </a:prstGeom>
          <a:noFill/>
          <a:ln>
            <a:solidFill>
              <a:schemeClr val="accent1"/>
            </a:solidFill>
          </a:ln>
        </p:spPr>
        <p:txBody>
          <a:bodyPr wrap="square" rtlCol="0">
            <a:spAutoFit/>
          </a:bodyPr>
          <a:lstStyle/>
          <a:p>
            <a:r>
              <a:rPr lang="en-US" dirty="0">
                <a:solidFill>
                  <a:schemeClr val="bg2"/>
                </a:solidFill>
                <a:latin typeface="Open Sans" panose="020B0606030504020204" pitchFamily="34" charset="0"/>
                <a:ea typeface="Open Sans" panose="020B0606030504020204" pitchFamily="34" charset="0"/>
                <a:cs typeface="Open Sans" panose="020B0606030504020204" pitchFamily="34" charset="0"/>
              </a:rPr>
              <a:t>CS Concept</a:t>
            </a:r>
          </a:p>
        </p:txBody>
      </p:sp>
    </p:spTree>
    <p:extLst>
      <p:ext uri="{BB962C8B-B14F-4D97-AF65-F5344CB8AC3E}">
        <p14:creationId xmlns:p14="http://schemas.microsoft.com/office/powerpoint/2010/main" val="354957685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624F9B-CF87-DB6F-19F5-7F8041905227}"/>
            </a:ext>
          </a:extLst>
        </p:cNvPr>
        <p:cNvGrpSpPr/>
        <p:nvPr/>
      </p:nvGrpSpPr>
      <p:grpSpPr>
        <a:xfrm>
          <a:off x="0" y="0"/>
          <a:ext cx="0" cy="0"/>
          <a:chOff x="0" y="0"/>
          <a:chExt cx="0" cy="0"/>
        </a:xfrm>
      </p:grpSpPr>
      <p:graphicFrame>
        <p:nvGraphicFramePr>
          <p:cNvPr id="8" name="Table 7">
            <a:extLst>
              <a:ext uri="{FF2B5EF4-FFF2-40B4-BE49-F238E27FC236}">
                <a16:creationId xmlns:a16="http://schemas.microsoft.com/office/drawing/2014/main" id="{57D80C9D-7EBD-B890-4F89-6B4507E5A962}"/>
              </a:ext>
            </a:extLst>
          </p:cNvPr>
          <p:cNvGraphicFramePr>
            <a:graphicFrameLocks noGrp="1"/>
          </p:cNvGraphicFramePr>
          <p:nvPr/>
        </p:nvGraphicFramePr>
        <p:xfrm>
          <a:off x="872092" y="1820108"/>
          <a:ext cx="1114425" cy="2827020"/>
        </p:xfrm>
        <a:graphic>
          <a:graphicData uri="http://schemas.openxmlformats.org/drawingml/2006/table">
            <a:tbl>
              <a:tblPr/>
              <a:tblGrid>
                <a:gridCol w="561975">
                  <a:extLst>
                    <a:ext uri="{9D8B030D-6E8A-4147-A177-3AD203B41FA5}">
                      <a16:colId xmlns:a16="http://schemas.microsoft.com/office/drawing/2014/main" val="2272479392"/>
                    </a:ext>
                  </a:extLst>
                </a:gridCol>
                <a:gridCol w="552450">
                  <a:extLst>
                    <a:ext uri="{9D8B030D-6E8A-4147-A177-3AD203B41FA5}">
                      <a16:colId xmlns:a16="http://schemas.microsoft.com/office/drawing/2014/main" val="2539191863"/>
                    </a:ext>
                  </a:extLst>
                </a:gridCol>
              </a:tblGrid>
              <a:tr h="0">
                <a:tc>
                  <a:txBody>
                    <a:bodyPr/>
                    <a:lstStyle/>
                    <a:p>
                      <a:pPr algn="ctr" rtl="0" fontAlgn="ctr">
                        <a:buNone/>
                      </a:pPr>
                      <a:r>
                        <a:rPr lang="en-US" sz="1400" b="0" i="0" u="none" strike="noStrike">
                          <a:solidFill>
                            <a:srgbClr val="000000"/>
                          </a:solidFill>
                          <a:effectLst/>
                          <a:latin typeface="Arial" panose="020B0604020202020204" pitchFamily="34" charset="0"/>
                        </a:rPr>
                        <a:t>0.18</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rgbClr val="000000"/>
                          </a:solidFill>
                          <a:effectLst/>
                          <a:latin typeface="Arial" panose="020B0604020202020204" pitchFamily="34" charset="0"/>
                        </a:rPr>
                        <a:t>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1325200620"/>
                  </a:ext>
                </a:extLst>
              </a:tr>
              <a:tr h="0">
                <a:tc>
                  <a:txBody>
                    <a:bodyPr/>
                    <a:lstStyle/>
                    <a:p>
                      <a:pPr algn="ctr" rtl="0" fontAlgn="ctr">
                        <a:buNone/>
                      </a:pPr>
                      <a:r>
                        <a:rPr lang="en-US" sz="1400" b="0" i="0" u="none" strike="noStrike">
                          <a:solidFill>
                            <a:srgbClr val="000000"/>
                          </a:solidFill>
                          <a:effectLst/>
                          <a:latin typeface="Arial" panose="020B0604020202020204" pitchFamily="34" charset="0"/>
                        </a:rPr>
                        <a:t>0.36</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dirty="0">
                          <a:solidFill>
                            <a:srgbClr val="000000"/>
                          </a:solidFill>
                          <a:effectLst/>
                          <a:latin typeface="Arial" panose="020B0604020202020204" pitchFamily="34" charset="0"/>
                        </a:rPr>
                        <a:t>0</a:t>
                      </a:r>
                      <a:endParaRPr lang="en-US" dirty="0">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3104249073"/>
                  </a:ext>
                </a:extLst>
              </a:tr>
              <a:tr h="0">
                <a:tc>
                  <a:txBody>
                    <a:bodyPr/>
                    <a:lstStyle/>
                    <a:p>
                      <a:pPr algn="ctr" rtl="0" fontAlgn="ctr">
                        <a:buNone/>
                      </a:pPr>
                      <a:r>
                        <a:rPr lang="en-US" sz="1400" b="0" i="0" u="none" strike="noStrike">
                          <a:solidFill>
                            <a:srgbClr val="000000"/>
                          </a:solidFill>
                          <a:effectLst/>
                          <a:latin typeface="Arial" panose="020B0604020202020204" pitchFamily="34" charset="0"/>
                        </a:rPr>
                        <a:t>0.18</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rgbClr val="000000"/>
                          </a:solidFill>
                          <a:effectLst/>
                          <a:latin typeface="Arial" panose="020B0604020202020204" pitchFamily="34" charset="0"/>
                        </a:rPr>
                        <a:t>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2529714146"/>
                  </a:ext>
                </a:extLst>
              </a:tr>
              <a:tr h="0">
                <a:tc>
                  <a:txBody>
                    <a:bodyPr/>
                    <a:lstStyle/>
                    <a:p>
                      <a:pPr algn="ctr" rtl="0" fontAlgn="ctr">
                        <a:buNone/>
                      </a:pPr>
                      <a:r>
                        <a:rPr lang="en-US" sz="1400" b="0" i="0" u="none" strike="noStrike">
                          <a:solidFill>
                            <a:srgbClr val="000000"/>
                          </a:solidFill>
                          <a:effectLst/>
                          <a:latin typeface="Arial" panose="020B0604020202020204" pitchFamily="34" charset="0"/>
                        </a:rPr>
                        <a:t>0.90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rgbClr val="000000"/>
                          </a:solidFill>
                          <a:effectLst/>
                          <a:latin typeface="Arial" panose="020B0604020202020204" pitchFamily="34" charset="0"/>
                        </a:rPr>
                        <a:t>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433969260"/>
                  </a:ext>
                </a:extLst>
              </a:tr>
              <a:tr h="0">
                <a:tc>
                  <a:txBody>
                    <a:bodyPr/>
                    <a:lstStyle/>
                    <a:p>
                      <a:pPr algn="ctr" rtl="0" fontAlgn="ctr">
                        <a:buNone/>
                      </a:pPr>
                      <a:r>
                        <a:rPr lang="en-US" sz="1400" b="0" i="0" u="none" strike="noStrike">
                          <a:solidFill>
                            <a:srgbClr val="000000"/>
                          </a:solidFill>
                          <a:effectLst/>
                          <a:latin typeface="Arial" panose="020B0604020202020204" pitchFamily="34" charset="0"/>
                        </a:rPr>
                        <a:t>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rgbClr val="000000"/>
                          </a:solidFill>
                          <a:effectLst/>
                          <a:latin typeface="Arial" panose="020B0604020202020204" pitchFamily="34" charset="0"/>
                        </a:rPr>
                        <a:t>0.53</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1335701321"/>
                  </a:ext>
                </a:extLst>
              </a:tr>
              <a:tr h="0">
                <a:tc>
                  <a:txBody>
                    <a:bodyPr/>
                    <a:lstStyle/>
                    <a:p>
                      <a:pPr algn="ctr" rtl="0" fontAlgn="ctr">
                        <a:buNone/>
                      </a:pPr>
                      <a:r>
                        <a:rPr lang="en-US" sz="1400" b="0" i="0" u="none" strike="noStrike">
                          <a:solidFill>
                            <a:srgbClr val="000000"/>
                          </a:solidFill>
                          <a:effectLst/>
                          <a:latin typeface="Arial" panose="020B0604020202020204" pitchFamily="34" charset="0"/>
                        </a:rPr>
                        <a:t>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rgbClr val="000000"/>
                          </a:solidFill>
                          <a:effectLst/>
                          <a:latin typeface="Arial" panose="020B0604020202020204" pitchFamily="34" charset="0"/>
                        </a:rPr>
                        <a:t>0.80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2370354746"/>
                  </a:ext>
                </a:extLst>
              </a:tr>
              <a:tr h="0">
                <a:tc>
                  <a:txBody>
                    <a:bodyPr/>
                    <a:lstStyle/>
                    <a:p>
                      <a:pPr algn="ctr" rtl="0" fontAlgn="ctr">
                        <a:buNone/>
                      </a:pPr>
                      <a:r>
                        <a:rPr lang="en-US" sz="1400" b="0" i="0" u="none" strike="noStrike">
                          <a:solidFill>
                            <a:srgbClr val="000000"/>
                          </a:solidFill>
                          <a:effectLst/>
                          <a:latin typeface="Arial" panose="020B0604020202020204" pitchFamily="34" charset="0"/>
                        </a:rPr>
                        <a:t>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dirty="0">
                          <a:solidFill>
                            <a:srgbClr val="000000"/>
                          </a:solidFill>
                          <a:effectLst/>
                          <a:latin typeface="Arial" panose="020B0604020202020204" pitchFamily="34" charset="0"/>
                        </a:rPr>
                        <a:t>0.27</a:t>
                      </a:r>
                      <a:endParaRPr lang="en-US" dirty="0">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4250486402"/>
                  </a:ext>
                </a:extLst>
              </a:tr>
            </a:tbl>
          </a:graphicData>
        </a:graphic>
      </p:graphicFrame>
      <p:sp>
        <p:nvSpPr>
          <p:cNvPr id="9" name="Rectangle 2">
            <a:extLst>
              <a:ext uri="{FF2B5EF4-FFF2-40B4-BE49-F238E27FC236}">
                <a16:creationId xmlns:a16="http://schemas.microsoft.com/office/drawing/2014/main" id="{7EB8384C-0735-F51B-806B-397059009B11}"/>
              </a:ext>
            </a:extLst>
          </p:cNvPr>
          <p:cNvSpPr>
            <a:spLocks noChangeArrowheads="1"/>
          </p:cNvSpPr>
          <p:nvPr/>
        </p:nvSpPr>
        <p:spPr bwMode="auto">
          <a:xfrm>
            <a:off x="302455" y="1481797"/>
            <a:ext cx="2648481"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a:ln>
                  <a:noFill/>
                </a:ln>
                <a:solidFill>
                  <a:schemeClr val="bg2"/>
                </a:solidFill>
                <a:effectLst/>
                <a:latin typeface="Open Sans" panose="020B0606030504020204" pitchFamily="34" charset="0"/>
                <a:ea typeface="Open Sans" panose="020B0606030504020204" pitchFamily="34" charset="0"/>
                <a:cs typeface="Open Sans" panose="020B0606030504020204" pitchFamily="34" charset="0"/>
              </a:rPr>
              <a:t>doc-to-concept similarity matrix</a:t>
            </a:r>
            <a:endParaRPr kumimoji="0" lang="en-US" altLang="en-US" sz="1800" b="0" i="0" u="none" strike="noStrike" cap="none" normalizeH="0" baseline="0" dirty="0">
              <a:ln>
                <a:noFill/>
              </a:ln>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p:txBody>
      </p:sp>
      <p:graphicFrame>
        <p:nvGraphicFramePr>
          <p:cNvPr id="10" name="Table 9">
            <a:extLst>
              <a:ext uri="{FF2B5EF4-FFF2-40B4-BE49-F238E27FC236}">
                <a16:creationId xmlns:a16="http://schemas.microsoft.com/office/drawing/2014/main" id="{13C7627A-399D-2C65-D067-7777821889A6}"/>
              </a:ext>
            </a:extLst>
          </p:cNvPr>
          <p:cNvGraphicFramePr>
            <a:graphicFrameLocks noGrp="1"/>
          </p:cNvGraphicFramePr>
          <p:nvPr/>
        </p:nvGraphicFramePr>
        <p:xfrm>
          <a:off x="3127020" y="2753662"/>
          <a:ext cx="1114425" cy="807720"/>
        </p:xfrm>
        <a:graphic>
          <a:graphicData uri="http://schemas.openxmlformats.org/drawingml/2006/table">
            <a:tbl>
              <a:tblPr/>
              <a:tblGrid>
                <a:gridCol w="561975">
                  <a:extLst>
                    <a:ext uri="{9D8B030D-6E8A-4147-A177-3AD203B41FA5}">
                      <a16:colId xmlns:a16="http://schemas.microsoft.com/office/drawing/2014/main" val="4243659018"/>
                    </a:ext>
                  </a:extLst>
                </a:gridCol>
                <a:gridCol w="552450">
                  <a:extLst>
                    <a:ext uri="{9D8B030D-6E8A-4147-A177-3AD203B41FA5}">
                      <a16:colId xmlns:a16="http://schemas.microsoft.com/office/drawing/2014/main" val="1089689707"/>
                    </a:ext>
                  </a:extLst>
                </a:gridCol>
              </a:tblGrid>
              <a:tr h="0">
                <a:tc>
                  <a:txBody>
                    <a:bodyPr/>
                    <a:lstStyle/>
                    <a:p>
                      <a:pPr algn="ctr" rtl="0" fontAlgn="ctr">
                        <a:buNone/>
                      </a:pPr>
                      <a:r>
                        <a:rPr lang="en-US" sz="1400" b="0" i="0" u="none" strike="noStrike">
                          <a:solidFill>
                            <a:srgbClr val="000000"/>
                          </a:solidFill>
                          <a:effectLst/>
                          <a:latin typeface="Arial" panose="020B0604020202020204" pitchFamily="34" charset="0"/>
                        </a:rPr>
                        <a:t>9.64</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rgbClr val="000000"/>
                          </a:solidFill>
                          <a:effectLst/>
                          <a:latin typeface="Arial" panose="020B0604020202020204" pitchFamily="34" charset="0"/>
                        </a:rPr>
                        <a:t>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2155136396"/>
                  </a:ext>
                </a:extLst>
              </a:tr>
              <a:tr h="0">
                <a:tc>
                  <a:txBody>
                    <a:bodyPr/>
                    <a:lstStyle/>
                    <a:p>
                      <a:pPr algn="ctr" rtl="0" fontAlgn="ctr">
                        <a:buNone/>
                      </a:pPr>
                      <a:r>
                        <a:rPr lang="en-US" sz="1400" b="0" i="0" u="none" strike="noStrike">
                          <a:solidFill>
                            <a:srgbClr val="000000"/>
                          </a:solidFill>
                          <a:effectLst/>
                          <a:latin typeface="Arial" panose="020B0604020202020204" pitchFamily="34" charset="0"/>
                        </a:rPr>
                        <a:t>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dirty="0">
                          <a:solidFill>
                            <a:srgbClr val="000000"/>
                          </a:solidFill>
                          <a:effectLst/>
                          <a:latin typeface="Arial" panose="020B0604020202020204" pitchFamily="34" charset="0"/>
                        </a:rPr>
                        <a:t>5.29</a:t>
                      </a:r>
                      <a:endParaRPr lang="en-US" dirty="0">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508559091"/>
                  </a:ext>
                </a:extLst>
              </a:tr>
            </a:tbl>
          </a:graphicData>
        </a:graphic>
      </p:graphicFrame>
      <p:sp>
        <p:nvSpPr>
          <p:cNvPr id="11" name="Rectangle 3">
            <a:extLst>
              <a:ext uri="{FF2B5EF4-FFF2-40B4-BE49-F238E27FC236}">
                <a16:creationId xmlns:a16="http://schemas.microsoft.com/office/drawing/2014/main" id="{6B0873A5-FED6-295D-68F3-59D1280A9F7A}"/>
              </a:ext>
            </a:extLst>
          </p:cNvPr>
          <p:cNvSpPr>
            <a:spLocks noChangeArrowheads="1"/>
          </p:cNvSpPr>
          <p:nvPr/>
        </p:nvSpPr>
        <p:spPr bwMode="auto">
          <a:xfrm>
            <a:off x="2106415" y="2039839"/>
            <a:ext cx="2836033" cy="18004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a:ln>
                  <a:noFill/>
                </a:ln>
                <a:solidFill>
                  <a:schemeClr val="bg2"/>
                </a:solidFill>
                <a:effectLst/>
                <a:latin typeface="Open Sans" panose="020B0606030504020204" pitchFamily="34" charset="0"/>
                <a:ea typeface="Open Sans" panose="020B0606030504020204" pitchFamily="34" charset="0"/>
                <a:cs typeface="Open Sans" panose="020B060603050402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30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a:ln>
                  <a:noFill/>
                </a:ln>
                <a:solidFill>
                  <a:schemeClr val="bg2"/>
                </a:solidFill>
                <a:effectLst/>
                <a:latin typeface="Open Sans" panose="020B0606030504020204" pitchFamily="34" charset="0"/>
                <a:ea typeface="Open Sans" panose="020B0606030504020204" pitchFamily="34" charset="0"/>
                <a:cs typeface="Open Sans" panose="020B0606030504020204" pitchFamily="34" charset="0"/>
              </a:rPr>
              <a:t>              “strength” of each concept</a:t>
            </a:r>
            <a:endParaRPr kumimoji="0" lang="en-US" altLang="en-US" sz="600" b="0" i="0" u="none" strike="noStrike" cap="none" normalizeH="0" baseline="0" dirty="0">
              <a:ln>
                <a:noFill/>
              </a:ln>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dirty="0">
                <a:ln>
                  <a:noFill/>
                </a:ln>
                <a:solidFill>
                  <a:schemeClr val="bg2"/>
                </a:solidFill>
                <a:effectLst/>
                <a:latin typeface="Open Sans" panose="020B0606030504020204" pitchFamily="34" charset="0"/>
                <a:ea typeface="Open Sans" panose="020B0606030504020204" pitchFamily="34" charset="0"/>
                <a:cs typeface="Open Sans" panose="020B0606030504020204" pitchFamily="34" charset="0"/>
              </a:rPr>
            </a:br>
            <a:endParaRPr kumimoji="0" lang="en-US" altLang="en-US" sz="1800" b="0" i="0" u="none" strike="noStrike" cap="none" normalizeH="0" baseline="0" dirty="0">
              <a:ln>
                <a:noFill/>
              </a:ln>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dirty="0">
                <a:ln>
                  <a:noFill/>
                </a:ln>
                <a:solidFill>
                  <a:schemeClr val="bg2"/>
                </a:solidFill>
                <a:effectLst/>
                <a:latin typeface="Open Sans" panose="020B0606030504020204" pitchFamily="34" charset="0"/>
                <a:ea typeface="Open Sans" panose="020B0606030504020204" pitchFamily="34" charset="0"/>
                <a:cs typeface="Open Sans" panose="020B0606030504020204" pitchFamily="34" charset="0"/>
              </a:rPr>
            </a:br>
            <a:endParaRPr kumimoji="0" lang="en-US" altLang="en-US" sz="1800" b="0" i="0" u="none" strike="noStrike" cap="none" normalizeH="0" baseline="0" dirty="0">
              <a:ln>
                <a:noFill/>
              </a:ln>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p:txBody>
      </p:sp>
      <p:graphicFrame>
        <p:nvGraphicFramePr>
          <p:cNvPr id="16" name="Table 15">
            <a:extLst>
              <a:ext uri="{FF2B5EF4-FFF2-40B4-BE49-F238E27FC236}">
                <a16:creationId xmlns:a16="http://schemas.microsoft.com/office/drawing/2014/main" id="{35E10D6F-EC8C-28BC-F91A-78515BC53B94}"/>
              </a:ext>
            </a:extLst>
          </p:cNvPr>
          <p:cNvGraphicFramePr>
            <a:graphicFrameLocks noGrp="1"/>
          </p:cNvGraphicFramePr>
          <p:nvPr/>
        </p:nvGraphicFramePr>
        <p:xfrm>
          <a:off x="5517423" y="2753662"/>
          <a:ext cx="2905125" cy="807720"/>
        </p:xfrm>
        <a:graphic>
          <a:graphicData uri="http://schemas.openxmlformats.org/drawingml/2006/table">
            <a:tbl>
              <a:tblPr/>
              <a:tblGrid>
                <a:gridCol w="581025">
                  <a:extLst>
                    <a:ext uri="{9D8B030D-6E8A-4147-A177-3AD203B41FA5}">
                      <a16:colId xmlns:a16="http://schemas.microsoft.com/office/drawing/2014/main" val="3366053481"/>
                    </a:ext>
                  </a:extLst>
                </a:gridCol>
                <a:gridCol w="581025">
                  <a:extLst>
                    <a:ext uri="{9D8B030D-6E8A-4147-A177-3AD203B41FA5}">
                      <a16:colId xmlns:a16="http://schemas.microsoft.com/office/drawing/2014/main" val="1886804556"/>
                    </a:ext>
                  </a:extLst>
                </a:gridCol>
                <a:gridCol w="581025">
                  <a:extLst>
                    <a:ext uri="{9D8B030D-6E8A-4147-A177-3AD203B41FA5}">
                      <a16:colId xmlns:a16="http://schemas.microsoft.com/office/drawing/2014/main" val="333373658"/>
                    </a:ext>
                  </a:extLst>
                </a:gridCol>
                <a:gridCol w="581025">
                  <a:extLst>
                    <a:ext uri="{9D8B030D-6E8A-4147-A177-3AD203B41FA5}">
                      <a16:colId xmlns:a16="http://schemas.microsoft.com/office/drawing/2014/main" val="134857957"/>
                    </a:ext>
                  </a:extLst>
                </a:gridCol>
                <a:gridCol w="581025">
                  <a:extLst>
                    <a:ext uri="{9D8B030D-6E8A-4147-A177-3AD203B41FA5}">
                      <a16:colId xmlns:a16="http://schemas.microsoft.com/office/drawing/2014/main" val="89821631"/>
                    </a:ext>
                  </a:extLst>
                </a:gridCol>
              </a:tblGrid>
              <a:tr h="0">
                <a:tc>
                  <a:txBody>
                    <a:bodyPr/>
                    <a:lstStyle/>
                    <a:p>
                      <a:pPr algn="ctr" rtl="0" fontAlgn="ctr">
                        <a:buNone/>
                      </a:pPr>
                      <a:r>
                        <a:rPr lang="en-US" sz="1400" b="0" i="0" u="none" strike="noStrike">
                          <a:solidFill>
                            <a:srgbClr val="000000"/>
                          </a:solidFill>
                          <a:effectLst/>
                          <a:latin typeface="Arial" panose="020B0604020202020204" pitchFamily="34" charset="0"/>
                        </a:rPr>
                        <a:t>0.58</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rgbClr val="000000"/>
                          </a:solidFill>
                          <a:effectLst/>
                          <a:latin typeface="Arial" panose="020B0604020202020204" pitchFamily="34" charset="0"/>
                        </a:rPr>
                        <a:t>0.58</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rgbClr val="000000"/>
                          </a:solidFill>
                          <a:effectLst/>
                          <a:latin typeface="Arial" panose="020B0604020202020204" pitchFamily="34" charset="0"/>
                        </a:rPr>
                        <a:t>0.58</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rgbClr val="000000"/>
                          </a:solidFill>
                          <a:effectLst/>
                          <a:latin typeface="Arial" panose="020B0604020202020204" pitchFamily="34" charset="0"/>
                        </a:rPr>
                        <a:t>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rgbClr val="000000"/>
                          </a:solidFill>
                          <a:effectLst/>
                          <a:latin typeface="Arial" panose="020B0604020202020204" pitchFamily="34" charset="0"/>
                        </a:rPr>
                        <a:t>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3847509535"/>
                  </a:ext>
                </a:extLst>
              </a:tr>
              <a:tr h="0">
                <a:tc>
                  <a:txBody>
                    <a:bodyPr/>
                    <a:lstStyle/>
                    <a:p>
                      <a:pPr algn="ctr" rtl="0" fontAlgn="ctr">
                        <a:buNone/>
                      </a:pPr>
                      <a:r>
                        <a:rPr lang="en-US" sz="1400" b="0" i="0" u="none" strike="noStrike">
                          <a:solidFill>
                            <a:srgbClr val="000000"/>
                          </a:solidFill>
                          <a:effectLst/>
                          <a:latin typeface="Arial" panose="020B0604020202020204" pitchFamily="34" charset="0"/>
                        </a:rPr>
                        <a:t>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rgbClr val="000000"/>
                          </a:solidFill>
                          <a:effectLst/>
                          <a:latin typeface="Arial" panose="020B0604020202020204" pitchFamily="34" charset="0"/>
                        </a:rPr>
                        <a:t>0</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dirty="0">
                          <a:solidFill>
                            <a:srgbClr val="000000"/>
                          </a:solidFill>
                          <a:effectLst/>
                          <a:latin typeface="Arial" panose="020B0604020202020204" pitchFamily="34" charset="0"/>
                        </a:rPr>
                        <a:t>0</a:t>
                      </a:r>
                      <a:endParaRPr lang="en-US" dirty="0">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a:solidFill>
                            <a:srgbClr val="000000"/>
                          </a:solidFill>
                          <a:effectLst/>
                          <a:latin typeface="Arial" panose="020B0604020202020204" pitchFamily="34" charset="0"/>
                        </a:rPr>
                        <a:t>0.71</a:t>
                      </a:r>
                      <a:endParaRPr lang="en-US">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ctr" rtl="0" fontAlgn="ctr">
                        <a:buNone/>
                      </a:pPr>
                      <a:r>
                        <a:rPr lang="en-US" sz="1400" b="0" i="0" u="none" strike="noStrike" dirty="0">
                          <a:solidFill>
                            <a:srgbClr val="000000"/>
                          </a:solidFill>
                          <a:effectLst/>
                          <a:latin typeface="Arial" panose="020B0604020202020204" pitchFamily="34" charset="0"/>
                        </a:rPr>
                        <a:t>0.71</a:t>
                      </a:r>
                      <a:endParaRPr lang="en-US" dirty="0">
                        <a:effectLst/>
                      </a:endParaRPr>
                    </a:p>
                  </a:txBody>
                  <a:tcPr marL="95250" marR="95250" marT="95250" marB="9525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141670811"/>
                  </a:ext>
                </a:extLst>
              </a:tr>
            </a:tbl>
          </a:graphicData>
        </a:graphic>
      </p:graphicFrame>
      <p:sp>
        <p:nvSpPr>
          <p:cNvPr id="17" name="Rectangle 4">
            <a:extLst>
              <a:ext uri="{FF2B5EF4-FFF2-40B4-BE49-F238E27FC236}">
                <a16:creationId xmlns:a16="http://schemas.microsoft.com/office/drawing/2014/main" id="{6ACB029A-DD75-DFE2-AE0D-461B6ADD9642}"/>
              </a:ext>
            </a:extLst>
          </p:cNvPr>
          <p:cNvSpPr>
            <a:spLocks noChangeArrowheads="1"/>
          </p:cNvSpPr>
          <p:nvPr/>
        </p:nvSpPr>
        <p:spPr bwMode="auto">
          <a:xfrm>
            <a:off x="5600058" y="2380661"/>
            <a:ext cx="2739853"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a:ln>
                  <a:noFill/>
                </a:ln>
                <a:solidFill>
                  <a:schemeClr val="bg2"/>
                </a:solidFill>
                <a:effectLst/>
                <a:latin typeface="Open Sans" panose="020B0606030504020204" pitchFamily="34" charset="0"/>
                <a:ea typeface="Open Sans" panose="020B0606030504020204" pitchFamily="34" charset="0"/>
                <a:cs typeface="Open Sans" panose="020B0606030504020204" pitchFamily="34" charset="0"/>
              </a:rPr>
              <a:t>term-to-concept similarity matrix</a:t>
            </a:r>
            <a:endParaRPr kumimoji="0" lang="en-US" altLang="en-US" sz="1800" b="0" i="0" u="none" strike="noStrike" cap="none" normalizeH="0" baseline="0">
              <a:ln>
                <a:noFill/>
              </a:ln>
              <a:solidFill>
                <a:schemeClr val="bg2"/>
              </a:solidFill>
              <a:effectLst/>
              <a:latin typeface="Open Sans" panose="020B0606030504020204" pitchFamily="34" charset="0"/>
              <a:ea typeface="Open Sans" panose="020B0606030504020204" pitchFamily="34" charset="0"/>
              <a:cs typeface="Open Sans" panose="020B0606030504020204" pitchFamily="34" charset="0"/>
            </a:endParaRPr>
          </a:p>
        </p:txBody>
      </p:sp>
      <p:sp>
        <p:nvSpPr>
          <p:cNvPr id="18" name="Equal 17">
            <a:extLst>
              <a:ext uri="{FF2B5EF4-FFF2-40B4-BE49-F238E27FC236}">
                <a16:creationId xmlns:a16="http://schemas.microsoft.com/office/drawing/2014/main" id="{C9B87B21-9B93-EE50-3C46-B2256D901F6F}"/>
              </a:ext>
            </a:extLst>
          </p:cNvPr>
          <p:cNvSpPr/>
          <p:nvPr/>
        </p:nvSpPr>
        <p:spPr>
          <a:xfrm>
            <a:off x="272807" y="2854274"/>
            <a:ext cx="469535" cy="442299"/>
          </a:xfrm>
          <a:prstGeom prst="mathEqual">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9" name="Multiply 18">
            <a:extLst>
              <a:ext uri="{FF2B5EF4-FFF2-40B4-BE49-F238E27FC236}">
                <a16:creationId xmlns:a16="http://schemas.microsoft.com/office/drawing/2014/main" id="{010DE151-0974-99C7-4584-C7FB20563660}"/>
              </a:ext>
            </a:extLst>
          </p:cNvPr>
          <p:cNvSpPr/>
          <p:nvPr/>
        </p:nvSpPr>
        <p:spPr>
          <a:xfrm>
            <a:off x="2397985" y="2940085"/>
            <a:ext cx="371848" cy="356488"/>
          </a:xfrm>
          <a:prstGeom prst="mathMultiply">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Multiply 19">
            <a:extLst>
              <a:ext uri="{FF2B5EF4-FFF2-40B4-BE49-F238E27FC236}">
                <a16:creationId xmlns:a16="http://schemas.microsoft.com/office/drawing/2014/main" id="{4001BEF0-0A65-E7F2-76D1-F9FD8BBD30CE}"/>
              </a:ext>
            </a:extLst>
          </p:cNvPr>
          <p:cNvSpPr/>
          <p:nvPr/>
        </p:nvSpPr>
        <p:spPr>
          <a:xfrm>
            <a:off x="4784556" y="2895371"/>
            <a:ext cx="371848" cy="356488"/>
          </a:xfrm>
          <a:prstGeom prst="mathMultiply">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61B33E2A-0ED0-BBC6-E504-D6E05AE807C8}"/>
              </a:ext>
            </a:extLst>
          </p:cNvPr>
          <p:cNvSpPr txBox="1"/>
          <p:nvPr/>
        </p:nvSpPr>
        <p:spPr>
          <a:xfrm>
            <a:off x="4866615" y="4270067"/>
            <a:ext cx="2905125" cy="523220"/>
          </a:xfrm>
          <a:prstGeom prst="rect">
            <a:avLst/>
          </a:prstGeom>
          <a:noFill/>
          <a:ln>
            <a:solidFill>
              <a:schemeClr val="accent1"/>
            </a:solidFill>
          </a:ln>
        </p:spPr>
        <p:txBody>
          <a:bodyPr wrap="square" rtlCol="0">
            <a:spAutoFit/>
          </a:bodyPr>
          <a:lstStyle/>
          <a:p>
            <a:r>
              <a:rPr lang="en-US" dirty="0">
                <a:solidFill>
                  <a:schemeClr val="bg2"/>
                </a:solidFill>
                <a:latin typeface="Open Sans" panose="020B0606030504020204" pitchFamily="34" charset="0"/>
                <a:ea typeface="Open Sans" panose="020B0606030504020204" pitchFamily="34" charset="0"/>
                <a:cs typeface="Open Sans" panose="020B0606030504020204" pitchFamily="34" charset="0"/>
              </a:rPr>
              <a:t>Similarity of “brain” to MD concept</a:t>
            </a:r>
          </a:p>
        </p:txBody>
      </p:sp>
      <p:cxnSp>
        <p:nvCxnSpPr>
          <p:cNvPr id="3" name="Straight Arrow Connector 2">
            <a:extLst>
              <a:ext uri="{FF2B5EF4-FFF2-40B4-BE49-F238E27FC236}">
                <a16:creationId xmlns:a16="http://schemas.microsoft.com/office/drawing/2014/main" id="{225B06E9-592B-3161-ACC9-4F51B4D2225B}"/>
              </a:ext>
            </a:extLst>
          </p:cNvPr>
          <p:cNvCxnSpPr>
            <a:cxnSpLocks/>
          </p:cNvCxnSpPr>
          <p:nvPr/>
        </p:nvCxnSpPr>
        <p:spPr>
          <a:xfrm flipV="1">
            <a:off x="6538028" y="3561382"/>
            <a:ext cx="999114" cy="7049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7239438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F8AA4A-E8DA-5EB4-57C4-A49A5A98FB24}"/>
              </a:ext>
            </a:extLst>
          </p:cNvPr>
          <p:cNvSpPr>
            <a:spLocks noGrp="1"/>
          </p:cNvSpPr>
          <p:nvPr>
            <p:ph type="title"/>
          </p:nvPr>
        </p:nvSpPr>
        <p:spPr/>
        <p:txBody>
          <a:bodyPr>
            <a:normAutofit fontScale="90000"/>
          </a:bodyPr>
          <a:lstStyle/>
          <a:p>
            <a:r>
              <a:rPr lang="en-US" dirty="0"/>
              <a:t>Good vs Bad Embeddings</a:t>
            </a:r>
          </a:p>
        </p:txBody>
      </p:sp>
      <p:sp>
        <p:nvSpPr>
          <p:cNvPr id="3" name="Text Placeholder 2">
            <a:extLst>
              <a:ext uri="{FF2B5EF4-FFF2-40B4-BE49-F238E27FC236}">
                <a16:creationId xmlns:a16="http://schemas.microsoft.com/office/drawing/2014/main" id="{5D41332D-7214-3D32-711B-FDBA5C5E973F}"/>
              </a:ext>
            </a:extLst>
          </p:cNvPr>
          <p:cNvSpPr>
            <a:spLocks noGrp="1"/>
          </p:cNvSpPr>
          <p:nvPr>
            <p:ph type="body" idx="1"/>
          </p:nvPr>
        </p:nvSpPr>
        <p:spPr/>
        <p:txBody>
          <a:bodyPr/>
          <a:lstStyle/>
          <a:p>
            <a:r>
              <a:rPr lang="en-US" dirty="0"/>
              <a:t>SVD isn’t guaranteed to produce good embeddings so how can we identify good embeddings vs. bad ones?</a:t>
            </a:r>
          </a:p>
        </p:txBody>
      </p:sp>
    </p:spTree>
    <p:extLst>
      <p:ext uri="{BB962C8B-B14F-4D97-AF65-F5344CB8AC3E}">
        <p14:creationId xmlns:p14="http://schemas.microsoft.com/office/powerpoint/2010/main" val="198287777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7877F2-3256-5482-CECB-CB8C30AC81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621FE7-0B7E-C769-FE53-42E7A679D090}"/>
              </a:ext>
            </a:extLst>
          </p:cNvPr>
          <p:cNvSpPr>
            <a:spLocks noGrp="1"/>
          </p:cNvSpPr>
          <p:nvPr>
            <p:ph type="title"/>
          </p:nvPr>
        </p:nvSpPr>
        <p:spPr/>
        <p:txBody>
          <a:bodyPr>
            <a:normAutofit fontScale="90000"/>
          </a:bodyPr>
          <a:lstStyle/>
          <a:p>
            <a:r>
              <a:rPr lang="en-US" dirty="0"/>
              <a:t>Good Embeddings</a:t>
            </a:r>
          </a:p>
        </p:txBody>
      </p:sp>
      <p:sp>
        <p:nvSpPr>
          <p:cNvPr id="3" name="Text Placeholder 2">
            <a:extLst>
              <a:ext uri="{FF2B5EF4-FFF2-40B4-BE49-F238E27FC236}">
                <a16:creationId xmlns:a16="http://schemas.microsoft.com/office/drawing/2014/main" id="{0C258D60-878D-36A9-8321-396B3737F7B2}"/>
              </a:ext>
            </a:extLst>
          </p:cNvPr>
          <p:cNvSpPr>
            <a:spLocks noGrp="1"/>
          </p:cNvSpPr>
          <p:nvPr>
            <p:ph type="body" idx="1"/>
          </p:nvPr>
        </p:nvSpPr>
        <p:spPr/>
        <p:txBody>
          <a:bodyPr/>
          <a:lstStyle/>
          <a:p>
            <a:pPr>
              <a:buFont typeface="+mj-lt"/>
              <a:buAutoNum type="arabicPeriod"/>
            </a:pPr>
            <a:r>
              <a:rPr lang="en-US" dirty="0"/>
              <a:t>Semantic similarity is preserved </a:t>
            </a:r>
            <a:r>
              <a:rPr lang="en-US" dirty="0">
                <a:sym typeface="Wingdings" pitchFamily="2" charset="2"/>
              </a:rPr>
              <a:t> similar words and documents are close in the embedding space</a:t>
            </a:r>
          </a:p>
          <a:p>
            <a:pPr>
              <a:buFont typeface="+mj-lt"/>
              <a:buAutoNum type="arabicPeriod"/>
            </a:pPr>
            <a:r>
              <a:rPr lang="en-US" dirty="0">
                <a:sym typeface="Wingdings" pitchFamily="2" charset="2"/>
              </a:rPr>
              <a:t>Latent components become separable  semantically similar concepts cluster together</a:t>
            </a:r>
          </a:p>
          <a:p>
            <a:pPr>
              <a:buFont typeface="+mj-lt"/>
              <a:buAutoNum type="arabicPeriod"/>
            </a:pPr>
            <a:r>
              <a:rPr lang="en-US" dirty="0">
                <a:sym typeface="Wingdings" pitchFamily="2" charset="2"/>
              </a:rPr>
              <a:t>Filters out noise such as conjunctions and typos</a:t>
            </a:r>
            <a:endParaRPr lang="en-US" dirty="0"/>
          </a:p>
          <a:p>
            <a:pPr>
              <a:buFont typeface="+mj-lt"/>
              <a:buAutoNum type="arabicPeriod"/>
            </a:pPr>
            <a:endParaRPr lang="en-US" dirty="0">
              <a:sym typeface="Wingdings" pitchFamily="2" charset="2"/>
            </a:endParaRPr>
          </a:p>
          <a:p>
            <a:pPr marL="114300" indent="0">
              <a:buNone/>
            </a:pPr>
            <a:r>
              <a:rPr lang="en-US" dirty="0">
                <a:sym typeface="Wingdings" pitchFamily="2" charset="2"/>
              </a:rPr>
              <a:t>Typically, if you </a:t>
            </a:r>
            <a:r>
              <a:rPr lang="en-US" b="1" dirty="0">
                <a:sym typeface="Wingdings" pitchFamily="2" charset="2"/>
              </a:rPr>
              <a:t>don’t </a:t>
            </a:r>
            <a:r>
              <a:rPr lang="en-US" dirty="0">
                <a:sym typeface="Wingdings" pitchFamily="2" charset="2"/>
              </a:rPr>
              <a:t>satisfy these factors, </a:t>
            </a:r>
            <a:r>
              <a:rPr lang="en-US" b="1" dirty="0">
                <a:sym typeface="Wingdings" pitchFamily="2" charset="2"/>
              </a:rPr>
              <a:t>you likely have a bad embedding</a:t>
            </a:r>
          </a:p>
        </p:txBody>
      </p:sp>
    </p:spTree>
    <p:extLst>
      <p:ext uri="{BB962C8B-B14F-4D97-AF65-F5344CB8AC3E}">
        <p14:creationId xmlns:p14="http://schemas.microsoft.com/office/powerpoint/2010/main" val="288107534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D1ED88-B6A3-ABAC-F0A6-C039A9BD06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614711-002B-E4B4-FA24-B425B7047055}"/>
              </a:ext>
            </a:extLst>
          </p:cNvPr>
          <p:cNvSpPr>
            <a:spLocks noGrp="1"/>
          </p:cNvSpPr>
          <p:nvPr>
            <p:ph type="title"/>
          </p:nvPr>
        </p:nvSpPr>
        <p:spPr/>
        <p:txBody>
          <a:bodyPr>
            <a:normAutofit fontScale="90000"/>
          </a:bodyPr>
          <a:lstStyle/>
          <a:p>
            <a:r>
              <a:rPr lang="en-US" dirty="0"/>
              <a:t>What causes bad embeddings?</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99D88DC3-2298-AF28-229B-CB4398500BFD}"/>
                  </a:ext>
                </a:extLst>
              </p:cNvPr>
              <p:cNvSpPr>
                <a:spLocks noGrp="1"/>
              </p:cNvSpPr>
              <p:nvPr>
                <p:ph type="body" idx="1"/>
              </p:nvPr>
            </p:nvSpPr>
            <p:spPr/>
            <p:txBody>
              <a:bodyPr>
                <a:normAutofit/>
              </a:bodyPr>
              <a:lstStyle/>
              <a:p>
                <a:pPr>
                  <a:buFont typeface="+mj-lt"/>
                  <a:buAutoNum type="arabicPeriod"/>
                </a:pPr>
                <a:r>
                  <a:rPr lang="en-US" b="0" dirty="0">
                    <a:sym typeface="Wingdings" pitchFamily="2" charset="2"/>
                  </a:rPr>
                  <a:t> </a:t>
                </a:r>
                <a14:m>
                  <m:oMath xmlns:m="http://schemas.openxmlformats.org/officeDocument/2006/math">
                    <m:r>
                      <a:rPr lang="en-US" b="0" i="1" smtClean="0">
                        <a:latin typeface="Cambria Math" panose="02040503050406030204" pitchFamily="18" charset="0"/>
                        <a:sym typeface="Wingdings" pitchFamily="2" charset="2"/>
                      </a:rPr>
                      <m:t>𝑘</m:t>
                    </m:r>
                  </m:oMath>
                </a14:m>
                <a:r>
                  <a:rPr lang="en-US" b="0" dirty="0">
                    <a:sym typeface="Wingdings" pitchFamily="2" charset="2"/>
                  </a:rPr>
                  <a:t> too small  oversimplified approximation of the dataset</a:t>
                </a:r>
              </a:p>
              <a:p>
                <a:pPr>
                  <a:buFont typeface="+mj-lt"/>
                  <a:buAutoNum type="arabicPeriod"/>
                </a:pPr>
                <a:r>
                  <a:rPr lang="en-US" b="0" dirty="0">
                    <a:sym typeface="Wingdings" pitchFamily="2" charset="2"/>
                  </a:rPr>
                  <a:t> </a:t>
                </a:r>
                <a14:m>
                  <m:oMath xmlns:m="http://schemas.openxmlformats.org/officeDocument/2006/math">
                    <m:r>
                      <a:rPr lang="en-US" b="0" i="1" smtClean="0">
                        <a:latin typeface="Cambria Math" panose="02040503050406030204" pitchFamily="18" charset="0"/>
                        <a:sym typeface="Wingdings" pitchFamily="2" charset="2"/>
                      </a:rPr>
                      <m:t>𝑘</m:t>
                    </m:r>
                  </m:oMath>
                </a14:m>
                <a:r>
                  <a:rPr lang="en-US" b="0" dirty="0">
                    <a:sym typeface="Wingdings" pitchFamily="2" charset="2"/>
                  </a:rPr>
                  <a:t> too large  noise is preserved and efficiency is not gained</a:t>
                </a:r>
              </a:p>
              <a:p>
                <a:pPr>
                  <a:buFont typeface="+mj-lt"/>
                  <a:buAutoNum type="arabicPeriod"/>
                </a:pPr>
                <a:r>
                  <a:rPr lang="en-US" dirty="0">
                    <a:sym typeface="Wingdings" pitchFamily="2" charset="2"/>
                  </a:rPr>
                  <a:t>Frequent words dominate</a:t>
                </a:r>
                <a:endParaRPr lang="en-US" b="0" dirty="0">
                  <a:sym typeface="Wingdings" pitchFamily="2" charset="2"/>
                </a:endParaRPr>
              </a:p>
              <a:p>
                <a:pPr>
                  <a:buFont typeface="+mj-lt"/>
                  <a:buAutoNum type="arabicPeriod"/>
                </a:pPr>
                <a:endParaRPr lang="en-US" b="0" dirty="0">
                  <a:sym typeface="Wingdings" pitchFamily="2" charset="2"/>
                </a:endParaRPr>
              </a:p>
              <a:p>
                <a:pPr>
                  <a:buFont typeface="+mj-lt"/>
                  <a:buAutoNum type="arabicPeriod"/>
                </a:pPr>
                <a:endParaRPr lang="en-US" dirty="0">
                  <a:sym typeface="Wingdings" pitchFamily="2" charset="2"/>
                </a:endParaRPr>
              </a:p>
            </p:txBody>
          </p:sp>
        </mc:Choice>
        <mc:Fallback xmlns="">
          <p:sp>
            <p:nvSpPr>
              <p:cNvPr id="3" name="Text Placeholder 2">
                <a:extLst>
                  <a:ext uri="{FF2B5EF4-FFF2-40B4-BE49-F238E27FC236}">
                    <a16:creationId xmlns:a16="http://schemas.microsoft.com/office/drawing/2014/main" id="{99D88DC3-2298-AF28-229B-CB4398500BFD}"/>
                  </a:ext>
                </a:extLst>
              </p:cNvPr>
              <p:cNvSpPr>
                <a:spLocks noGrp="1" noRot="1" noChangeAspect="1" noMove="1" noResize="1" noEditPoints="1" noAdjustHandles="1" noChangeArrowheads="1" noChangeShapeType="1" noTextEdit="1"/>
              </p:cNvSpPr>
              <p:nvPr>
                <p:ph type="body" idx="1"/>
              </p:nvPr>
            </p:nvSpPr>
            <p:spPr>
              <a:blipFill>
                <a:blip r:embed="rId2"/>
                <a:stretch>
                  <a:fillRect/>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8ED66121-7556-464D-1205-E54548B6EE81}"/>
              </a:ext>
            </a:extLst>
          </p:cNvPr>
          <p:cNvSpPr txBox="1"/>
          <p:nvPr/>
        </p:nvSpPr>
        <p:spPr>
          <a:xfrm>
            <a:off x="816746" y="1266325"/>
            <a:ext cx="6942337" cy="731151"/>
          </a:xfrm>
          <a:prstGeom prst="rect">
            <a:avLst/>
          </a:prstGeom>
          <a:noFill/>
          <a:ln>
            <a:solidFill>
              <a:schemeClr val="accent1"/>
            </a:solidFill>
          </a:ln>
        </p:spPr>
        <p:txBody>
          <a:bodyPr wrap="square" rtlCol="0">
            <a:spAutoFit/>
          </a:bodyPr>
          <a:lstStyle/>
          <a:p>
            <a:endParaRPr lang="en-US" dirty="0"/>
          </a:p>
        </p:txBody>
      </p:sp>
      <p:cxnSp>
        <p:nvCxnSpPr>
          <p:cNvPr id="6" name="Straight Arrow Connector 5">
            <a:extLst>
              <a:ext uri="{FF2B5EF4-FFF2-40B4-BE49-F238E27FC236}">
                <a16:creationId xmlns:a16="http://schemas.microsoft.com/office/drawing/2014/main" id="{1AAB1897-772A-931E-1364-226A14160DFE}"/>
              </a:ext>
            </a:extLst>
          </p:cNvPr>
          <p:cNvCxnSpPr/>
          <p:nvPr/>
        </p:nvCxnSpPr>
        <p:spPr>
          <a:xfrm flipH="1" flipV="1">
            <a:off x="5264458" y="1997476"/>
            <a:ext cx="221942" cy="14559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8D82637A-357A-2D30-F247-16B8EF14A934}"/>
              </a:ext>
            </a:extLst>
          </p:cNvPr>
          <p:cNvSpPr txBox="1"/>
          <p:nvPr/>
        </p:nvSpPr>
        <p:spPr>
          <a:xfrm>
            <a:off x="4475997" y="3453414"/>
            <a:ext cx="2905125" cy="954107"/>
          </a:xfrm>
          <a:prstGeom prst="rect">
            <a:avLst/>
          </a:prstGeom>
          <a:noFill/>
          <a:ln>
            <a:solidFill>
              <a:schemeClr val="accent1"/>
            </a:solidFill>
          </a:ln>
        </p:spPr>
        <p:txBody>
          <a:bodyPr wrap="square" rtlCol="0">
            <a:spAutoFit/>
          </a:bodyPr>
          <a:lstStyle/>
          <a:p>
            <a:r>
              <a:rPr lang="en-US" dirty="0">
                <a:solidFill>
                  <a:schemeClr val="bg2"/>
                </a:solidFill>
                <a:latin typeface="Open Sans" panose="020B0606030504020204" pitchFamily="34" charset="0"/>
                <a:ea typeface="Open Sans" panose="020B0606030504020204" pitchFamily="34" charset="0"/>
                <a:cs typeface="Open Sans" panose="020B0606030504020204" pitchFamily="34" charset="0"/>
              </a:rPr>
              <a:t>We can use the elbow method by plotting singular values in descending order and finding the point of diminishing returns</a:t>
            </a:r>
          </a:p>
        </p:txBody>
      </p:sp>
    </p:spTree>
    <p:extLst>
      <p:ext uri="{BB962C8B-B14F-4D97-AF65-F5344CB8AC3E}">
        <p14:creationId xmlns:p14="http://schemas.microsoft.com/office/powerpoint/2010/main" val="341757483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5C08D1-E7AE-9914-3CC7-AB8D1D132B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916AAD-C6CE-6173-B7D2-27A485D315BC}"/>
              </a:ext>
            </a:extLst>
          </p:cNvPr>
          <p:cNvSpPr>
            <a:spLocks noGrp="1"/>
          </p:cNvSpPr>
          <p:nvPr>
            <p:ph type="title"/>
          </p:nvPr>
        </p:nvSpPr>
        <p:spPr/>
        <p:txBody>
          <a:bodyPr>
            <a:normAutofit fontScale="90000"/>
          </a:bodyPr>
          <a:lstStyle/>
          <a:p>
            <a:r>
              <a:rPr lang="en-US" dirty="0"/>
              <a:t>What causes bad embeddings?</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0E233944-3279-3B00-D6EC-79E42E062AC1}"/>
                  </a:ext>
                </a:extLst>
              </p:cNvPr>
              <p:cNvSpPr>
                <a:spLocks noGrp="1"/>
              </p:cNvSpPr>
              <p:nvPr>
                <p:ph type="body" idx="1"/>
              </p:nvPr>
            </p:nvSpPr>
            <p:spPr/>
            <p:txBody>
              <a:bodyPr>
                <a:normAutofit/>
              </a:bodyPr>
              <a:lstStyle/>
              <a:p>
                <a:pPr>
                  <a:buFont typeface="+mj-lt"/>
                  <a:buAutoNum type="arabicPeriod"/>
                </a:pPr>
                <a:r>
                  <a:rPr lang="en-US" b="0" dirty="0">
                    <a:sym typeface="Wingdings" pitchFamily="2" charset="2"/>
                  </a:rPr>
                  <a:t> </a:t>
                </a:r>
                <a14:m>
                  <m:oMath xmlns:m="http://schemas.openxmlformats.org/officeDocument/2006/math">
                    <m:r>
                      <a:rPr lang="en-US" b="0" i="1" smtClean="0">
                        <a:latin typeface="Cambria Math" panose="02040503050406030204" pitchFamily="18" charset="0"/>
                        <a:sym typeface="Wingdings" pitchFamily="2" charset="2"/>
                      </a:rPr>
                      <m:t>𝑘</m:t>
                    </m:r>
                  </m:oMath>
                </a14:m>
                <a:r>
                  <a:rPr lang="en-US" b="0" dirty="0">
                    <a:sym typeface="Wingdings" pitchFamily="2" charset="2"/>
                  </a:rPr>
                  <a:t> too small  oversimplified approximation of the dataset</a:t>
                </a:r>
              </a:p>
              <a:p>
                <a:pPr>
                  <a:buFont typeface="+mj-lt"/>
                  <a:buAutoNum type="arabicPeriod"/>
                </a:pPr>
                <a:r>
                  <a:rPr lang="en-US" b="0" dirty="0">
                    <a:sym typeface="Wingdings" pitchFamily="2" charset="2"/>
                  </a:rPr>
                  <a:t> </a:t>
                </a:r>
                <a14:m>
                  <m:oMath xmlns:m="http://schemas.openxmlformats.org/officeDocument/2006/math">
                    <m:r>
                      <a:rPr lang="en-US" b="0" i="1" smtClean="0">
                        <a:latin typeface="Cambria Math" panose="02040503050406030204" pitchFamily="18" charset="0"/>
                        <a:sym typeface="Wingdings" pitchFamily="2" charset="2"/>
                      </a:rPr>
                      <m:t>𝑘</m:t>
                    </m:r>
                  </m:oMath>
                </a14:m>
                <a:r>
                  <a:rPr lang="en-US" b="0" dirty="0">
                    <a:sym typeface="Wingdings" pitchFamily="2" charset="2"/>
                  </a:rPr>
                  <a:t> too large  noise is preserved and efficiency is not gained</a:t>
                </a:r>
              </a:p>
              <a:p>
                <a:pPr>
                  <a:buFont typeface="+mj-lt"/>
                  <a:buAutoNum type="arabicPeriod"/>
                </a:pPr>
                <a:r>
                  <a:rPr lang="en-US" dirty="0">
                    <a:sym typeface="Wingdings" pitchFamily="2" charset="2"/>
                  </a:rPr>
                  <a:t>Frequent words dominate</a:t>
                </a:r>
                <a:endParaRPr lang="en-US" b="0" dirty="0">
                  <a:sym typeface="Wingdings" pitchFamily="2" charset="2"/>
                </a:endParaRPr>
              </a:p>
              <a:p>
                <a:pPr>
                  <a:buFont typeface="+mj-lt"/>
                  <a:buAutoNum type="arabicPeriod"/>
                </a:pPr>
                <a:endParaRPr lang="en-US" b="0" dirty="0">
                  <a:sym typeface="Wingdings" pitchFamily="2" charset="2"/>
                </a:endParaRPr>
              </a:p>
              <a:p>
                <a:pPr>
                  <a:buFont typeface="+mj-lt"/>
                  <a:buAutoNum type="arabicPeriod"/>
                </a:pPr>
                <a:endParaRPr lang="en-US" dirty="0">
                  <a:sym typeface="Wingdings" pitchFamily="2" charset="2"/>
                </a:endParaRPr>
              </a:p>
            </p:txBody>
          </p:sp>
        </mc:Choice>
        <mc:Fallback xmlns="">
          <p:sp>
            <p:nvSpPr>
              <p:cNvPr id="3" name="Text Placeholder 2">
                <a:extLst>
                  <a:ext uri="{FF2B5EF4-FFF2-40B4-BE49-F238E27FC236}">
                    <a16:creationId xmlns:a16="http://schemas.microsoft.com/office/drawing/2014/main" id="{0E233944-3279-3B00-D6EC-79E42E062AC1}"/>
                  </a:ext>
                </a:extLst>
              </p:cNvPr>
              <p:cNvSpPr>
                <a:spLocks noGrp="1" noRot="1" noChangeAspect="1" noMove="1" noResize="1" noEditPoints="1" noAdjustHandles="1" noChangeArrowheads="1" noChangeShapeType="1" noTextEdit="1"/>
              </p:cNvSpPr>
              <p:nvPr>
                <p:ph type="body" idx="1"/>
              </p:nvPr>
            </p:nvSpPr>
            <p:spPr>
              <a:blipFill>
                <a:blip r:embed="rId2"/>
                <a:stretch>
                  <a:fillRect/>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8982F0DF-47D6-FB1B-06F2-A78C609EF0A8}"/>
              </a:ext>
            </a:extLst>
          </p:cNvPr>
          <p:cNvSpPr txBox="1"/>
          <p:nvPr/>
        </p:nvSpPr>
        <p:spPr>
          <a:xfrm>
            <a:off x="825624" y="2003172"/>
            <a:ext cx="2858609" cy="296145"/>
          </a:xfrm>
          <a:prstGeom prst="rect">
            <a:avLst/>
          </a:prstGeom>
          <a:noFill/>
          <a:ln>
            <a:solidFill>
              <a:schemeClr val="accent1"/>
            </a:solidFill>
          </a:ln>
        </p:spPr>
        <p:txBody>
          <a:bodyPr wrap="square" rtlCol="0">
            <a:spAutoFit/>
          </a:bodyPr>
          <a:lstStyle/>
          <a:p>
            <a:endParaRPr lang="en-US" dirty="0"/>
          </a:p>
        </p:txBody>
      </p:sp>
      <p:cxnSp>
        <p:nvCxnSpPr>
          <p:cNvPr id="6" name="Straight Arrow Connector 5">
            <a:extLst>
              <a:ext uri="{FF2B5EF4-FFF2-40B4-BE49-F238E27FC236}">
                <a16:creationId xmlns:a16="http://schemas.microsoft.com/office/drawing/2014/main" id="{345D9664-877B-7E0A-98DA-BF0E0673AA22}"/>
              </a:ext>
            </a:extLst>
          </p:cNvPr>
          <p:cNvCxnSpPr>
            <a:cxnSpLocks/>
          </p:cNvCxnSpPr>
          <p:nvPr/>
        </p:nvCxnSpPr>
        <p:spPr>
          <a:xfrm flipH="1" flipV="1">
            <a:off x="3462291" y="2388093"/>
            <a:ext cx="2024109" cy="106532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F462F64B-F3AA-F462-F3AA-1401E058A294}"/>
              </a:ext>
            </a:extLst>
          </p:cNvPr>
          <p:cNvSpPr txBox="1"/>
          <p:nvPr/>
        </p:nvSpPr>
        <p:spPr>
          <a:xfrm>
            <a:off x="4475997" y="3453414"/>
            <a:ext cx="2905125" cy="307777"/>
          </a:xfrm>
          <a:prstGeom prst="rect">
            <a:avLst/>
          </a:prstGeom>
          <a:noFill/>
          <a:ln>
            <a:solidFill>
              <a:schemeClr val="accent1"/>
            </a:solidFill>
          </a:ln>
        </p:spPr>
        <p:txBody>
          <a:bodyPr wrap="square" rtlCol="0">
            <a:spAutoFit/>
          </a:bodyPr>
          <a:lstStyle/>
          <a:p>
            <a:r>
              <a:rPr lang="en-US" dirty="0">
                <a:solidFill>
                  <a:schemeClr val="bg2"/>
                </a:solidFill>
                <a:latin typeface="Open Sans" panose="020B0606030504020204" pitchFamily="34" charset="0"/>
                <a:ea typeface="Open Sans" panose="020B0606030504020204" pitchFamily="34" charset="0"/>
                <a:cs typeface="Open Sans" panose="020B0606030504020204" pitchFamily="34" charset="0"/>
              </a:rPr>
              <a:t>Why is this a problem?</a:t>
            </a:r>
          </a:p>
        </p:txBody>
      </p:sp>
    </p:spTree>
    <p:extLst>
      <p:ext uri="{BB962C8B-B14F-4D97-AF65-F5344CB8AC3E}">
        <p14:creationId xmlns:p14="http://schemas.microsoft.com/office/powerpoint/2010/main" val="324811310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85729D3-3662-6154-718F-73343D8EF6CC}"/>
              </a:ext>
            </a:extLst>
          </p:cNvPr>
          <p:cNvSpPr/>
          <p:nvPr>
            <p:custDataLst>
              <p:tags r:id="rId2"/>
            </p:custDataLst>
          </p:nvPr>
        </p:nvSpPr>
        <p:spPr>
          <a:xfrm>
            <a:off x="333520" y="1307028"/>
            <a:ext cx="1778772" cy="1778772"/>
          </a:xfrm>
          <a:prstGeom prst="rect">
            <a:avLst/>
          </a:prstGeom>
          <a:blipFill>
            <a:blip>
              <a:extLst>
                <a:ext uri="{96DAC541-7B7A-43D3-8B79-37D633B846F1}">
                  <asvg:svgBlip xmlns:asvg="http://schemas.microsoft.com/office/drawing/2016/SVG/main" r:embed="rId7"/>
                </a:ext>
              </a:extLst>
            </a:blip>
            <a:stretch>
              <a:fillRect/>
            </a:stretch>
          </a:blipFill>
          <a:ln w="25400" cap="flat" cmpd="sng" algn="ctr">
            <a:noFill/>
            <a:prstDash val="solid"/>
          </a:ln>
          <a:effectLst/>
          <a:extLst>
            <a:ext uri="{91240B29-F687-4F45-9708-019B960494DF}">
              <a14:hiddenLine xmlns:a14="http://schemas.microsoft.com/office/drawing/2010/main" w="25400" cap="flat" cmpd="sng" algn="ctr">
                <a:solidFill>
                  <a:srgbClr val="FFFFFF"/>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66568A91-EA8D-52F1-B5DA-834DB36C7F8C}"/>
              </a:ext>
            </a:extLst>
          </p:cNvPr>
          <p:cNvSpPr/>
          <p:nvPr>
            <p:custDataLst>
              <p:tags r:id="rId3"/>
            </p:custDataLst>
          </p:nvPr>
        </p:nvSpPr>
        <p:spPr>
          <a:xfrm>
            <a:off x="2334638" y="750673"/>
            <a:ext cx="6364669" cy="2891481"/>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rgbClr val="FFFFFF"/>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4000" b="1">
                <a:solidFill>
                  <a:srgbClr val="000000"/>
                </a:solidFill>
              </a:rPr>
              <a:t>Why is the word 'the' problematic for plain term-frequency-based LSA?
</a:t>
            </a:r>
          </a:p>
        </p:txBody>
      </p:sp>
      <p:sp>
        <p:nvSpPr>
          <p:cNvPr id="4" name="Rectangle 3">
            <a:extLst>
              <a:ext uri="{FF2B5EF4-FFF2-40B4-BE49-F238E27FC236}">
                <a16:creationId xmlns:a16="http://schemas.microsoft.com/office/drawing/2014/main" id="{7D138975-7EB2-10E1-A21F-CAA7F312A853}"/>
              </a:ext>
            </a:extLst>
          </p:cNvPr>
          <p:cNvSpPr/>
          <p:nvPr>
            <p:custDataLst>
              <p:tags r:id="rId4"/>
            </p:custDataLst>
          </p:nvPr>
        </p:nvSpPr>
        <p:spPr>
          <a:xfrm>
            <a:off x="0" y="4365024"/>
            <a:ext cx="9144000" cy="778476"/>
          </a:xfrm>
          <a:prstGeom prst="rect">
            <a:avLst/>
          </a:prstGeom>
          <a:solidFill>
            <a:srgbClr val="19803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lIns="555866" tIns="194619" rIns="1389666" bIns="152915" rtlCol="0" anchor="ctr">
            <a:normAutofit fontScale="62500" lnSpcReduction="20000"/>
          </a:bodyPr>
          <a:lstStyle/>
          <a:p>
            <a:r>
              <a:rPr lang="en-US" sz="2600">
                <a:solidFill>
                  <a:srgbClr val="FFFFFF"/>
                </a:solidFill>
              </a:rPr>
              <a:t>The </a:t>
            </a:r>
            <a:r>
              <a:rPr lang="en-US" sz="2600">
                <a:solidFill>
                  <a:srgbClr val="FFFFFF"/>
                </a:solidFill>
                <a:hlinkClick r:id="rId8">
                  <a:extLst>
                    <a:ext uri="{A12FA001-AC4F-418D-AE19-62706E023703}">
                      <ahyp:hlinkClr xmlns:ahyp="http://schemas.microsoft.com/office/drawing/2018/hyperlinkcolor" val="tx"/>
                    </a:ext>
                  </a:extLst>
                </a:hlinkClick>
              </a:rPr>
              <a:t>Slido app</a:t>
            </a:r>
            <a:r>
              <a:rPr lang="en-US" sz="2600">
                <a:solidFill>
                  <a:srgbClr val="FFFFFF"/>
                </a:solidFill>
              </a:rPr>
              <a:t> must be installed on every computer you’re presenting from</a:t>
            </a:r>
          </a:p>
        </p:txBody>
      </p:sp>
      <p:pic>
        <p:nvPicPr>
          <p:cNvPr id="6" name="Graphic 5">
            <a:extLst>
              <a:ext uri="{FF2B5EF4-FFF2-40B4-BE49-F238E27FC236}">
                <a16:creationId xmlns:a16="http://schemas.microsoft.com/office/drawing/2014/main" id="{33B9F2FF-7772-2009-2987-D06EBF46775F}"/>
              </a:ext>
            </a:extLst>
          </p:cNvPr>
          <p:cNvPicPr>
            <a:picLocks/>
          </p:cNvPicPr>
          <p:nvPr/>
        </p:nvPicPr>
        <p:blipFill>
          <a:blip>
            <a:extLst>
              <a:ext uri="{96DAC541-7B7A-43D3-8B79-37D633B846F1}">
                <asvg:svgBlip xmlns:asvg="http://schemas.microsoft.com/office/drawing/2016/SVG/main" r:embed="rId9"/>
              </a:ext>
            </a:extLst>
          </a:blip>
          <a:stretch>
            <a:fillRect/>
          </a:stretch>
        </p:blipFill>
        <p:spPr>
          <a:xfrm>
            <a:off x="222347" y="4643089"/>
            <a:ext cx="222347" cy="222347"/>
          </a:xfrm>
          <a:prstGeom prst="rect">
            <a:avLst/>
          </a:prstGeom>
        </p:spPr>
      </p:pic>
      <p:sp>
        <p:nvSpPr>
          <p:cNvPr id="7" name="Trapezoid 6">
            <a:extLst>
              <a:ext uri="{FF2B5EF4-FFF2-40B4-BE49-F238E27FC236}">
                <a16:creationId xmlns:a16="http://schemas.microsoft.com/office/drawing/2014/main" id="{492DE5FB-D4D6-C9F8-376F-62856FC6562D}"/>
              </a:ext>
            </a:extLst>
          </p:cNvPr>
          <p:cNvSpPr/>
          <p:nvPr>
            <p:custDataLst>
              <p:tags r:id="rId5"/>
            </p:custDataLst>
          </p:nvPr>
        </p:nvSpPr>
        <p:spPr>
          <a:xfrm rot="2700000">
            <a:off x="7215278" y="386193"/>
            <a:ext cx="2501399" cy="583660"/>
          </a:xfrm>
          <a:prstGeom prst="trapezoid">
            <a:avLst>
              <a:gd name="adj" fmla="val 100000"/>
            </a:avLst>
          </a:prstGeom>
          <a:solidFill>
            <a:srgbClr val="EDFAF2"/>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tIns="0" bIns="0" rtlCol="0" anchor="t">
            <a:normAutofit fontScale="55000" lnSpcReduction="20000"/>
          </a:bodyPr>
          <a:lstStyle/>
          <a:p>
            <a:pPr algn="ctr"/>
            <a:r>
              <a:rPr lang="en-US" sz="2600" b="1">
                <a:solidFill>
                  <a:srgbClr val="198038"/>
                </a:solidFill>
              </a:rPr>
              <a:t>Do not edit
</a:t>
            </a:r>
            <a:r>
              <a:rPr lang="en-US" sz="2200">
                <a:solidFill>
                  <a:srgbClr val="198038"/>
                </a:solidFill>
                <a:hlinkClick r:id="rId10">
                  <a:extLst>
                    <a:ext uri="{A12FA001-AC4F-418D-AE19-62706E023703}">
                      <ahyp:hlinkClr xmlns:ahyp="http://schemas.microsoft.com/office/drawing/2018/hyperlinkcolor" val="tx"/>
                    </a:ext>
                  </a:extLst>
                </a:hlinkClick>
              </a:rPr>
              <a:t>How to change the design</a:t>
            </a:r>
            <a:endParaRPr lang="en-US" sz="2200">
              <a:solidFill>
                <a:srgbClr val="198038"/>
              </a:solidFill>
            </a:endParaRPr>
          </a:p>
        </p:txBody>
      </p:sp>
      <p:pic>
        <p:nvPicPr>
          <p:cNvPr id="9" name="Graphic 8">
            <a:extLst>
              <a:ext uri="{FF2B5EF4-FFF2-40B4-BE49-F238E27FC236}">
                <a16:creationId xmlns:a16="http://schemas.microsoft.com/office/drawing/2014/main" id="{5D111884-2117-BC7B-EAB4-FF3B770F3233}"/>
              </a:ext>
            </a:extLst>
          </p:cNvPr>
          <p:cNvPicPr>
            <a:picLocks/>
          </p:cNvPicPr>
          <p:nvPr/>
        </p:nvPicPr>
        <p:blipFill>
          <a:blip>
            <a:extLst>
              <a:ext uri="{96DAC541-7B7A-43D3-8B79-37D633B846F1}">
                <asvg:svgBlip xmlns:asvg="http://schemas.microsoft.com/office/drawing/2016/SVG/main" r:embed="rId11"/>
              </a:ext>
            </a:extLst>
          </a:blip>
          <a:stretch>
            <a:fillRect/>
          </a:stretch>
        </p:blipFill>
        <p:spPr>
          <a:xfrm>
            <a:off x="8060062" y="4615295"/>
            <a:ext cx="833799" cy="277933"/>
          </a:xfrm>
          <a:prstGeom prst="rect">
            <a:avLst/>
          </a:prstGeom>
        </p:spPr>
      </p:pic>
    </p:spTree>
    <p:custDataLst>
      <p:tags r:id="rId1"/>
    </p:custDataLst>
    <p:extLst>
      <p:ext uri="{BB962C8B-B14F-4D97-AF65-F5344CB8AC3E}">
        <p14:creationId xmlns:p14="http://schemas.microsoft.com/office/powerpoint/2010/main" val="11644588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 tmFilter="0, 0; .2, .5; .8, .5; 1, 0"/>
                                        <p:tgtEl>
                                          <p:spTgt spid="3"/>
                                        </p:tgtEl>
                                      </p:cBhvr>
                                    </p:animEffect>
                                    <p:animScale>
                                      <p:cBhvr>
                                        <p:cTn id="7" dur="25" autoRev="1" fill="hold"/>
                                        <p:tgtEl>
                                          <p:spTgt spid="3"/>
                                        </p:tgtEl>
                                      </p:cBhvr>
                                      <p:by x="105000" y="105000"/>
                                    </p:animScale>
                                  </p:childTnLst>
                                </p:cTn>
                              </p:par>
                            </p:childTnLst>
                          </p:cTn>
                        </p:par>
                      </p:childTnLst>
                    </p:cTn>
                  </p:par>
                  <p:par>
                    <p:cTn id="8" fill="hold">
                      <p:stCondLst>
                        <p:cond delay="indefinite"/>
                      </p:stCondLst>
                      <p:childTnLst>
                        <p:par>
                          <p:cTn id="9" fill="hold">
                            <p:stCondLst>
                              <p:cond delay="0"/>
                            </p:stCondLst>
                            <p:childTnLst>
                              <p:par>
                                <p:cTn id="10" presetID="26" presetClass="emph" presetSubtype="0" fill="hold" grpId="1" nodeType="clickEffect">
                                  <p:stCondLst>
                                    <p:cond delay="0"/>
                                  </p:stCondLst>
                                  <p:childTnLst>
                                    <p:animEffect transition="out" filter="fade">
                                      <p:cBhvr>
                                        <p:cTn id="11" dur="50" tmFilter="0, 0; .2, .5; .8, .5; 1, 0"/>
                                        <p:tgtEl>
                                          <p:spTgt spid="3"/>
                                        </p:tgtEl>
                                      </p:cBhvr>
                                    </p:animEffect>
                                    <p:animScale>
                                      <p:cBhvr>
                                        <p:cTn id="12" dur="25" autoRev="1" fill="hold"/>
                                        <p:tgtEl>
                                          <p:spTgt spid="3"/>
                                        </p:tgtEl>
                                      </p:cBhvr>
                                      <p:by x="105000" y="105000"/>
                                    </p:animScale>
                                  </p:childTnLst>
                                </p:cTn>
                              </p:par>
                            </p:childTnLst>
                          </p:cTn>
                        </p:par>
                      </p:childTnLst>
                    </p:cTn>
                  </p:par>
                  <p:par>
                    <p:cTn id="13" fill="hold">
                      <p:stCondLst>
                        <p:cond delay="indefinite"/>
                      </p:stCondLst>
                      <p:childTnLst>
                        <p:par>
                          <p:cTn id="14" fill="hold">
                            <p:stCondLst>
                              <p:cond delay="0"/>
                            </p:stCondLst>
                            <p:childTnLst>
                              <p:par>
                                <p:cTn id="15" presetID="26" presetClass="emph" presetSubtype="0" fill="hold" grpId="2" nodeType="clickEffect">
                                  <p:stCondLst>
                                    <p:cond delay="0"/>
                                  </p:stCondLst>
                                  <p:childTnLst>
                                    <p:animEffect transition="out" filter="fade">
                                      <p:cBhvr>
                                        <p:cTn id="16" dur="50" tmFilter="0, 0; .2, .5; .8, .5; 1, 0"/>
                                        <p:tgtEl>
                                          <p:spTgt spid="3"/>
                                        </p:tgtEl>
                                      </p:cBhvr>
                                    </p:animEffect>
                                    <p:animScale>
                                      <p:cBhvr>
                                        <p:cTn id="17" dur="25" autoRev="1" fill="hold"/>
                                        <p:tgtEl>
                                          <p:spTgt spid="3"/>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P spid="3" grpId="2"/>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4E53CE-7BEE-22AC-7D94-C8100E3672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9A7D00-947E-8542-C2E9-31E05F836CF2}"/>
              </a:ext>
            </a:extLst>
          </p:cNvPr>
          <p:cNvSpPr>
            <a:spLocks noGrp="1"/>
          </p:cNvSpPr>
          <p:nvPr>
            <p:ph type="title"/>
          </p:nvPr>
        </p:nvSpPr>
        <p:spPr/>
        <p:txBody>
          <a:bodyPr>
            <a:normAutofit fontScale="90000"/>
          </a:bodyPr>
          <a:lstStyle/>
          <a:p>
            <a:r>
              <a:rPr lang="en-US" dirty="0"/>
              <a:t>Term Frequency in LSA</a:t>
            </a:r>
          </a:p>
        </p:txBody>
      </p:sp>
      <p:sp>
        <p:nvSpPr>
          <p:cNvPr id="3" name="Text Placeholder 2">
            <a:extLst>
              <a:ext uri="{FF2B5EF4-FFF2-40B4-BE49-F238E27FC236}">
                <a16:creationId xmlns:a16="http://schemas.microsoft.com/office/drawing/2014/main" id="{EE09BCB5-7C3B-00B5-CFD7-565A2F7E8136}"/>
              </a:ext>
            </a:extLst>
          </p:cNvPr>
          <p:cNvSpPr>
            <a:spLocks noGrp="1"/>
          </p:cNvSpPr>
          <p:nvPr>
            <p:ph type="body" idx="1"/>
          </p:nvPr>
        </p:nvSpPr>
        <p:spPr/>
        <p:txBody>
          <a:bodyPr>
            <a:normAutofit lnSpcReduction="10000"/>
          </a:bodyPr>
          <a:lstStyle/>
          <a:p>
            <a:pPr marL="114300" indent="0">
              <a:buNone/>
            </a:pPr>
            <a:r>
              <a:rPr lang="en-US" dirty="0">
                <a:sym typeface="Wingdings" pitchFamily="2" charset="2"/>
              </a:rPr>
              <a:t>Take these example “documents”:</a:t>
            </a:r>
          </a:p>
          <a:p>
            <a:pPr>
              <a:buFont typeface="+mj-lt"/>
              <a:buAutoNum type="arabicPeriod"/>
            </a:pPr>
            <a:r>
              <a:rPr lang="en-US" dirty="0">
                <a:sym typeface="Wingdings" pitchFamily="2" charset="2"/>
              </a:rPr>
              <a:t>”the dog plays in the park”</a:t>
            </a:r>
          </a:p>
          <a:p>
            <a:pPr>
              <a:buFont typeface="+mj-lt"/>
              <a:buAutoNum type="arabicPeriod"/>
            </a:pPr>
            <a:r>
              <a:rPr lang="en-US" dirty="0">
                <a:sym typeface="Wingdings" pitchFamily="2" charset="2"/>
              </a:rPr>
              <a:t>“the cat sleeps in the house”</a:t>
            </a:r>
          </a:p>
          <a:p>
            <a:pPr>
              <a:buFont typeface="+mj-lt"/>
              <a:buAutoNum type="arabicPeriod"/>
            </a:pPr>
            <a:r>
              <a:rPr lang="en-US" dirty="0">
                <a:sym typeface="Wingdings" pitchFamily="2" charset="2"/>
              </a:rPr>
              <a:t>”the government passed a law”</a:t>
            </a:r>
          </a:p>
          <a:p>
            <a:pPr marL="114300" indent="0">
              <a:buNone/>
            </a:pPr>
            <a:endParaRPr lang="en-US" dirty="0">
              <a:sym typeface="Wingdings" pitchFamily="2" charset="2"/>
            </a:endParaRPr>
          </a:p>
          <a:p>
            <a:pPr marL="114300" indent="0">
              <a:buNone/>
            </a:pPr>
            <a:r>
              <a:rPr lang="en-US" dirty="0">
                <a:sym typeface="Wingdings" pitchFamily="2" charset="2"/>
              </a:rPr>
              <a:t>Here, “the” appears in every document but it carried no semantic meaning…</a:t>
            </a:r>
          </a:p>
          <a:p>
            <a:pPr marL="114300" indent="0">
              <a:buNone/>
            </a:pPr>
            <a:endParaRPr lang="en-US" dirty="0">
              <a:sym typeface="Wingdings" pitchFamily="2" charset="2"/>
            </a:endParaRPr>
          </a:p>
          <a:p>
            <a:pPr marL="114300" indent="0">
              <a:buNone/>
            </a:pPr>
            <a:r>
              <a:rPr lang="en-US" dirty="0">
                <a:sym typeface="Wingdings" pitchFamily="2" charset="2"/>
              </a:rPr>
              <a:t>This means in our term-document matrix, “The” will have the highest frequency and as a result, SVD will detect that it contributes the most variance.</a:t>
            </a:r>
          </a:p>
        </p:txBody>
      </p:sp>
    </p:spTree>
    <p:extLst>
      <p:ext uri="{BB962C8B-B14F-4D97-AF65-F5344CB8AC3E}">
        <p14:creationId xmlns:p14="http://schemas.microsoft.com/office/powerpoint/2010/main" val="125484906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E3EA20-7457-2693-B0F3-5DA39A6F0C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8832AF-30AA-A752-77F0-8DC2591A9B50}"/>
              </a:ext>
            </a:extLst>
          </p:cNvPr>
          <p:cNvSpPr>
            <a:spLocks noGrp="1"/>
          </p:cNvSpPr>
          <p:nvPr>
            <p:ph type="title"/>
          </p:nvPr>
        </p:nvSpPr>
        <p:spPr/>
        <p:txBody>
          <a:bodyPr>
            <a:normAutofit fontScale="90000"/>
          </a:bodyPr>
          <a:lstStyle/>
          <a:p>
            <a:r>
              <a:rPr lang="en-US" dirty="0"/>
              <a:t>Term Frequency in LSA</a:t>
            </a:r>
          </a:p>
        </p:txBody>
      </p:sp>
      <p:sp>
        <p:nvSpPr>
          <p:cNvPr id="3" name="Text Placeholder 2">
            <a:extLst>
              <a:ext uri="{FF2B5EF4-FFF2-40B4-BE49-F238E27FC236}">
                <a16:creationId xmlns:a16="http://schemas.microsoft.com/office/drawing/2014/main" id="{70CD3D0C-25D4-BEC5-EE35-6E6D2DA5049D}"/>
              </a:ext>
            </a:extLst>
          </p:cNvPr>
          <p:cNvSpPr>
            <a:spLocks noGrp="1"/>
          </p:cNvSpPr>
          <p:nvPr>
            <p:ph type="body" idx="1"/>
          </p:nvPr>
        </p:nvSpPr>
        <p:spPr/>
        <p:txBody>
          <a:bodyPr>
            <a:normAutofit fontScale="92500" lnSpcReduction="10000"/>
          </a:bodyPr>
          <a:lstStyle/>
          <a:p>
            <a:pPr marL="114300" indent="0">
              <a:buNone/>
            </a:pPr>
            <a:r>
              <a:rPr lang="en-US" dirty="0">
                <a:sym typeface="Wingdings" pitchFamily="2" charset="2"/>
              </a:rPr>
              <a:t>Take these example “documents”:</a:t>
            </a:r>
          </a:p>
          <a:p>
            <a:pPr>
              <a:buFont typeface="+mj-lt"/>
              <a:buAutoNum type="arabicPeriod"/>
            </a:pPr>
            <a:r>
              <a:rPr lang="en-US" dirty="0">
                <a:sym typeface="Wingdings" pitchFamily="2" charset="2"/>
              </a:rPr>
              <a:t>”the dog plays in the park”</a:t>
            </a:r>
          </a:p>
          <a:p>
            <a:pPr>
              <a:buFont typeface="+mj-lt"/>
              <a:buAutoNum type="arabicPeriod"/>
            </a:pPr>
            <a:r>
              <a:rPr lang="en-US" dirty="0">
                <a:sym typeface="Wingdings" pitchFamily="2" charset="2"/>
              </a:rPr>
              <a:t>“the cat sleeps in the house”</a:t>
            </a:r>
          </a:p>
          <a:p>
            <a:pPr>
              <a:buFont typeface="+mj-lt"/>
              <a:buAutoNum type="arabicPeriod"/>
            </a:pPr>
            <a:r>
              <a:rPr lang="en-US" dirty="0">
                <a:sym typeface="Wingdings" pitchFamily="2" charset="2"/>
              </a:rPr>
              <a:t>”the government passed a law”</a:t>
            </a:r>
          </a:p>
          <a:p>
            <a:pPr marL="114300" indent="0">
              <a:buNone/>
            </a:pPr>
            <a:endParaRPr lang="en-US" dirty="0">
              <a:sym typeface="Wingdings" pitchFamily="2" charset="2"/>
            </a:endParaRPr>
          </a:p>
          <a:p>
            <a:pPr marL="114300" indent="0">
              <a:buNone/>
            </a:pPr>
            <a:r>
              <a:rPr lang="en-US" dirty="0">
                <a:sym typeface="Wingdings" pitchFamily="2" charset="2"/>
              </a:rPr>
              <a:t>We see a clear semantic structure here. One “latent feature” could be pets, another could be politics.</a:t>
            </a:r>
          </a:p>
          <a:p>
            <a:pPr marL="114300" indent="0">
              <a:buNone/>
            </a:pPr>
            <a:endParaRPr lang="en-US" dirty="0">
              <a:sym typeface="Wingdings" pitchFamily="2" charset="2"/>
            </a:endParaRPr>
          </a:p>
          <a:p>
            <a:pPr marL="114300" indent="0">
              <a:buNone/>
            </a:pPr>
            <a:r>
              <a:rPr lang="en-US" dirty="0">
                <a:sym typeface="Wingdings" pitchFamily="2" charset="2"/>
              </a:rPr>
              <a:t>Because “the” contributes the highest variance, LSA might capture the latent features as documents which contribute many ”the” versus documents which contribute fewer “the” which is semantically useless!</a:t>
            </a:r>
          </a:p>
        </p:txBody>
      </p:sp>
    </p:spTree>
    <p:extLst>
      <p:ext uri="{BB962C8B-B14F-4D97-AF65-F5344CB8AC3E}">
        <p14:creationId xmlns:p14="http://schemas.microsoft.com/office/powerpoint/2010/main" val="110847205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7899BF-B79F-9603-196D-1A0F0DA514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E1D5F6-F80A-5508-17EA-20F5444F3671}"/>
              </a:ext>
            </a:extLst>
          </p:cNvPr>
          <p:cNvSpPr>
            <a:spLocks noGrp="1"/>
          </p:cNvSpPr>
          <p:nvPr>
            <p:ph type="title"/>
          </p:nvPr>
        </p:nvSpPr>
        <p:spPr/>
        <p:txBody>
          <a:bodyPr>
            <a:normAutofit fontScale="90000"/>
          </a:bodyPr>
          <a:lstStyle/>
          <a:p>
            <a:r>
              <a:rPr lang="en-US" dirty="0"/>
              <a:t>Question: How do we handle frequent “useless” words?</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4D6D5122-55C4-1000-439E-B045F791A369}"/>
                  </a:ext>
                </a:extLst>
              </p:cNvPr>
              <p:cNvSpPr>
                <a:spLocks noGrp="1"/>
              </p:cNvSpPr>
              <p:nvPr>
                <p:ph type="body" idx="1"/>
              </p:nvPr>
            </p:nvSpPr>
            <p:spPr/>
            <p:txBody>
              <a:bodyPr>
                <a:normAutofit/>
              </a:bodyPr>
              <a:lstStyle/>
              <a:p>
                <a:pPr marL="114300" indent="0">
                  <a:buNone/>
                </a:pPr>
                <a:r>
                  <a:rPr lang="en-US" dirty="0">
                    <a:sym typeface="Wingdings" pitchFamily="2" charset="2"/>
                  </a:rPr>
                  <a:t>What if we can reduce the weight of words that occur in every document?</a:t>
                </a:r>
              </a:p>
              <a:p>
                <a:pPr marL="114300" indent="0">
                  <a:buNone/>
                </a:pPr>
                <a14:m>
                  <m:oMathPara xmlns:m="http://schemas.openxmlformats.org/officeDocument/2006/math">
                    <m:oMath>
                      <m:r>
                        <a:rPr lang="en-US" b="0" i="1" smtClean="0">
                          <a:latin typeface="Cambria Math" panose="02040503050406030204" pitchFamily="18" charset="0"/>
                          <a:sym typeface="Wingdings" pitchFamily="2" charset="2"/>
                        </a:rPr>
                        <m:t>𝑇𝐹</m:t>
                      </m:r>
                      <m:d>
                        <m:dPr>
                          <m:ctrlPr>
                            <a:rPr lang="en-US" b="0" i="1" smtClean="0">
                              <a:latin typeface="Cambria Math" panose="02040503050406030204" pitchFamily="18" charset="0"/>
                              <a:sym typeface="Wingdings" pitchFamily="2" charset="2"/>
                            </a:rPr>
                          </m:ctrlPr>
                        </m:dPr>
                        <m:e>
                          <m:r>
                            <a:rPr lang="en-US" b="0" i="1" smtClean="0">
                              <a:latin typeface="Cambria Math" panose="02040503050406030204" pitchFamily="18" charset="0"/>
                              <a:sym typeface="Wingdings" pitchFamily="2" charset="2"/>
                            </a:rPr>
                            <m:t>𝑡</m:t>
                          </m:r>
                          <m:r>
                            <a:rPr lang="en-US" b="0" i="1" smtClean="0">
                              <a:latin typeface="Cambria Math" panose="02040503050406030204" pitchFamily="18" charset="0"/>
                              <a:sym typeface="Wingdings" pitchFamily="2" charset="2"/>
                            </a:rPr>
                            <m:t>,</m:t>
                          </m:r>
                          <m:r>
                            <a:rPr lang="en-US" b="0" i="1" smtClean="0">
                              <a:latin typeface="Cambria Math" panose="02040503050406030204" pitchFamily="18" charset="0"/>
                              <a:sym typeface="Wingdings" pitchFamily="2" charset="2"/>
                            </a:rPr>
                            <m:t>𝑑</m:t>
                          </m:r>
                        </m:e>
                      </m:d>
                      <m:r>
                        <a:rPr lang="en-US" b="0" i="1" smtClean="0">
                          <a:latin typeface="Cambria Math" panose="02040503050406030204" pitchFamily="18" charset="0"/>
                          <a:sym typeface="Wingdings" pitchFamily="2" charset="2"/>
                        </a:rPr>
                        <m:t>=</m:t>
                      </m:r>
                      <m:f>
                        <m:fPr>
                          <m:ctrlPr>
                            <a:rPr lang="en-US" b="0" i="0" smtClean="0">
                              <a:latin typeface="Cambria Math" panose="02040503050406030204" pitchFamily="18" charset="0"/>
                              <a:sym typeface="Wingdings" pitchFamily="2" charset="2"/>
                            </a:rPr>
                          </m:ctrlPr>
                        </m:fPr>
                        <m:num>
                          <m:r>
                            <m:rPr>
                              <m:nor/>
                            </m:rPr>
                            <a:rPr lang="en-US" b="0" i="0" smtClean="0">
                              <a:latin typeface="Cambria Math" panose="02040503050406030204" pitchFamily="18" charset="0"/>
                              <a:sym typeface="Wingdings" pitchFamily="2" charset="2"/>
                            </a:rPr>
                            <m:t>number of times t appears in d</m:t>
                          </m:r>
                        </m:num>
                        <m:den>
                          <m:r>
                            <m:rPr>
                              <m:nor/>
                            </m:rPr>
                            <a:rPr lang="en-US" b="0" i="0" smtClean="0">
                              <a:latin typeface="Cambria Math" panose="02040503050406030204" pitchFamily="18" charset="0"/>
                              <a:sym typeface="Wingdings" pitchFamily="2" charset="2"/>
                            </a:rPr>
                            <m:t>total number of terms in d</m:t>
                          </m:r>
                        </m:den>
                      </m:f>
                    </m:oMath>
                  </m:oMathPara>
                </a14:m>
                <a:endParaRPr lang="en-US" b="0" dirty="0">
                  <a:sym typeface="Wingdings" pitchFamily="2" charset="2"/>
                </a:endParaRPr>
              </a:p>
              <a:p>
                <a:pPr marL="114300" indent="0">
                  <a:buNone/>
                </a:pPr>
                <a:endParaRPr lang="en-US" dirty="0">
                  <a:sym typeface="Wingdings" pitchFamily="2" charset="2"/>
                </a:endParaRPr>
              </a:p>
              <a:p>
                <a:pPr marL="114300" indent="0">
                  <a:buNone/>
                </a:pPr>
                <a14:m>
                  <m:oMathPara xmlns:m="http://schemas.openxmlformats.org/officeDocument/2006/math">
                    <m:oMath>
                      <m:r>
                        <a:rPr lang="en-US" b="0" i="1" smtClean="0">
                          <a:latin typeface="Cambria Math" panose="02040503050406030204" pitchFamily="18" charset="0"/>
                          <a:sym typeface="Wingdings" pitchFamily="2" charset="2"/>
                        </a:rPr>
                        <m:t>𝐼𝐷𝐹</m:t>
                      </m:r>
                      <m:d>
                        <m:dPr>
                          <m:ctrlPr>
                            <a:rPr lang="en-US" b="0" i="1" smtClean="0">
                              <a:latin typeface="Cambria Math" panose="02040503050406030204" pitchFamily="18" charset="0"/>
                              <a:sym typeface="Wingdings" pitchFamily="2" charset="2"/>
                            </a:rPr>
                          </m:ctrlPr>
                        </m:dPr>
                        <m:e>
                          <m:r>
                            <a:rPr lang="en-US" b="0" i="1" smtClean="0">
                              <a:latin typeface="Cambria Math" panose="02040503050406030204" pitchFamily="18" charset="0"/>
                              <a:sym typeface="Wingdings" pitchFamily="2" charset="2"/>
                            </a:rPr>
                            <m:t>𝑡</m:t>
                          </m:r>
                        </m:e>
                      </m:d>
                      <m:r>
                        <a:rPr lang="en-US" b="0" i="1" smtClean="0">
                          <a:latin typeface="Cambria Math" panose="02040503050406030204" pitchFamily="18" charset="0"/>
                          <a:sym typeface="Wingdings" pitchFamily="2" charset="2"/>
                        </a:rPr>
                        <m:t>=</m:t>
                      </m:r>
                      <m:func>
                        <m:funcPr>
                          <m:ctrlPr>
                            <a:rPr lang="en-US" b="0" i="0" smtClean="0">
                              <a:latin typeface="Cambria Math" panose="02040503050406030204" pitchFamily="18" charset="0"/>
                              <a:sym typeface="Wingdings" pitchFamily="2" charset="2"/>
                            </a:rPr>
                          </m:ctrlPr>
                        </m:funcPr>
                        <m:fName>
                          <m:r>
                            <m:rPr>
                              <m:sty m:val="p"/>
                            </m:rPr>
                            <a:rPr lang="en-US" b="0" i="0" smtClean="0">
                              <a:latin typeface="Cambria Math" panose="02040503050406030204" pitchFamily="18" charset="0"/>
                              <a:sym typeface="Wingdings" pitchFamily="2" charset="2"/>
                            </a:rPr>
                            <m:t>log</m:t>
                          </m:r>
                        </m:fName>
                        <m:e>
                          <m:d>
                            <m:dPr>
                              <m:ctrlPr>
                                <a:rPr lang="en-US" b="0" i="1" smtClean="0">
                                  <a:latin typeface="Cambria Math" panose="02040503050406030204" pitchFamily="18" charset="0"/>
                                  <a:sym typeface="Wingdings" pitchFamily="2" charset="2"/>
                                </a:rPr>
                              </m:ctrlPr>
                            </m:dPr>
                            <m:e>
                              <m:f>
                                <m:fPr>
                                  <m:ctrlPr>
                                    <a:rPr lang="en-US" b="0" i="1" smtClean="0">
                                      <a:latin typeface="Cambria Math" panose="02040503050406030204" pitchFamily="18" charset="0"/>
                                      <a:sym typeface="Wingdings" pitchFamily="2" charset="2"/>
                                    </a:rPr>
                                  </m:ctrlPr>
                                </m:fPr>
                                <m:num>
                                  <m:r>
                                    <a:rPr lang="en-US" b="0" i="1" smtClean="0">
                                      <a:latin typeface="Cambria Math" panose="02040503050406030204" pitchFamily="18" charset="0"/>
                                      <a:sym typeface="Wingdings" pitchFamily="2" charset="2"/>
                                    </a:rPr>
                                    <m:t>𝑁</m:t>
                                  </m:r>
                                </m:num>
                                <m:den>
                                  <m:sSub>
                                    <m:sSubPr>
                                      <m:ctrlPr>
                                        <a:rPr lang="en-US" b="0" i="1" smtClean="0">
                                          <a:latin typeface="Cambria Math" panose="02040503050406030204" pitchFamily="18" charset="0"/>
                                          <a:sym typeface="Wingdings" pitchFamily="2" charset="2"/>
                                        </a:rPr>
                                      </m:ctrlPr>
                                    </m:sSubPr>
                                    <m:e>
                                      <m:r>
                                        <a:rPr lang="en-US" b="0" i="1" smtClean="0">
                                          <a:latin typeface="Cambria Math" panose="02040503050406030204" pitchFamily="18" charset="0"/>
                                          <a:sym typeface="Wingdings" pitchFamily="2" charset="2"/>
                                        </a:rPr>
                                        <m:t>𝑁</m:t>
                                      </m:r>
                                    </m:e>
                                    <m:sub>
                                      <m:r>
                                        <a:rPr lang="en-US" b="0" i="1" smtClean="0">
                                          <a:latin typeface="Cambria Math" panose="02040503050406030204" pitchFamily="18" charset="0"/>
                                          <a:sym typeface="Wingdings" pitchFamily="2" charset="2"/>
                                        </a:rPr>
                                        <m:t>𝑡</m:t>
                                      </m:r>
                                    </m:sub>
                                  </m:sSub>
                                </m:den>
                              </m:f>
                            </m:e>
                          </m:d>
                        </m:e>
                      </m:func>
                    </m:oMath>
                  </m:oMathPara>
                </a14:m>
                <a:endParaRPr lang="en-US" b="0" dirty="0">
                  <a:sym typeface="Wingdings" pitchFamily="2" charset="2"/>
                </a:endParaRPr>
              </a:p>
              <a:p>
                <a:pPr marL="114300" indent="0">
                  <a:buNone/>
                </a:pPr>
                <a:endParaRPr lang="en-US" b="0" dirty="0">
                  <a:sym typeface="Wingdings" pitchFamily="2" charset="2"/>
                </a:endParaRPr>
              </a:p>
              <a:p>
                <a:pPr marL="114300" indent="0">
                  <a:buNone/>
                </a:pPr>
                <a14:m>
                  <m:oMathPara xmlns:m="http://schemas.openxmlformats.org/officeDocument/2006/math">
                    <m:oMath>
                      <m:r>
                        <a:rPr lang="en-US" b="0" i="1" smtClean="0">
                          <a:latin typeface="Cambria Math" panose="02040503050406030204" pitchFamily="18" charset="0"/>
                          <a:sym typeface="Wingdings" pitchFamily="2" charset="2"/>
                        </a:rPr>
                        <m:t>𝑇𝐹𝐼𝐷𝐹</m:t>
                      </m:r>
                      <m:d>
                        <m:dPr>
                          <m:ctrlPr>
                            <a:rPr lang="en-US" b="0" i="1" smtClean="0">
                              <a:latin typeface="Cambria Math" panose="02040503050406030204" pitchFamily="18" charset="0"/>
                              <a:sym typeface="Wingdings" pitchFamily="2" charset="2"/>
                            </a:rPr>
                          </m:ctrlPr>
                        </m:dPr>
                        <m:e>
                          <m:r>
                            <a:rPr lang="en-US" b="0" i="1" smtClean="0">
                              <a:latin typeface="Cambria Math" panose="02040503050406030204" pitchFamily="18" charset="0"/>
                              <a:sym typeface="Wingdings" pitchFamily="2" charset="2"/>
                            </a:rPr>
                            <m:t>𝑡</m:t>
                          </m:r>
                          <m:r>
                            <a:rPr lang="en-US" b="0" i="1" smtClean="0">
                              <a:latin typeface="Cambria Math" panose="02040503050406030204" pitchFamily="18" charset="0"/>
                              <a:sym typeface="Wingdings" pitchFamily="2" charset="2"/>
                            </a:rPr>
                            <m:t>,</m:t>
                          </m:r>
                          <m:r>
                            <a:rPr lang="en-US" b="0" i="1" smtClean="0">
                              <a:latin typeface="Cambria Math" panose="02040503050406030204" pitchFamily="18" charset="0"/>
                              <a:sym typeface="Wingdings" pitchFamily="2" charset="2"/>
                            </a:rPr>
                            <m:t>𝑑</m:t>
                          </m:r>
                        </m:e>
                      </m:d>
                      <m:r>
                        <a:rPr lang="en-US" b="0" i="1" smtClean="0">
                          <a:latin typeface="Cambria Math" panose="02040503050406030204" pitchFamily="18" charset="0"/>
                          <a:sym typeface="Wingdings" pitchFamily="2" charset="2"/>
                        </a:rPr>
                        <m:t>=</m:t>
                      </m:r>
                      <m:r>
                        <a:rPr lang="en-US" b="0" i="1" smtClean="0">
                          <a:latin typeface="Cambria Math" panose="02040503050406030204" pitchFamily="18" charset="0"/>
                          <a:sym typeface="Wingdings" pitchFamily="2" charset="2"/>
                        </a:rPr>
                        <m:t>𝑇𝐹</m:t>
                      </m:r>
                      <m:d>
                        <m:dPr>
                          <m:ctrlPr>
                            <a:rPr lang="en-US" b="0" i="1" smtClean="0">
                              <a:latin typeface="Cambria Math" panose="02040503050406030204" pitchFamily="18" charset="0"/>
                              <a:sym typeface="Wingdings" pitchFamily="2" charset="2"/>
                            </a:rPr>
                          </m:ctrlPr>
                        </m:dPr>
                        <m:e>
                          <m:r>
                            <a:rPr lang="en-US" b="0" i="1" smtClean="0">
                              <a:latin typeface="Cambria Math" panose="02040503050406030204" pitchFamily="18" charset="0"/>
                              <a:sym typeface="Wingdings" pitchFamily="2" charset="2"/>
                            </a:rPr>
                            <m:t>𝑡</m:t>
                          </m:r>
                          <m:r>
                            <a:rPr lang="en-US" b="0" i="1" smtClean="0">
                              <a:latin typeface="Cambria Math" panose="02040503050406030204" pitchFamily="18" charset="0"/>
                              <a:sym typeface="Wingdings" pitchFamily="2" charset="2"/>
                            </a:rPr>
                            <m:t>,</m:t>
                          </m:r>
                          <m:r>
                            <a:rPr lang="en-US" b="0" i="1" smtClean="0">
                              <a:latin typeface="Cambria Math" panose="02040503050406030204" pitchFamily="18" charset="0"/>
                              <a:sym typeface="Wingdings" pitchFamily="2" charset="2"/>
                            </a:rPr>
                            <m:t>𝑑</m:t>
                          </m:r>
                        </m:e>
                      </m:d>
                      <m:r>
                        <a:rPr lang="en-US" b="0" i="1" smtClean="0">
                          <a:latin typeface="Cambria Math" panose="02040503050406030204" pitchFamily="18" charset="0"/>
                          <a:sym typeface="Wingdings" pitchFamily="2" charset="2"/>
                        </a:rPr>
                        <m:t>×</m:t>
                      </m:r>
                      <m:r>
                        <a:rPr lang="en-US" b="0" i="1" smtClean="0">
                          <a:latin typeface="Cambria Math" panose="02040503050406030204" pitchFamily="18" charset="0"/>
                          <a:sym typeface="Wingdings" pitchFamily="2" charset="2"/>
                        </a:rPr>
                        <m:t>𝐼𝐷𝐹</m:t>
                      </m:r>
                      <m:d>
                        <m:dPr>
                          <m:ctrlPr>
                            <a:rPr lang="en-US" b="0" i="1" smtClean="0">
                              <a:latin typeface="Cambria Math" panose="02040503050406030204" pitchFamily="18" charset="0"/>
                              <a:sym typeface="Wingdings" pitchFamily="2" charset="2"/>
                            </a:rPr>
                          </m:ctrlPr>
                        </m:dPr>
                        <m:e>
                          <m:r>
                            <a:rPr lang="en-US" b="0" i="1" smtClean="0">
                              <a:latin typeface="Cambria Math" panose="02040503050406030204" pitchFamily="18" charset="0"/>
                              <a:sym typeface="Wingdings" pitchFamily="2" charset="2"/>
                            </a:rPr>
                            <m:t>𝑡</m:t>
                          </m:r>
                        </m:e>
                      </m:d>
                    </m:oMath>
                  </m:oMathPara>
                </a14:m>
                <a:endParaRPr lang="en-US" b="0" dirty="0">
                  <a:sym typeface="Wingdings" pitchFamily="2" charset="2"/>
                </a:endParaRPr>
              </a:p>
              <a:p>
                <a:pPr marL="114300" indent="0">
                  <a:buNone/>
                </a:pPr>
                <a:endParaRPr lang="en-US" b="0" dirty="0">
                  <a:sym typeface="Wingdings" pitchFamily="2" charset="2"/>
                </a:endParaRPr>
              </a:p>
              <a:p>
                <a:pPr marL="114300" indent="0">
                  <a:buNone/>
                </a:pPr>
                <a:endParaRPr lang="en-US" b="0" dirty="0">
                  <a:sym typeface="Wingdings" pitchFamily="2" charset="2"/>
                </a:endParaRPr>
              </a:p>
              <a:p>
                <a:pPr marL="114300" indent="0">
                  <a:buNone/>
                </a:pPr>
                <a:endParaRPr lang="en-US" b="0" dirty="0">
                  <a:sym typeface="Wingdings" pitchFamily="2" charset="2"/>
                </a:endParaRPr>
              </a:p>
              <a:p>
                <a:pPr marL="114300" indent="0">
                  <a:buNone/>
                </a:pPr>
                <a:endParaRPr lang="en-US" dirty="0">
                  <a:sym typeface="Wingdings" pitchFamily="2" charset="2"/>
                </a:endParaRPr>
              </a:p>
            </p:txBody>
          </p:sp>
        </mc:Choice>
        <mc:Fallback xmlns="">
          <p:sp>
            <p:nvSpPr>
              <p:cNvPr id="3" name="Text Placeholder 2">
                <a:extLst>
                  <a:ext uri="{FF2B5EF4-FFF2-40B4-BE49-F238E27FC236}">
                    <a16:creationId xmlns:a16="http://schemas.microsoft.com/office/drawing/2014/main" id="{4D6D5122-55C4-1000-439E-B045F791A369}"/>
                  </a:ext>
                </a:extLst>
              </p:cNvPr>
              <p:cNvSpPr>
                <a:spLocks noGrp="1" noRot="1" noChangeAspect="1" noMove="1" noResize="1" noEditPoints="1" noAdjustHandles="1" noChangeArrowheads="1" noChangeShapeType="1" noTextEdit="1"/>
              </p:cNvSpPr>
              <p:nvPr>
                <p:ph type="body" idx="1"/>
              </p:nvPr>
            </p:nvSpPr>
            <p:spPr>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8470743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E3DA54C-D5D2-333D-7B36-74AB3B54D6C6}"/>
              </a:ext>
            </a:extLst>
          </p:cNvPr>
          <p:cNvSpPr/>
          <p:nvPr>
            <p:custDataLst>
              <p:tags r:id="rId2"/>
            </p:custDataLst>
          </p:nvPr>
        </p:nvSpPr>
        <p:spPr>
          <a:xfrm>
            <a:off x="333520" y="1307028"/>
            <a:ext cx="1778772" cy="1778772"/>
          </a:xfrm>
          <a:prstGeom prst="rect">
            <a:avLst/>
          </a:prstGeom>
          <a:blipFill>
            <a:blip>
              <a:extLst>
                <a:ext uri="{96DAC541-7B7A-43D3-8B79-37D633B846F1}">
                  <asvg:svgBlip xmlns:asvg="http://schemas.microsoft.com/office/drawing/2016/SVG/main" r:embed="rId7"/>
                </a:ext>
              </a:extLst>
            </a:blip>
            <a:stretch>
              <a:fillRect/>
            </a:stretch>
          </a:blipFill>
          <a:ln w="25400" cap="flat" cmpd="sng" algn="ctr">
            <a:noFill/>
            <a:prstDash val="solid"/>
          </a:ln>
          <a:effectLst/>
          <a:extLst>
            <a:ext uri="{91240B29-F687-4F45-9708-019B960494DF}">
              <a14:hiddenLine xmlns:a14="http://schemas.microsoft.com/office/drawing/2010/main" w="25400" cap="flat" cmpd="sng" algn="ctr">
                <a:solidFill>
                  <a:srgbClr val="FFFFFF"/>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485052B3-597B-CB0C-26AA-EDBC0EFB6E09}"/>
              </a:ext>
            </a:extLst>
          </p:cNvPr>
          <p:cNvSpPr/>
          <p:nvPr>
            <p:custDataLst>
              <p:tags r:id="rId3"/>
            </p:custDataLst>
          </p:nvPr>
        </p:nvSpPr>
        <p:spPr>
          <a:xfrm>
            <a:off x="2334638" y="750673"/>
            <a:ext cx="6364669" cy="2891481"/>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rgbClr val="FFFFFF"/>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4000" b="1">
                <a:solidFill>
                  <a:srgbClr val="000000"/>
                </a:solidFill>
              </a:rPr>
              <a:t>What is the role of TF-IDF?</a:t>
            </a:r>
          </a:p>
        </p:txBody>
      </p:sp>
      <p:sp>
        <p:nvSpPr>
          <p:cNvPr id="4" name="Rectangle 3">
            <a:extLst>
              <a:ext uri="{FF2B5EF4-FFF2-40B4-BE49-F238E27FC236}">
                <a16:creationId xmlns:a16="http://schemas.microsoft.com/office/drawing/2014/main" id="{2433544C-7BB8-2F05-ABF8-BCA2059FD914}"/>
              </a:ext>
            </a:extLst>
          </p:cNvPr>
          <p:cNvSpPr/>
          <p:nvPr>
            <p:custDataLst>
              <p:tags r:id="rId4"/>
            </p:custDataLst>
          </p:nvPr>
        </p:nvSpPr>
        <p:spPr>
          <a:xfrm>
            <a:off x="0" y="4365024"/>
            <a:ext cx="9144000" cy="778476"/>
          </a:xfrm>
          <a:prstGeom prst="rect">
            <a:avLst/>
          </a:prstGeom>
          <a:solidFill>
            <a:srgbClr val="19803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lIns="555866" tIns="194619" rIns="1389666" bIns="152915" rtlCol="0" anchor="ctr">
            <a:normAutofit fontScale="62500" lnSpcReduction="20000"/>
          </a:bodyPr>
          <a:lstStyle/>
          <a:p>
            <a:r>
              <a:rPr lang="en-US" sz="2600">
                <a:solidFill>
                  <a:srgbClr val="FFFFFF"/>
                </a:solidFill>
              </a:rPr>
              <a:t>The </a:t>
            </a:r>
            <a:r>
              <a:rPr lang="en-US" sz="2600">
                <a:solidFill>
                  <a:srgbClr val="FFFFFF"/>
                </a:solidFill>
                <a:hlinkClick r:id="rId8">
                  <a:extLst>
                    <a:ext uri="{A12FA001-AC4F-418D-AE19-62706E023703}">
                      <ahyp:hlinkClr xmlns:ahyp="http://schemas.microsoft.com/office/drawing/2018/hyperlinkcolor" val="tx"/>
                    </a:ext>
                  </a:extLst>
                </a:hlinkClick>
              </a:rPr>
              <a:t>Slido app</a:t>
            </a:r>
            <a:r>
              <a:rPr lang="en-US" sz="2600">
                <a:solidFill>
                  <a:srgbClr val="FFFFFF"/>
                </a:solidFill>
              </a:rPr>
              <a:t> must be installed on every computer you’re presenting from</a:t>
            </a:r>
          </a:p>
        </p:txBody>
      </p:sp>
      <p:pic>
        <p:nvPicPr>
          <p:cNvPr id="6" name="Graphic 5">
            <a:extLst>
              <a:ext uri="{FF2B5EF4-FFF2-40B4-BE49-F238E27FC236}">
                <a16:creationId xmlns:a16="http://schemas.microsoft.com/office/drawing/2014/main" id="{7B2035B4-65A6-3089-7EE4-CE30628880BF}"/>
              </a:ext>
            </a:extLst>
          </p:cNvPr>
          <p:cNvPicPr>
            <a:picLocks/>
          </p:cNvPicPr>
          <p:nvPr/>
        </p:nvPicPr>
        <p:blipFill>
          <a:blip>
            <a:extLst>
              <a:ext uri="{96DAC541-7B7A-43D3-8B79-37D633B846F1}">
                <asvg:svgBlip xmlns:asvg="http://schemas.microsoft.com/office/drawing/2016/SVG/main" r:embed="rId9"/>
              </a:ext>
            </a:extLst>
          </a:blip>
          <a:stretch>
            <a:fillRect/>
          </a:stretch>
        </p:blipFill>
        <p:spPr>
          <a:xfrm>
            <a:off x="222347" y="4643089"/>
            <a:ext cx="222347" cy="222347"/>
          </a:xfrm>
          <a:prstGeom prst="rect">
            <a:avLst/>
          </a:prstGeom>
        </p:spPr>
      </p:pic>
      <p:sp>
        <p:nvSpPr>
          <p:cNvPr id="7" name="Trapezoid 6">
            <a:extLst>
              <a:ext uri="{FF2B5EF4-FFF2-40B4-BE49-F238E27FC236}">
                <a16:creationId xmlns:a16="http://schemas.microsoft.com/office/drawing/2014/main" id="{6AF074F3-1F36-C4FD-6C7E-C24DD206060B}"/>
              </a:ext>
            </a:extLst>
          </p:cNvPr>
          <p:cNvSpPr/>
          <p:nvPr>
            <p:custDataLst>
              <p:tags r:id="rId5"/>
            </p:custDataLst>
          </p:nvPr>
        </p:nvSpPr>
        <p:spPr>
          <a:xfrm rot="2700000">
            <a:off x="7215278" y="386193"/>
            <a:ext cx="2501399" cy="583660"/>
          </a:xfrm>
          <a:prstGeom prst="trapezoid">
            <a:avLst>
              <a:gd name="adj" fmla="val 100000"/>
            </a:avLst>
          </a:prstGeom>
          <a:solidFill>
            <a:srgbClr val="EDFAF2"/>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tIns="0" bIns="0" rtlCol="0" anchor="t">
            <a:normAutofit fontScale="55000" lnSpcReduction="20000"/>
          </a:bodyPr>
          <a:lstStyle/>
          <a:p>
            <a:pPr algn="ctr"/>
            <a:r>
              <a:rPr lang="en-US" sz="2600" b="1">
                <a:solidFill>
                  <a:srgbClr val="198038"/>
                </a:solidFill>
              </a:rPr>
              <a:t>Do not edit
</a:t>
            </a:r>
            <a:r>
              <a:rPr lang="en-US" sz="2200">
                <a:solidFill>
                  <a:srgbClr val="198038"/>
                </a:solidFill>
                <a:hlinkClick r:id="rId10">
                  <a:extLst>
                    <a:ext uri="{A12FA001-AC4F-418D-AE19-62706E023703}">
                      <ahyp:hlinkClr xmlns:ahyp="http://schemas.microsoft.com/office/drawing/2018/hyperlinkcolor" val="tx"/>
                    </a:ext>
                  </a:extLst>
                </a:hlinkClick>
              </a:rPr>
              <a:t>How to change the design</a:t>
            </a:r>
            <a:endParaRPr lang="en-US" sz="2200">
              <a:solidFill>
                <a:srgbClr val="198038"/>
              </a:solidFill>
            </a:endParaRPr>
          </a:p>
        </p:txBody>
      </p:sp>
      <p:pic>
        <p:nvPicPr>
          <p:cNvPr id="9" name="Graphic 8">
            <a:extLst>
              <a:ext uri="{FF2B5EF4-FFF2-40B4-BE49-F238E27FC236}">
                <a16:creationId xmlns:a16="http://schemas.microsoft.com/office/drawing/2014/main" id="{21064874-FEAF-69F4-3823-1E971E11FA39}"/>
              </a:ext>
            </a:extLst>
          </p:cNvPr>
          <p:cNvPicPr>
            <a:picLocks/>
          </p:cNvPicPr>
          <p:nvPr/>
        </p:nvPicPr>
        <p:blipFill>
          <a:blip>
            <a:extLst>
              <a:ext uri="{96DAC541-7B7A-43D3-8B79-37D633B846F1}">
                <asvg:svgBlip xmlns:asvg="http://schemas.microsoft.com/office/drawing/2016/SVG/main" r:embed="rId11"/>
              </a:ext>
            </a:extLst>
          </a:blip>
          <a:stretch>
            <a:fillRect/>
          </a:stretch>
        </p:blipFill>
        <p:spPr>
          <a:xfrm>
            <a:off x="8060062" y="4615295"/>
            <a:ext cx="833799" cy="277933"/>
          </a:xfrm>
          <a:prstGeom prst="rect">
            <a:avLst/>
          </a:prstGeom>
        </p:spPr>
      </p:pic>
    </p:spTree>
    <p:custDataLst>
      <p:tags r:id="rId1"/>
    </p:custDataLst>
    <p:extLst>
      <p:ext uri="{BB962C8B-B14F-4D97-AF65-F5344CB8AC3E}">
        <p14:creationId xmlns:p14="http://schemas.microsoft.com/office/powerpoint/2010/main" val="17103071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 tmFilter="0, 0; .2, .5; .8, .5; 1, 0"/>
                                        <p:tgtEl>
                                          <p:spTgt spid="3"/>
                                        </p:tgtEl>
                                      </p:cBhvr>
                                    </p:animEffect>
                                    <p:animScale>
                                      <p:cBhvr>
                                        <p:cTn id="7" dur="25" autoRev="1" fill="hold"/>
                                        <p:tgtEl>
                                          <p:spTgt spid="3"/>
                                        </p:tgtEl>
                                      </p:cBhvr>
                                      <p:by x="105000" y="105000"/>
                                    </p:animScale>
                                  </p:childTnLst>
                                </p:cTn>
                              </p:par>
                            </p:childTnLst>
                          </p:cTn>
                        </p:par>
                      </p:childTnLst>
                    </p:cTn>
                  </p:par>
                  <p:par>
                    <p:cTn id="8" fill="hold">
                      <p:stCondLst>
                        <p:cond delay="indefinite"/>
                      </p:stCondLst>
                      <p:childTnLst>
                        <p:par>
                          <p:cTn id="9" fill="hold">
                            <p:stCondLst>
                              <p:cond delay="0"/>
                            </p:stCondLst>
                            <p:childTnLst>
                              <p:par>
                                <p:cTn id="10" presetID="26" presetClass="emph" presetSubtype="0" fill="hold" grpId="1" nodeType="clickEffect">
                                  <p:stCondLst>
                                    <p:cond delay="0"/>
                                  </p:stCondLst>
                                  <p:childTnLst>
                                    <p:animEffect transition="out" filter="fade">
                                      <p:cBhvr>
                                        <p:cTn id="11" dur="50" tmFilter="0, 0; .2, .5; .8, .5; 1, 0"/>
                                        <p:tgtEl>
                                          <p:spTgt spid="3"/>
                                        </p:tgtEl>
                                      </p:cBhvr>
                                    </p:animEffect>
                                    <p:animScale>
                                      <p:cBhvr>
                                        <p:cTn id="12" dur="25" autoRev="1" fill="hold"/>
                                        <p:tgtEl>
                                          <p:spTgt spid="3"/>
                                        </p:tgtEl>
                                      </p:cBhvr>
                                      <p:by x="105000" y="105000"/>
                                    </p:animScale>
                                  </p:childTnLst>
                                </p:cTn>
                              </p:par>
                            </p:childTnLst>
                          </p:cTn>
                        </p:par>
                      </p:childTnLst>
                    </p:cTn>
                  </p:par>
                  <p:par>
                    <p:cTn id="13" fill="hold">
                      <p:stCondLst>
                        <p:cond delay="indefinite"/>
                      </p:stCondLst>
                      <p:childTnLst>
                        <p:par>
                          <p:cTn id="14" fill="hold">
                            <p:stCondLst>
                              <p:cond delay="0"/>
                            </p:stCondLst>
                            <p:childTnLst>
                              <p:par>
                                <p:cTn id="15" presetID="26" presetClass="emph" presetSubtype="0" fill="hold" grpId="2" nodeType="clickEffect">
                                  <p:stCondLst>
                                    <p:cond delay="0"/>
                                  </p:stCondLst>
                                  <p:childTnLst>
                                    <p:animEffect transition="out" filter="fade">
                                      <p:cBhvr>
                                        <p:cTn id="16" dur="50" tmFilter="0, 0; .2, .5; .8, .5; 1, 0"/>
                                        <p:tgtEl>
                                          <p:spTgt spid="3"/>
                                        </p:tgtEl>
                                      </p:cBhvr>
                                    </p:animEffect>
                                    <p:animScale>
                                      <p:cBhvr>
                                        <p:cTn id="17" dur="25" autoRev="1" fill="hold"/>
                                        <p:tgtEl>
                                          <p:spTgt spid="3"/>
                                        </p:tgtEl>
                                      </p:cBhvr>
                                      <p:by x="105000" y="105000"/>
                                    </p:animScale>
                                  </p:childTnLst>
                                </p:cTn>
                              </p:par>
                            </p:childTnLst>
                          </p:cTn>
                        </p:par>
                      </p:childTnLst>
                    </p:cTn>
                  </p:par>
                  <p:par>
                    <p:cTn id="18" fill="hold">
                      <p:stCondLst>
                        <p:cond delay="indefinite"/>
                      </p:stCondLst>
                      <p:childTnLst>
                        <p:par>
                          <p:cTn id="19" fill="hold">
                            <p:stCondLst>
                              <p:cond delay="0"/>
                            </p:stCondLst>
                            <p:childTnLst>
                              <p:par>
                                <p:cTn id="20" presetID="26" presetClass="emph" presetSubtype="0" fill="hold" grpId="3" nodeType="clickEffect">
                                  <p:stCondLst>
                                    <p:cond delay="0"/>
                                  </p:stCondLst>
                                  <p:childTnLst>
                                    <p:animEffect transition="out" filter="fade">
                                      <p:cBhvr>
                                        <p:cTn id="21" dur="50" tmFilter="0, 0; .2, .5; .8, .5; 1, 0"/>
                                        <p:tgtEl>
                                          <p:spTgt spid="3"/>
                                        </p:tgtEl>
                                      </p:cBhvr>
                                    </p:animEffect>
                                    <p:animScale>
                                      <p:cBhvr>
                                        <p:cTn id="22" dur="25" autoRev="1" fill="hold"/>
                                        <p:tgtEl>
                                          <p:spTgt spid="3"/>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P spid="3" grpId="2"/>
      <p:bldP spid="3" grpId="3"/>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55350C-8389-A1FD-7C7A-6009E916A7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B3AEC9-60E6-F151-5ED2-CD7B54B130A9}"/>
              </a:ext>
            </a:extLst>
          </p:cNvPr>
          <p:cNvSpPr>
            <a:spLocks noGrp="1"/>
          </p:cNvSpPr>
          <p:nvPr>
            <p:ph type="title"/>
          </p:nvPr>
        </p:nvSpPr>
        <p:spPr/>
        <p:txBody>
          <a:bodyPr>
            <a:normAutofit fontScale="90000"/>
          </a:bodyPr>
          <a:lstStyle/>
          <a:p>
            <a:r>
              <a:rPr lang="en-US" dirty="0"/>
              <a:t>TF-IDF</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6156DF76-6C7E-A19E-B2D2-D6494DBBD1D5}"/>
                  </a:ext>
                </a:extLst>
              </p:cNvPr>
              <p:cNvSpPr>
                <a:spLocks noGrp="1"/>
              </p:cNvSpPr>
              <p:nvPr>
                <p:ph type="body" idx="1"/>
              </p:nvPr>
            </p:nvSpPr>
            <p:spPr/>
            <p:txBody>
              <a:bodyPr>
                <a:normAutofit/>
              </a:bodyPr>
              <a:lstStyle/>
              <a:p>
                <a:pPr marL="114300" indent="0">
                  <a:buNone/>
                </a:pPr>
                <a14:m>
                  <m:oMathPara xmlns:m="http://schemas.openxmlformats.org/officeDocument/2006/math">
                    <m:oMath>
                      <m:r>
                        <a:rPr lang="en-US" i="1">
                          <a:latin typeface="Cambria Math" panose="02040503050406030204" pitchFamily="18" charset="0"/>
                          <a:sym typeface="Wingdings" pitchFamily="2" charset="2"/>
                        </a:rPr>
                        <m:t>𝑇𝐹𝐼𝐷𝐹</m:t>
                      </m:r>
                      <m:d>
                        <m:dPr>
                          <m:ctrlPr>
                            <a:rPr lang="en-US" i="1">
                              <a:latin typeface="Cambria Math" panose="02040503050406030204" pitchFamily="18" charset="0"/>
                              <a:sym typeface="Wingdings" pitchFamily="2" charset="2"/>
                            </a:rPr>
                          </m:ctrlPr>
                        </m:dPr>
                        <m:e>
                          <m:r>
                            <a:rPr lang="en-US" i="1">
                              <a:latin typeface="Cambria Math" panose="02040503050406030204" pitchFamily="18" charset="0"/>
                              <a:sym typeface="Wingdings" pitchFamily="2" charset="2"/>
                            </a:rPr>
                            <m:t>𝑡</m:t>
                          </m:r>
                          <m:r>
                            <a:rPr lang="en-US" i="1">
                              <a:latin typeface="Cambria Math" panose="02040503050406030204" pitchFamily="18" charset="0"/>
                              <a:sym typeface="Wingdings" pitchFamily="2" charset="2"/>
                            </a:rPr>
                            <m:t>,</m:t>
                          </m:r>
                          <m:r>
                            <a:rPr lang="en-US" i="1">
                              <a:latin typeface="Cambria Math" panose="02040503050406030204" pitchFamily="18" charset="0"/>
                              <a:sym typeface="Wingdings" pitchFamily="2" charset="2"/>
                            </a:rPr>
                            <m:t>𝑑</m:t>
                          </m:r>
                        </m:e>
                      </m:d>
                      <m:r>
                        <a:rPr lang="en-US" i="1">
                          <a:latin typeface="Cambria Math" panose="02040503050406030204" pitchFamily="18" charset="0"/>
                          <a:sym typeface="Wingdings" pitchFamily="2" charset="2"/>
                        </a:rPr>
                        <m:t>=</m:t>
                      </m:r>
                      <m:r>
                        <a:rPr lang="en-US" i="1">
                          <a:latin typeface="Cambria Math" panose="02040503050406030204" pitchFamily="18" charset="0"/>
                          <a:sym typeface="Wingdings" pitchFamily="2" charset="2"/>
                        </a:rPr>
                        <m:t>𝑇𝐹</m:t>
                      </m:r>
                      <m:d>
                        <m:dPr>
                          <m:ctrlPr>
                            <a:rPr lang="en-US" i="1">
                              <a:latin typeface="Cambria Math" panose="02040503050406030204" pitchFamily="18" charset="0"/>
                              <a:sym typeface="Wingdings" pitchFamily="2" charset="2"/>
                            </a:rPr>
                          </m:ctrlPr>
                        </m:dPr>
                        <m:e>
                          <m:r>
                            <a:rPr lang="en-US" i="1">
                              <a:latin typeface="Cambria Math" panose="02040503050406030204" pitchFamily="18" charset="0"/>
                              <a:sym typeface="Wingdings" pitchFamily="2" charset="2"/>
                            </a:rPr>
                            <m:t>𝑡</m:t>
                          </m:r>
                          <m:r>
                            <a:rPr lang="en-US" i="1">
                              <a:latin typeface="Cambria Math" panose="02040503050406030204" pitchFamily="18" charset="0"/>
                              <a:sym typeface="Wingdings" pitchFamily="2" charset="2"/>
                            </a:rPr>
                            <m:t>,</m:t>
                          </m:r>
                          <m:r>
                            <a:rPr lang="en-US" i="1">
                              <a:latin typeface="Cambria Math" panose="02040503050406030204" pitchFamily="18" charset="0"/>
                              <a:sym typeface="Wingdings" pitchFamily="2" charset="2"/>
                            </a:rPr>
                            <m:t>𝑑</m:t>
                          </m:r>
                        </m:e>
                      </m:d>
                      <m:r>
                        <a:rPr lang="en-US" i="1">
                          <a:latin typeface="Cambria Math" panose="02040503050406030204" pitchFamily="18" charset="0"/>
                          <a:sym typeface="Wingdings" pitchFamily="2" charset="2"/>
                        </a:rPr>
                        <m:t>×</m:t>
                      </m:r>
                      <m:r>
                        <a:rPr lang="en-US" i="1">
                          <a:latin typeface="Cambria Math" panose="02040503050406030204" pitchFamily="18" charset="0"/>
                          <a:sym typeface="Wingdings" pitchFamily="2" charset="2"/>
                        </a:rPr>
                        <m:t>𝐼𝐷𝐹</m:t>
                      </m:r>
                      <m:d>
                        <m:dPr>
                          <m:ctrlPr>
                            <a:rPr lang="en-US" i="1">
                              <a:latin typeface="Cambria Math" panose="02040503050406030204" pitchFamily="18" charset="0"/>
                              <a:sym typeface="Wingdings" pitchFamily="2" charset="2"/>
                            </a:rPr>
                          </m:ctrlPr>
                        </m:dPr>
                        <m:e>
                          <m:r>
                            <a:rPr lang="en-US" i="1">
                              <a:latin typeface="Cambria Math" panose="02040503050406030204" pitchFamily="18" charset="0"/>
                              <a:sym typeface="Wingdings" pitchFamily="2" charset="2"/>
                            </a:rPr>
                            <m:t>𝑡</m:t>
                          </m:r>
                        </m:e>
                      </m:d>
                    </m:oMath>
                  </m:oMathPara>
                </a14:m>
                <a:endParaRPr lang="en-US" dirty="0">
                  <a:sym typeface="Wingdings" pitchFamily="2" charset="2"/>
                </a:endParaRPr>
              </a:p>
              <a:p>
                <a:pPr marL="114300" indent="0">
                  <a:buNone/>
                </a:pPr>
                <a:endParaRPr lang="en-US" dirty="0">
                  <a:sym typeface="Wingdings" pitchFamily="2" charset="2"/>
                </a:endParaRPr>
              </a:p>
              <a:p>
                <a:r>
                  <a:rPr lang="en-US" dirty="0">
                    <a:sym typeface="Wingdings" pitchFamily="2" charset="2"/>
                  </a:rPr>
                  <a:t>Downweighs common words (the, is, and)</a:t>
                </a:r>
              </a:p>
              <a:p>
                <a:r>
                  <a:rPr lang="en-US" dirty="0">
                    <a:sym typeface="Wingdings" pitchFamily="2" charset="2"/>
                  </a:rPr>
                  <a:t>Upweights rare words</a:t>
                </a:r>
              </a:p>
              <a:p>
                <a:endParaRPr lang="en-US" dirty="0">
                  <a:sym typeface="Wingdings" pitchFamily="2" charset="2"/>
                </a:endParaRPr>
              </a:p>
              <a:p>
                <a:pPr marL="114300" indent="0">
                  <a:buNone/>
                </a:pPr>
                <a:r>
                  <a:rPr lang="en-US" dirty="0">
                    <a:sym typeface="Wingdings" pitchFamily="2" charset="2"/>
                  </a:rPr>
                  <a:t>If we use this to populate our term-document matrix, the values will reflect semantic importance enabling SVD to find meaningful latent topics</a:t>
                </a:r>
              </a:p>
            </p:txBody>
          </p:sp>
        </mc:Choice>
        <mc:Fallback xmlns="">
          <p:sp>
            <p:nvSpPr>
              <p:cNvPr id="3" name="Text Placeholder 2">
                <a:extLst>
                  <a:ext uri="{FF2B5EF4-FFF2-40B4-BE49-F238E27FC236}">
                    <a16:creationId xmlns:a16="http://schemas.microsoft.com/office/drawing/2014/main" id="{6156DF76-6C7E-A19E-B2D2-D6494DBBD1D5}"/>
                  </a:ext>
                </a:extLst>
              </p:cNvPr>
              <p:cNvSpPr>
                <a:spLocks noGrp="1" noRot="1" noChangeAspect="1" noMove="1" noResize="1" noEditPoints="1" noAdjustHandles="1" noChangeArrowheads="1" noChangeShapeType="1" noTextEdit="1"/>
              </p:cNvSpPr>
              <p:nvPr>
                <p:ph type="body" idx="1"/>
              </p:nvPr>
            </p:nvSpPr>
            <p:spPr>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76277004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7BC650-2B2B-0CB9-616E-8FDDB13EC5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037624-DE16-8E66-2B8C-A95276228802}"/>
              </a:ext>
            </a:extLst>
          </p:cNvPr>
          <p:cNvSpPr>
            <a:spLocks noGrp="1"/>
          </p:cNvSpPr>
          <p:nvPr>
            <p:ph type="title"/>
          </p:nvPr>
        </p:nvSpPr>
        <p:spPr/>
        <p:txBody>
          <a:bodyPr>
            <a:normAutofit fontScale="90000"/>
          </a:bodyPr>
          <a:lstStyle/>
          <a:p>
            <a:r>
              <a:rPr lang="en-US" dirty="0"/>
              <a:t>TF-IDF for term-document matrix</a:t>
            </a:r>
          </a:p>
        </p:txBody>
      </p:sp>
      <p:sp>
        <p:nvSpPr>
          <p:cNvPr id="3" name="Text Placeholder 2">
            <a:extLst>
              <a:ext uri="{FF2B5EF4-FFF2-40B4-BE49-F238E27FC236}">
                <a16:creationId xmlns:a16="http://schemas.microsoft.com/office/drawing/2014/main" id="{67F7E572-B0D7-F192-C80B-2CECEC3E0A47}"/>
              </a:ext>
            </a:extLst>
          </p:cNvPr>
          <p:cNvSpPr>
            <a:spLocks noGrp="1"/>
          </p:cNvSpPr>
          <p:nvPr>
            <p:ph type="body" idx="1"/>
          </p:nvPr>
        </p:nvSpPr>
        <p:spPr/>
        <p:txBody>
          <a:bodyPr/>
          <a:lstStyle/>
          <a:p>
            <a:r>
              <a:rPr lang="en-US" dirty="0"/>
              <a:t>If we apply TF-IDF to find our term-document matrix before running SVD, we will be able to ignore some of the noise in our dataset.</a:t>
            </a:r>
          </a:p>
          <a:p>
            <a:endParaRPr lang="en-US" dirty="0"/>
          </a:p>
          <a:p>
            <a:r>
              <a:rPr lang="en-US" dirty="0"/>
              <a:t>The reality is that most documents will contain conjunctions and linking verbs, many of which we don’t want to include! TF-IDF helps us work around that</a:t>
            </a:r>
          </a:p>
          <a:p>
            <a:endParaRPr lang="en-US" dirty="0"/>
          </a:p>
        </p:txBody>
      </p:sp>
    </p:spTree>
    <p:extLst>
      <p:ext uri="{BB962C8B-B14F-4D97-AF65-F5344CB8AC3E}">
        <p14:creationId xmlns:p14="http://schemas.microsoft.com/office/powerpoint/2010/main" val="200132598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8ACA2C-BA77-F49E-D5FA-328639DC0B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4B0841-AA6E-67D2-17DD-3619AF87CC62}"/>
              </a:ext>
            </a:extLst>
          </p:cNvPr>
          <p:cNvSpPr>
            <a:spLocks noGrp="1"/>
          </p:cNvSpPr>
          <p:nvPr>
            <p:ph type="title"/>
          </p:nvPr>
        </p:nvSpPr>
        <p:spPr/>
        <p:txBody>
          <a:bodyPr>
            <a:normAutofit fontScale="90000"/>
          </a:bodyPr>
          <a:lstStyle/>
          <a:p>
            <a:r>
              <a:rPr lang="en-US" dirty="0"/>
              <a:t>Interpreting results of LSA</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71C9EDB5-2540-F2DF-9D24-9A8C2BC1F4DC}"/>
                  </a:ext>
                </a:extLst>
              </p:cNvPr>
              <p:cNvSpPr>
                <a:spLocks noGrp="1"/>
              </p:cNvSpPr>
              <p:nvPr>
                <p:ph type="body" idx="1"/>
              </p:nvPr>
            </p:nvSpPr>
            <p:spPr/>
            <p:txBody>
              <a:bodyPr/>
              <a:lstStyle/>
              <a:p>
                <a:pPr marL="114300" indent="0">
                  <a:buNone/>
                </a:pPr>
                <a:r>
                  <a:rPr lang="en-US" dirty="0"/>
                  <a:t>LSA produces the following embeddings for a rank-k approximation using SVD:</a:t>
                </a:r>
              </a:p>
              <a:p>
                <a:pPr marL="114300" indent="0">
                  <a:buNone/>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𝑘</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𝑈</m:t>
                          </m:r>
                        </m:e>
                        <m:sub>
                          <m:r>
                            <a:rPr lang="en-US" b="0" i="1" smtClean="0">
                              <a:latin typeface="Cambria Math" panose="02040503050406030204" pitchFamily="18" charset="0"/>
                            </a:rPr>
                            <m:t>𝑘</m:t>
                          </m:r>
                        </m:sub>
                      </m:sSub>
                      <m:sSub>
                        <m:sSubPr>
                          <m:ctrlPr>
                            <a:rPr lang="en-US" b="0" i="0" smtClean="0">
                              <a:latin typeface="Cambria Math" panose="02040503050406030204" pitchFamily="18" charset="0"/>
                            </a:rPr>
                          </m:ctrlPr>
                        </m:sSubPr>
                        <m:e>
                          <m:r>
                            <m:rPr>
                              <m:sty m:val="p"/>
                            </m:rPr>
                            <a:rPr lang="en-US" b="0" i="0" smtClean="0">
                              <a:latin typeface="Cambria Math" panose="02040503050406030204" pitchFamily="18" charset="0"/>
                            </a:rPr>
                            <m:t>Σ</m:t>
                          </m:r>
                        </m:e>
                        <m:sub>
                          <m:r>
                            <a:rPr lang="en-US" b="0" i="1" smtClean="0">
                              <a:latin typeface="Cambria Math" panose="02040503050406030204" pitchFamily="18" charset="0"/>
                            </a:rPr>
                            <m:t>𝑘</m:t>
                          </m:r>
                        </m:sub>
                      </m:sSub>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𝑉</m:t>
                          </m:r>
                        </m:e>
                        <m:sub>
                          <m:r>
                            <a:rPr lang="en-US" b="0" i="1" smtClean="0">
                              <a:latin typeface="Cambria Math" panose="02040503050406030204" pitchFamily="18" charset="0"/>
                            </a:rPr>
                            <m:t>𝑘</m:t>
                          </m:r>
                        </m:sub>
                        <m:sup>
                          <m:r>
                            <a:rPr lang="en-US" b="0" i="1" smtClean="0">
                              <a:latin typeface="Cambria Math" panose="02040503050406030204" pitchFamily="18" charset="0"/>
                            </a:rPr>
                            <m:t>𝑇</m:t>
                          </m:r>
                        </m:sup>
                      </m:sSubSup>
                    </m:oMath>
                  </m:oMathPara>
                </a14:m>
                <a:endParaRPr lang="en-US" b="0" dirty="0"/>
              </a:p>
              <a:p>
                <a:pPr marL="114300" indent="0">
                  <a:buNone/>
                </a:pPr>
                <a:r>
                  <a:rPr lang="en-US" dirty="0"/>
                  <a:t>Where </a:t>
                </a:r>
                <a14:m>
                  <m:oMath xmlns:m="http://schemas.openxmlformats.org/officeDocument/2006/math">
                    <m:r>
                      <a:rPr lang="en-US" b="0" i="1" smtClean="0">
                        <a:latin typeface="Cambria Math" panose="02040503050406030204" pitchFamily="18" charset="0"/>
                      </a:rPr>
                      <m:t>𝑘</m:t>
                    </m:r>
                  </m:oMath>
                </a14:m>
                <a:r>
                  <a:rPr lang="en-US" b="0" dirty="0"/>
                  <a:t> is also the number of latent semantic features</a:t>
                </a:r>
              </a:p>
              <a:p>
                <a:pPr marL="114300" indent="0">
                  <a:buNone/>
                </a:pPr>
                <a:endParaRPr lang="en-US" b="0" dirty="0"/>
              </a:p>
              <a:p>
                <a:pPr marL="114300" indent="0">
                  <a:buNone/>
                </a:pPr>
                <a:endParaRPr lang="en-US" b="0" dirty="0"/>
              </a:p>
              <a:p>
                <a:pPr marL="114300" indent="0">
                  <a:buNone/>
                </a:pPr>
                <a:endParaRPr lang="en-US" dirty="0"/>
              </a:p>
            </p:txBody>
          </p:sp>
        </mc:Choice>
        <mc:Fallback xmlns="">
          <p:sp>
            <p:nvSpPr>
              <p:cNvPr id="3" name="Text Placeholder 2">
                <a:extLst>
                  <a:ext uri="{FF2B5EF4-FFF2-40B4-BE49-F238E27FC236}">
                    <a16:creationId xmlns:a16="http://schemas.microsoft.com/office/drawing/2014/main" id="{71C9EDB5-2540-F2DF-9D24-9A8C2BC1F4DC}"/>
                  </a:ext>
                </a:extLst>
              </p:cNvPr>
              <p:cNvSpPr>
                <a:spLocks noGrp="1" noRot="1" noChangeAspect="1" noMove="1" noResize="1" noEditPoints="1" noAdjustHandles="1" noChangeArrowheads="1" noChangeShapeType="1" noTextEdit="1"/>
              </p:cNvSpPr>
              <p:nvPr>
                <p:ph type="body" idx="1"/>
              </p:nvPr>
            </p:nvSpPr>
            <p:spPr>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88650936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1BEDF3-2007-15E3-C80B-BB30E29E28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F82DF6-DBE4-E334-583B-1D687B17C6BA}"/>
              </a:ext>
            </a:extLst>
          </p:cNvPr>
          <p:cNvSpPr>
            <a:spLocks noGrp="1"/>
          </p:cNvSpPr>
          <p:nvPr>
            <p:ph type="title"/>
          </p:nvPr>
        </p:nvSpPr>
        <p:spPr/>
        <p:txBody>
          <a:bodyPr>
            <a:normAutofit fontScale="90000"/>
          </a:bodyPr>
          <a:lstStyle/>
          <a:p>
            <a:r>
              <a:rPr lang="en-US" dirty="0"/>
              <a:t>Interpreting results of LSA</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9464634C-4204-6AF3-FD96-A0F7E15241A7}"/>
                  </a:ext>
                </a:extLst>
              </p:cNvPr>
              <p:cNvSpPr>
                <a:spLocks noGrp="1"/>
              </p:cNvSpPr>
              <p:nvPr>
                <p:ph type="body" idx="1"/>
              </p:nvPr>
            </p:nvSpPr>
            <p:spPr/>
            <p:txBody>
              <a:bodyPr/>
              <a:lstStyle/>
              <a:p>
                <a:pPr marL="114300" indent="0">
                  <a:buNone/>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𝑘</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𝑈</m:t>
                          </m:r>
                        </m:e>
                        <m:sub>
                          <m:r>
                            <a:rPr lang="en-US" b="0" i="1" smtClean="0">
                              <a:latin typeface="Cambria Math" panose="02040503050406030204" pitchFamily="18" charset="0"/>
                            </a:rPr>
                            <m:t>𝑘</m:t>
                          </m:r>
                        </m:sub>
                      </m:sSub>
                      <m:sSub>
                        <m:sSubPr>
                          <m:ctrlPr>
                            <a:rPr lang="en-US" b="0" i="0" smtClean="0">
                              <a:latin typeface="Cambria Math" panose="02040503050406030204" pitchFamily="18" charset="0"/>
                            </a:rPr>
                          </m:ctrlPr>
                        </m:sSubPr>
                        <m:e>
                          <m:r>
                            <m:rPr>
                              <m:sty m:val="p"/>
                            </m:rPr>
                            <a:rPr lang="en-US" b="0" i="0" smtClean="0">
                              <a:latin typeface="Cambria Math" panose="02040503050406030204" pitchFamily="18" charset="0"/>
                            </a:rPr>
                            <m:t>Σ</m:t>
                          </m:r>
                        </m:e>
                        <m:sub>
                          <m:r>
                            <a:rPr lang="en-US" b="0" i="1" smtClean="0">
                              <a:latin typeface="Cambria Math" panose="02040503050406030204" pitchFamily="18" charset="0"/>
                            </a:rPr>
                            <m:t>𝑘</m:t>
                          </m:r>
                        </m:sub>
                      </m:sSub>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𝑉</m:t>
                          </m:r>
                        </m:e>
                        <m:sub>
                          <m:r>
                            <a:rPr lang="en-US" b="0" i="1" smtClean="0">
                              <a:latin typeface="Cambria Math" panose="02040503050406030204" pitchFamily="18" charset="0"/>
                            </a:rPr>
                            <m:t>𝑘</m:t>
                          </m:r>
                        </m:sub>
                        <m:sup>
                          <m:r>
                            <a:rPr lang="en-US" b="0" i="1" smtClean="0">
                              <a:latin typeface="Cambria Math" panose="02040503050406030204" pitchFamily="18" charset="0"/>
                            </a:rPr>
                            <m:t>𝑇</m:t>
                          </m:r>
                        </m:sup>
                      </m:sSubSup>
                    </m:oMath>
                  </m:oMathPara>
                </a14:m>
                <a:endParaRPr lang="en-US" dirty="0"/>
              </a:p>
              <a:p>
                <a:r>
                  <a:rPr lang="en-US" b="0" dirty="0"/>
                  <a:t>Document vectors </a:t>
                </a:r>
                <a14:m>
                  <m:oMath xmlns:m="http://schemas.openxmlformats.org/officeDocument/2006/math">
                    <m:sSub>
                      <m:sSubPr>
                        <m:ctrlPr>
                          <a:rPr lang="en-US" b="0" i="0" smtClean="0">
                            <a:latin typeface="Cambria Math" panose="02040503050406030204" pitchFamily="18" charset="0"/>
                          </a:rPr>
                        </m:ctrlPr>
                      </m:sSubPr>
                      <m:e>
                        <m:r>
                          <m:rPr>
                            <m:sty m:val="p"/>
                          </m:rPr>
                          <a:rPr lang="en-US" b="0" i="0" smtClean="0">
                            <a:latin typeface="Cambria Math" panose="02040503050406030204" pitchFamily="18" charset="0"/>
                          </a:rPr>
                          <m:t>Σ</m:t>
                        </m:r>
                      </m:e>
                      <m:sub>
                        <m:r>
                          <a:rPr lang="en-US" b="0" i="1" smtClean="0">
                            <a:latin typeface="Cambria Math" panose="02040503050406030204" pitchFamily="18" charset="0"/>
                          </a:rPr>
                          <m:t>𝑘</m:t>
                        </m:r>
                      </m:sub>
                    </m:sSub>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𝑉</m:t>
                        </m:r>
                      </m:e>
                      <m:sub>
                        <m:r>
                          <a:rPr lang="en-US" b="0" i="1" smtClean="0">
                            <a:latin typeface="Cambria Math" panose="02040503050406030204" pitchFamily="18" charset="0"/>
                          </a:rPr>
                          <m:t>𝑘</m:t>
                        </m:r>
                      </m:sub>
                      <m:sup>
                        <m:r>
                          <a:rPr lang="en-US" b="0" i="1" smtClean="0">
                            <a:latin typeface="Cambria Math" panose="02040503050406030204" pitchFamily="18" charset="0"/>
                          </a:rPr>
                          <m:t>𝑇</m:t>
                        </m:r>
                      </m:sup>
                    </m:sSubSup>
                  </m:oMath>
                </a14:m>
                <a:endParaRPr lang="en-US" b="0" dirty="0"/>
              </a:p>
              <a:p>
                <a:r>
                  <a:rPr lang="en-US" dirty="0"/>
                  <a:t>Word vectors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𝑈</m:t>
                        </m:r>
                      </m:e>
                      <m:sub>
                        <m:r>
                          <a:rPr lang="en-US" b="0" i="1" smtClean="0">
                            <a:latin typeface="Cambria Math" panose="02040503050406030204" pitchFamily="18" charset="0"/>
                          </a:rPr>
                          <m:t>𝑘</m:t>
                        </m:r>
                      </m:sub>
                    </m:sSub>
                    <m:sSub>
                      <m:sSubPr>
                        <m:ctrlPr>
                          <a:rPr lang="en-US" b="0" i="0" smtClean="0">
                            <a:latin typeface="Cambria Math" panose="02040503050406030204" pitchFamily="18" charset="0"/>
                          </a:rPr>
                        </m:ctrlPr>
                      </m:sSubPr>
                      <m:e>
                        <m:r>
                          <m:rPr>
                            <m:sty m:val="p"/>
                          </m:rPr>
                          <a:rPr lang="en-US" b="0" i="0" smtClean="0">
                            <a:latin typeface="Cambria Math" panose="02040503050406030204" pitchFamily="18" charset="0"/>
                          </a:rPr>
                          <m:t>Σ</m:t>
                        </m:r>
                      </m:e>
                      <m:sub>
                        <m:r>
                          <a:rPr lang="en-US" b="0" i="1" smtClean="0">
                            <a:latin typeface="Cambria Math" panose="02040503050406030204" pitchFamily="18" charset="0"/>
                          </a:rPr>
                          <m:t>𝑘</m:t>
                        </m:r>
                      </m:sub>
                    </m:sSub>
                  </m:oMath>
                </a14:m>
                <a:endParaRPr lang="en-US" b="0" dirty="0"/>
              </a:p>
              <a:p>
                <a:pPr marL="114300" indent="0">
                  <a:buNone/>
                </a:pPr>
                <a:endParaRPr lang="en-US" b="0" dirty="0"/>
              </a:p>
              <a:p>
                <a:pPr marL="114300" indent="0">
                  <a:buNone/>
                </a:pPr>
                <a:r>
                  <a:rPr lang="en-US" b="0" dirty="0"/>
                  <a:t>Question: how can we measure the similarity of two document vectors?</a:t>
                </a:r>
              </a:p>
              <a:p>
                <a:pPr marL="114300" indent="0">
                  <a:buNone/>
                </a:pPr>
                <a:endParaRPr lang="en-US" dirty="0"/>
              </a:p>
              <a:p>
                <a:pPr marL="114300" indent="0">
                  <a:buNone/>
                </a:pPr>
                <a:endParaRPr lang="en-US" b="0" dirty="0"/>
              </a:p>
              <a:p>
                <a:pPr marL="114300" indent="0">
                  <a:buNone/>
                </a:pPr>
                <a:endParaRPr lang="en-US" dirty="0"/>
              </a:p>
            </p:txBody>
          </p:sp>
        </mc:Choice>
        <mc:Fallback xmlns="">
          <p:sp>
            <p:nvSpPr>
              <p:cNvPr id="3" name="Text Placeholder 2">
                <a:extLst>
                  <a:ext uri="{FF2B5EF4-FFF2-40B4-BE49-F238E27FC236}">
                    <a16:creationId xmlns:a16="http://schemas.microsoft.com/office/drawing/2014/main" id="{9464634C-4204-6AF3-FD96-A0F7E15241A7}"/>
                  </a:ext>
                </a:extLst>
              </p:cNvPr>
              <p:cNvSpPr>
                <a:spLocks noGrp="1" noRot="1" noChangeAspect="1" noMove="1" noResize="1" noEditPoints="1" noAdjustHandles="1" noChangeArrowheads="1" noChangeShapeType="1" noTextEdit="1"/>
              </p:cNvSpPr>
              <p:nvPr>
                <p:ph type="body" idx="1"/>
              </p:nvPr>
            </p:nvSpPr>
            <p:spPr>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72995578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A07D63-3725-7A11-8E57-99051CD8A6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FA7DCE-FC97-DE0B-07AD-12FEED32028B}"/>
              </a:ext>
            </a:extLst>
          </p:cNvPr>
          <p:cNvSpPr>
            <a:spLocks noGrp="1"/>
          </p:cNvSpPr>
          <p:nvPr>
            <p:ph type="title"/>
          </p:nvPr>
        </p:nvSpPr>
        <p:spPr/>
        <p:txBody>
          <a:bodyPr>
            <a:normAutofit fontScale="90000"/>
          </a:bodyPr>
          <a:lstStyle/>
          <a:p>
            <a:r>
              <a:rPr lang="en-US" dirty="0"/>
              <a:t>Interpreting results of LSA: Cosine Similarity</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E39EE8AB-2D0C-C85D-95AC-39E335686D2C}"/>
                  </a:ext>
                </a:extLst>
              </p:cNvPr>
              <p:cNvSpPr>
                <a:spLocks noGrp="1"/>
              </p:cNvSpPr>
              <p:nvPr>
                <p:ph type="body" idx="1"/>
              </p:nvPr>
            </p:nvSpPr>
            <p:spPr/>
            <p:txBody>
              <a:bodyPr/>
              <a:lstStyle/>
              <a:p>
                <a:pPr marL="114300" indent="0">
                  <a:buNone/>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𝑘</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𝑈</m:t>
                          </m:r>
                        </m:e>
                        <m:sub>
                          <m:r>
                            <a:rPr lang="en-US" b="0" i="1" smtClean="0">
                              <a:latin typeface="Cambria Math" panose="02040503050406030204" pitchFamily="18" charset="0"/>
                            </a:rPr>
                            <m:t>𝑘</m:t>
                          </m:r>
                        </m:sub>
                      </m:sSub>
                      <m:sSub>
                        <m:sSubPr>
                          <m:ctrlPr>
                            <a:rPr lang="en-US" b="0" i="0" smtClean="0">
                              <a:latin typeface="Cambria Math" panose="02040503050406030204" pitchFamily="18" charset="0"/>
                            </a:rPr>
                          </m:ctrlPr>
                        </m:sSubPr>
                        <m:e>
                          <m:r>
                            <m:rPr>
                              <m:sty m:val="p"/>
                            </m:rPr>
                            <a:rPr lang="en-US" b="0" i="0" smtClean="0">
                              <a:latin typeface="Cambria Math" panose="02040503050406030204" pitchFamily="18" charset="0"/>
                            </a:rPr>
                            <m:t>Σ</m:t>
                          </m:r>
                        </m:e>
                        <m:sub>
                          <m:r>
                            <a:rPr lang="en-US" b="0" i="1" smtClean="0">
                              <a:latin typeface="Cambria Math" panose="02040503050406030204" pitchFamily="18" charset="0"/>
                            </a:rPr>
                            <m:t>𝑘</m:t>
                          </m:r>
                        </m:sub>
                      </m:sSub>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𝑉</m:t>
                          </m:r>
                        </m:e>
                        <m:sub>
                          <m:r>
                            <a:rPr lang="en-US" b="0" i="1" smtClean="0">
                              <a:latin typeface="Cambria Math" panose="02040503050406030204" pitchFamily="18" charset="0"/>
                            </a:rPr>
                            <m:t>𝑘</m:t>
                          </m:r>
                        </m:sub>
                        <m:sup>
                          <m:r>
                            <a:rPr lang="en-US" b="0" i="1" smtClean="0">
                              <a:latin typeface="Cambria Math" panose="02040503050406030204" pitchFamily="18" charset="0"/>
                            </a:rPr>
                            <m:t>𝑇</m:t>
                          </m:r>
                        </m:sup>
                      </m:sSubSup>
                    </m:oMath>
                  </m:oMathPara>
                </a14:m>
                <a:endParaRPr lang="en-US" b="0" dirty="0"/>
              </a:p>
              <a:p>
                <a:pPr marL="114300" indent="0">
                  <a:buNone/>
                </a:pPr>
                <a:r>
                  <a:rPr lang="en-US" dirty="0"/>
                  <a:t>Example for </a:t>
                </a:r>
                <a14:m>
                  <m:oMath xmlns:m="http://schemas.openxmlformats.org/officeDocument/2006/math">
                    <m:r>
                      <a:rPr lang="en-US" i="1" dirty="0" smtClean="0">
                        <a:latin typeface="Cambria Math" panose="02040503050406030204" pitchFamily="18" charset="0"/>
                      </a:rPr>
                      <m:t>𝑘</m:t>
                    </m:r>
                    <m:r>
                      <a:rPr lang="en-US" i="1" dirty="0" smtClean="0">
                        <a:latin typeface="Cambria Math" panose="02040503050406030204" pitchFamily="18" charset="0"/>
                      </a:rPr>
                      <m:t>=2</m:t>
                    </m:r>
                  </m:oMath>
                </a14:m>
                <a:endParaRPr lang="en-US" dirty="0"/>
              </a:p>
            </p:txBody>
          </p:sp>
        </mc:Choice>
        <mc:Fallback xmlns="">
          <p:sp>
            <p:nvSpPr>
              <p:cNvPr id="3" name="Text Placeholder 2">
                <a:extLst>
                  <a:ext uri="{FF2B5EF4-FFF2-40B4-BE49-F238E27FC236}">
                    <a16:creationId xmlns:a16="http://schemas.microsoft.com/office/drawing/2014/main" id="{E39EE8AB-2D0C-C85D-95AC-39E335686D2C}"/>
                  </a:ext>
                </a:extLst>
              </p:cNvPr>
              <p:cNvSpPr>
                <a:spLocks noGrp="1" noRot="1" noChangeAspect="1" noMove="1" noResize="1" noEditPoints="1" noAdjustHandles="1" noChangeArrowheads="1" noChangeShapeType="1" noTextEdit="1"/>
              </p:cNvSpPr>
              <p:nvPr>
                <p:ph type="body" idx="1"/>
              </p:nvPr>
            </p:nvSpPr>
            <p:spPr>
              <a:blipFill>
                <a:blip r:embed="rId2"/>
                <a:stretch>
                  <a:fillRect/>
                </a:stretch>
              </a:blipFill>
            </p:spPr>
            <p:txBody>
              <a:bodyPr/>
              <a:lstStyle/>
              <a:p>
                <a:r>
                  <a:rPr lang="en-US">
                    <a:noFill/>
                  </a:rPr>
                  <a:t> </a:t>
                </a:r>
              </a:p>
            </p:txBody>
          </p:sp>
        </mc:Fallback>
      </mc:AlternateContent>
      <p:cxnSp>
        <p:nvCxnSpPr>
          <p:cNvPr id="7" name="Straight Arrow Connector 6">
            <a:extLst>
              <a:ext uri="{FF2B5EF4-FFF2-40B4-BE49-F238E27FC236}">
                <a16:creationId xmlns:a16="http://schemas.microsoft.com/office/drawing/2014/main" id="{4C02EBB7-8FC5-22FE-0B69-4A517938DC6B}"/>
              </a:ext>
            </a:extLst>
          </p:cNvPr>
          <p:cNvCxnSpPr/>
          <p:nvPr/>
        </p:nvCxnSpPr>
        <p:spPr>
          <a:xfrm>
            <a:off x="1526959" y="2095130"/>
            <a:ext cx="0" cy="2911876"/>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F7C21A96-5FA3-DAA4-F72E-CD080237FC93}"/>
              </a:ext>
            </a:extLst>
          </p:cNvPr>
          <p:cNvCxnSpPr/>
          <p:nvPr/>
        </p:nvCxnSpPr>
        <p:spPr>
          <a:xfrm>
            <a:off x="994299" y="4287915"/>
            <a:ext cx="3897297"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2769B14A-4D6C-8907-6292-108D63302491}"/>
              </a:ext>
            </a:extLst>
          </p:cNvPr>
          <p:cNvSpPr txBox="1"/>
          <p:nvPr/>
        </p:nvSpPr>
        <p:spPr>
          <a:xfrm>
            <a:off x="683580" y="2175030"/>
            <a:ext cx="967666" cy="307777"/>
          </a:xfrm>
          <a:prstGeom prst="rect">
            <a:avLst/>
          </a:prstGeom>
          <a:noFill/>
        </p:spPr>
        <p:txBody>
          <a:bodyPr wrap="square" rtlCol="0">
            <a:spAutoFit/>
          </a:bodyPr>
          <a:lstStyle/>
          <a:p>
            <a:r>
              <a:rPr lang="en-US" b="1" dirty="0">
                <a:solidFill>
                  <a:schemeClr val="bg2"/>
                </a:solidFill>
                <a:latin typeface="Open Sans" panose="020B0606030504020204" pitchFamily="34" charset="0"/>
                <a:ea typeface="Open Sans" panose="020B0606030504020204" pitchFamily="34" charset="0"/>
                <a:cs typeface="Open Sans" panose="020B0606030504020204" pitchFamily="34" charset="0"/>
              </a:rPr>
              <a:t>Medical</a:t>
            </a:r>
          </a:p>
        </p:txBody>
      </p:sp>
      <p:sp>
        <p:nvSpPr>
          <p:cNvPr id="11" name="TextBox 10">
            <a:extLst>
              <a:ext uri="{FF2B5EF4-FFF2-40B4-BE49-F238E27FC236}">
                <a16:creationId xmlns:a16="http://schemas.microsoft.com/office/drawing/2014/main" id="{D7839EE7-D3E6-D7DF-89BE-769E7C900A15}"/>
              </a:ext>
            </a:extLst>
          </p:cNvPr>
          <p:cNvSpPr txBox="1"/>
          <p:nvPr/>
        </p:nvSpPr>
        <p:spPr>
          <a:xfrm>
            <a:off x="4038360" y="4287915"/>
            <a:ext cx="2068495" cy="307777"/>
          </a:xfrm>
          <a:prstGeom prst="rect">
            <a:avLst/>
          </a:prstGeom>
          <a:noFill/>
        </p:spPr>
        <p:txBody>
          <a:bodyPr wrap="square" rtlCol="0">
            <a:spAutoFit/>
          </a:bodyPr>
          <a:lstStyle/>
          <a:p>
            <a:r>
              <a:rPr lang="en-US" b="1" dirty="0">
                <a:solidFill>
                  <a:schemeClr val="bg2"/>
                </a:solidFill>
              </a:rPr>
              <a:t>Computer Science</a:t>
            </a:r>
          </a:p>
        </p:txBody>
      </p:sp>
      <p:cxnSp>
        <p:nvCxnSpPr>
          <p:cNvPr id="13" name="Straight Arrow Connector 12">
            <a:extLst>
              <a:ext uri="{FF2B5EF4-FFF2-40B4-BE49-F238E27FC236}">
                <a16:creationId xmlns:a16="http://schemas.microsoft.com/office/drawing/2014/main" id="{58C12657-C2CB-B16A-0D84-CDCFE22C6E3B}"/>
              </a:ext>
            </a:extLst>
          </p:cNvPr>
          <p:cNvCxnSpPr>
            <a:cxnSpLocks/>
          </p:cNvCxnSpPr>
          <p:nvPr/>
        </p:nvCxnSpPr>
        <p:spPr>
          <a:xfrm flipV="1">
            <a:off x="1526959" y="2175030"/>
            <a:ext cx="248575" cy="2112885"/>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4" name="Straight Arrow Connector 13">
            <a:extLst>
              <a:ext uri="{FF2B5EF4-FFF2-40B4-BE49-F238E27FC236}">
                <a16:creationId xmlns:a16="http://schemas.microsoft.com/office/drawing/2014/main" id="{F1949727-666E-54F7-70EA-4DE8077F44EA}"/>
              </a:ext>
            </a:extLst>
          </p:cNvPr>
          <p:cNvCxnSpPr>
            <a:cxnSpLocks/>
          </p:cNvCxnSpPr>
          <p:nvPr/>
        </p:nvCxnSpPr>
        <p:spPr>
          <a:xfrm flipV="1">
            <a:off x="1526959" y="2743200"/>
            <a:ext cx="648070" cy="1544715"/>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7" name="Straight Arrow Connector 16">
            <a:extLst>
              <a:ext uri="{FF2B5EF4-FFF2-40B4-BE49-F238E27FC236}">
                <a16:creationId xmlns:a16="http://schemas.microsoft.com/office/drawing/2014/main" id="{7278BC0A-4A07-8184-4D18-D26E5D8A2BAD}"/>
              </a:ext>
            </a:extLst>
          </p:cNvPr>
          <p:cNvCxnSpPr>
            <a:cxnSpLocks/>
          </p:cNvCxnSpPr>
          <p:nvPr/>
        </p:nvCxnSpPr>
        <p:spPr>
          <a:xfrm flipV="1">
            <a:off x="1526959" y="4074850"/>
            <a:ext cx="3222594" cy="213065"/>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23" name="Straight Arrow Connector 22">
            <a:extLst>
              <a:ext uri="{FF2B5EF4-FFF2-40B4-BE49-F238E27FC236}">
                <a16:creationId xmlns:a16="http://schemas.microsoft.com/office/drawing/2014/main" id="{8F1FC9ED-A22A-E7BD-0A5B-100FCB3AFD0E}"/>
              </a:ext>
            </a:extLst>
          </p:cNvPr>
          <p:cNvCxnSpPr>
            <a:cxnSpLocks/>
          </p:cNvCxnSpPr>
          <p:nvPr/>
        </p:nvCxnSpPr>
        <p:spPr>
          <a:xfrm flipV="1">
            <a:off x="1526959" y="3586579"/>
            <a:ext cx="2290439" cy="701336"/>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8FAA5627-2F2F-62C9-7ADE-4BF960A08C74}"/>
                  </a:ext>
                </a:extLst>
              </p:cNvPr>
              <p:cNvSpPr txBox="1"/>
              <p:nvPr/>
            </p:nvSpPr>
            <p:spPr>
              <a:xfrm>
                <a:off x="1642364" y="1935331"/>
                <a:ext cx="284085" cy="523220"/>
              </a:xfrm>
              <a:prstGeom prst="rect">
                <a:avLst/>
              </a:prstGeom>
              <a:noFill/>
            </p:spPr>
            <p:txBody>
              <a:bodyPr wrap="square" rtlCol="0">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1</m:t>
                          </m:r>
                        </m:sub>
                      </m:sSub>
                    </m:oMath>
                  </m:oMathPara>
                </a14:m>
                <a:endParaRPr lang="en-US" b="0" dirty="0"/>
              </a:p>
              <a:p>
                <a:endParaRPr lang="en-US" dirty="0"/>
              </a:p>
            </p:txBody>
          </p:sp>
        </mc:Choice>
        <mc:Fallback xmlns="">
          <p:sp>
            <p:nvSpPr>
              <p:cNvPr id="26" name="TextBox 25">
                <a:extLst>
                  <a:ext uri="{FF2B5EF4-FFF2-40B4-BE49-F238E27FC236}">
                    <a16:creationId xmlns:a16="http://schemas.microsoft.com/office/drawing/2014/main" id="{8FAA5627-2F2F-62C9-7ADE-4BF960A08C74}"/>
                  </a:ext>
                </a:extLst>
              </p:cNvPr>
              <p:cNvSpPr txBox="1">
                <a:spLocks noRot="1" noChangeAspect="1" noMove="1" noResize="1" noEditPoints="1" noAdjustHandles="1" noChangeArrowheads="1" noChangeShapeType="1" noTextEdit="1"/>
              </p:cNvSpPr>
              <p:nvPr/>
            </p:nvSpPr>
            <p:spPr>
              <a:xfrm>
                <a:off x="1642364" y="1935331"/>
                <a:ext cx="284085" cy="523220"/>
              </a:xfrm>
              <a:prstGeom prst="rect">
                <a:avLst/>
              </a:prstGeom>
              <a:blipFill>
                <a:blip r:embed="rId3"/>
                <a:stretch>
                  <a:fillRect r="-434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BD5FDBCE-4B62-C761-F15D-1AFB9F6DA358}"/>
                  </a:ext>
                </a:extLst>
              </p:cNvPr>
              <p:cNvSpPr txBox="1"/>
              <p:nvPr/>
            </p:nvSpPr>
            <p:spPr>
              <a:xfrm>
                <a:off x="2086254" y="2426170"/>
                <a:ext cx="284085" cy="523220"/>
              </a:xfrm>
              <a:prstGeom prst="rect">
                <a:avLst/>
              </a:prstGeom>
              <a:noFill/>
            </p:spPr>
            <p:txBody>
              <a:bodyPr wrap="square" rtlCol="0">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2</m:t>
                          </m:r>
                        </m:sub>
                      </m:sSub>
                    </m:oMath>
                  </m:oMathPara>
                </a14:m>
                <a:endParaRPr lang="en-US" b="0" dirty="0"/>
              </a:p>
              <a:p>
                <a:endParaRPr lang="en-US" dirty="0"/>
              </a:p>
            </p:txBody>
          </p:sp>
        </mc:Choice>
        <mc:Fallback xmlns="">
          <p:sp>
            <p:nvSpPr>
              <p:cNvPr id="27" name="TextBox 26">
                <a:extLst>
                  <a:ext uri="{FF2B5EF4-FFF2-40B4-BE49-F238E27FC236}">
                    <a16:creationId xmlns:a16="http://schemas.microsoft.com/office/drawing/2014/main" id="{BD5FDBCE-4B62-C761-F15D-1AFB9F6DA358}"/>
                  </a:ext>
                </a:extLst>
              </p:cNvPr>
              <p:cNvSpPr txBox="1">
                <a:spLocks noRot="1" noChangeAspect="1" noMove="1" noResize="1" noEditPoints="1" noAdjustHandles="1" noChangeArrowheads="1" noChangeShapeType="1" noTextEdit="1"/>
              </p:cNvSpPr>
              <p:nvPr/>
            </p:nvSpPr>
            <p:spPr>
              <a:xfrm>
                <a:off x="2086254" y="2426170"/>
                <a:ext cx="284085" cy="523220"/>
              </a:xfrm>
              <a:prstGeom prst="rect">
                <a:avLst/>
              </a:prstGeom>
              <a:blipFill>
                <a:blip r:embed="rId4"/>
                <a:stretch>
                  <a:fillRect r="-434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71C40F4D-C28C-4B86-52D4-09AF57DED85B}"/>
                  </a:ext>
                </a:extLst>
              </p:cNvPr>
              <p:cNvSpPr txBox="1"/>
              <p:nvPr/>
            </p:nvSpPr>
            <p:spPr>
              <a:xfrm>
                <a:off x="3785837" y="3353955"/>
                <a:ext cx="284085" cy="523220"/>
              </a:xfrm>
              <a:prstGeom prst="rect">
                <a:avLst/>
              </a:prstGeom>
              <a:noFill/>
            </p:spPr>
            <p:txBody>
              <a:bodyPr wrap="square" rtlCol="0">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3</m:t>
                          </m:r>
                        </m:sub>
                      </m:sSub>
                    </m:oMath>
                  </m:oMathPara>
                </a14:m>
                <a:endParaRPr lang="en-US" b="0" dirty="0"/>
              </a:p>
              <a:p>
                <a:endParaRPr lang="en-US" dirty="0"/>
              </a:p>
            </p:txBody>
          </p:sp>
        </mc:Choice>
        <mc:Fallback xmlns="">
          <p:sp>
            <p:nvSpPr>
              <p:cNvPr id="28" name="TextBox 27">
                <a:extLst>
                  <a:ext uri="{FF2B5EF4-FFF2-40B4-BE49-F238E27FC236}">
                    <a16:creationId xmlns:a16="http://schemas.microsoft.com/office/drawing/2014/main" id="{71C40F4D-C28C-4B86-52D4-09AF57DED85B}"/>
                  </a:ext>
                </a:extLst>
              </p:cNvPr>
              <p:cNvSpPr txBox="1">
                <a:spLocks noRot="1" noChangeAspect="1" noMove="1" noResize="1" noEditPoints="1" noAdjustHandles="1" noChangeArrowheads="1" noChangeShapeType="1" noTextEdit="1"/>
              </p:cNvSpPr>
              <p:nvPr/>
            </p:nvSpPr>
            <p:spPr>
              <a:xfrm>
                <a:off x="3785837" y="3353955"/>
                <a:ext cx="284085" cy="523220"/>
              </a:xfrm>
              <a:prstGeom prst="rect">
                <a:avLst/>
              </a:prstGeom>
              <a:blipFill>
                <a:blip r:embed="rId5"/>
                <a:stretch>
                  <a:fillRect r="-434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DEC732C1-4B7A-69F3-25FB-DD5E2A0D8F7C}"/>
                  </a:ext>
                </a:extLst>
              </p:cNvPr>
              <p:cNvSpPr txBox="1"/>
              <p:nvPr/>
            </p:nvSpPr>
            <p:spPr>
              <a:xfrm>
                <a:off x="4749553" y="3912405"/>
                <a:ext cx="284085" cy="523220"/>
              </a:xfrm>
              <a:prstGeom prst="rect">
                <a:avLst/>
              </a:prstGeom>
              <a:noFill/>
            </p:spPr>
            <p:txBody>
              <a:bodyPr wrap="square" rtlCol="0">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4</m:t>
                          </m:r>
                        </m:sub>
                      </m:sSub>
                    </m:oMath>
                  </m:oMathPara>
                </a14:m>
                <a:endParaRPr lang="en-US" b="0" dirty="0"/>
              </a:p>
              <a:p>
                <a:endParaRPr lang="en-US" dirty="0"/>
              </a:p>
            </p:txBody>
          </p:sp>
        </mc:Choice>
        <mc:Fallback xmlns="">
          <p:sp>
            <p:nvSpPr>
              <p:cNvPr id="29" name="TextBox 28">
                <a:extLst>
                  <a:ext uri="{FF2B5EF4-FFF2-40B4-BE49-F238E27FC236}">
                    <a16:creationId xmlns:a16="http://schemas.microsoft.com/office/drawing/2014/main" id="{DEC732C1-4B7A-69F3-25FB-DD5E2A0D8F7C}"/>
                  </a:ext>
                </a:extLst>
              </p:cNvPr>
              <p:cNvSpPr txBox="1">
                <a:spLocks noRot="1" noChangeAspect="1" noMove="1" noResize="1" noEditPoints="1" noAdjustHandles="1" noChangeArrowheads="1" noChangeShapeType="1" noTextEdit="1"/>
              </p:cNvSpPr>
              <p:nvPr/>
            </p:nvSpPr>
            <p:spPr>
              <a:xfrm>
                <a:off x="4749553" y="3912405"/>
                <a:ext cx="284085" cy="523220"/>
              </a:xfrm>
              <a:prstGeom prst="rect">
                <a:avLst/>
              </a:prstGeom>
              <a:blipFill>
                <a:blip r:embed="rId6"/>
                <a:stretch>
                  <a:fillRect r="-4167"/>
                </a:stretch>
              </a:blipFill>
            </p:spPr>
            <p:txBody>
              <a:bodyPr/>
              <a:lstStyle/>
              <a:p>
                <a:r>
                  <a:rPr lang="en-US">
                    <a:noFill/>
                  </a:rPr>
                  <a:t> </a:t>
                </a:r>
              </a:p>
            </p:txBody>
          </p:sp>
        </mc:Fallback>
      </mc:AlternateContent>
      <p:sp>
        <p:nvSpPr>
          <p:cNvPr id="5" name="TextBox 4">
            <a:extLst>
              <a:ext uri="{FF2B5EF4-FFF2-40B4-BE49-F238E27FC236}">
                <a16:creationId xmlns:a16="http://schemas.microsoft.com/office/drawing/2014/main" id="{789E1061-46CF-5486-9E32-731648790EE7}"/>
              </a:ext>
            </a:extLst>
          </p:cNvPr>
          <p:cNvSpPr txBox="1"/>
          <p:nvPr/>
        </p:nvSpPr>
        <p:spPr>
          <a:xfrm>
            <a:off x="4492101" y="2246533"/>
            <a:ext cx="3968319" cy="954107"/>
          </a:xfrm>
          <a:prstGeom prst="rect">
            <a:avLst/>
          </a:prstGeom>
          <a:noFill/>
        </p:spPr>
        <p:txBody>
          <a:bodyPr wrap="square" rtlCol="0">
            <a:spAutoFit/>
          </a:bodyPr>
          <a:lstStyle/>
          <a:p>
            <a:r>
              <a:rPr lang="en-US" dirty="0">
                <a:solidFill>
                  <a:schemeClr val="bg2"/>
                </a:solidFill>
                <a:latin typeface="Open Sans" panose="020B0606030504020204" pitchFamily="34" charset="0"/>
                <a:ea typeface="Open Sans" panose="020B0606030504020204" pitchFamily="34" charset="0"/>
                <a:cs typeface="Open Sans" panose="020B0606030504020204" pitchFamily="34" charset="0"/>
              </a:rPr>
              <a:t>Cosine similarity will correspond to semantic similarity! </a:t>
            </a:r>
            <a:r>
              <a:rPr lang="en-US" dirty="0">
                <a:solidFill>
                  <a:schemeClr val="bg2"/>
                </a:solidFill>
                <a:latin typeface="Open Sans" panose="020B0606030504020204" pitchFamily="34" charset="0"/>
                <a:ea typeface="Open Sans" panose="020B0606030504020204" pitchFamily="34" charset="0"/>
                <a:cs typeface="Open Sans" panose="020B0606030504020204" pitchFamily="34" charset="0"/>
                <a:sym typeface="Wingdings" pitchFamily="2" charset="2"/>
              </a:rPr>
              <a:t> Each document exists in our latent semantic space and similar documents are close to one another!</a:t>
            </a:r>
            <a:endParaRPr lang="en-US"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79617277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LIDO_APP_VERSION" val="1.5.0.0"/>
  <p:tag name="SLIDO_PRESENTATION_ID" val="8c351a3b-dde1-401e-97b6-637cc3b6391f"/>
  <p:tag name="SLIDO_EVENT_UUID" val="92c79f90-a3bb-4af7-9c9b-234960c71c0d"/>
  <p:tag name="SLIDO_EVENT_SECTION_UUID" val="eda1dfc3-57df-468d-8cde-17035a0a6d50"/>
</p:tagLst>
</file>

<file path=ppt/tags/tag2.xml><?xml version="1.0" encoding="utf-8"?>
<p:tagLst xmlns:a="http://schemas.openxmlformats.org/drawingml/2006/main" xmlns:r="http://schemas.openxmlformats.org/officeDocument/2006/relationships" xmlns:p="http://schemas.openxmlformats.org/presentationml/2006/main">
  <p:tag name="SLIDO_TYPE" val="SlidoPoll"/>
  <p:tag name="SLIDO_POLL_UUID" val="b7c35635-34ce-4521-ae1a-0014b7f4cc41"/>
  <p:tag name="SLIDO_POLL_QUESTION_UUID" val="9ae9135a-ae05-4e06-bf8c-56382315dd01"/>
  <p:tag name="SLIDO_KEEP_POLL_ACTIVE" val="false"/>
  <p:tag name="SLIDO_TIMELINE" val="W3sic2NyZWVuIjoiUXVpekpvaW5pbmcifSx7InZvdGluZ0xvY2tlZCI6ZmFsc2UsInNob3dSZXN1bHRzIjpmYWxzZSwicG9sbFF1ZXN0aW9uVXVpZCI6IjlhZTkxMzVhLWFlMDUtNGUwNi1iZjhjLTU2MzgyMzE1ZGQwMSIsInNob3dDb3JyZWN0QW5zd2VycyI6ZmFsc2V9LHsidm90aW5nTG9ja2VkIjp0cnVlLCJzaG93UmVzdWx0cyI6dHJ1ZSwicG9sbFF1ZXN0aW9uVXVpZCI6IjlhZTkxMzVhLWFlMDUtNGUwNi1iZjhjLTU2MzgyMzE1ZGQwMSIsInNob3dDb3JyZWN0QW5zd2VycyI6ZmFsc2V9LHsidm90aW5nTG9ja2VkIjp0cnVlLCJzaG93UmVzdWx0cyI6dHJ1ZSwicG9sbFF1ZXN0aW9uVXVpZCI6IjlhZTkxMzVhLWFlMDUtNGUwNi1iZjhjLTU2MzgyMzE1ZGQwMSIsInNob3dDb3JyZWN0QW5zd2VycyI6dHJ1ZX1d"/>
</p:tagLst>
</file>

<file path=ppt/tags/tag3.xml><?xml version="1.0" encoding="utf-8"?>
<p:tagLst xmlns:a="http://schemas.openxmlformats.org/drawingml/2006/main" xmlns:r="http://schemas.openxmlformats.org/officeDocument/2006/relationships" xmlns:p="http://schemas.openxmlformats.org/presentationml/2006/main">
  <p:tag name="SLIDO_ELEMENT" val="interaction_image"/>
  <p:tag name="INTERACTION_TYPE" val="Quiz"/>
</p:tagLst>
</file>

<file path=ppt/tags/tag4.xml><?xml version="1.0" encoding="utf-8"?>
<p:tagLst xmlns:a="http://schemas.openxmlformats.org/drawingml/2006/main" xmlns:r="http://schemas.openxmlformats.org/officeDocument/2006/relationships" xmlns:p="http://schemas.openxmlformats.org/presentationml/2006/main">
  <p:tag name="SLIDO_ELEMENT" val="title"/>
</p:tagLst>
</file>

<file path=ppt/tags/tag5.xml><?xml version="1.0" encoding="utf-8"?>
<p:tagLst xmlns:a="http://schemas.openxmlformats.org/drawingml/2006/main" xmlns:r="http://schemas.openxmlformats.org/officeDocument/2006/relationships" xmlns:p="http://schemas.openxmlformats.org/presentationml/2006/main">
  <p:tag name="SLIDO_ELEMENT" val="footer"/>
</p:tagLst>
</file>

<file path=ppt/tags/tag6.xml><?xml version="1.0" encoding="utf-8"?>
<p:tagLst xmlns:a="http://schemas.openxmlformats.org/drawingml/2006/main" xmlns:r="http://schemas.openxmlformats.org/officeDocument/2006/relationships" xmlns:p="http://schemas.openxmlformats.org/presentationml/2006/main">
  <p:tag name="SLIDO_ELEMENT" val="corner"/>
</p:tagLst>
</file>

<file path=ppt/tags/tag7.xml><?xml version="1.0" encoding="utf-8"?>
<p:tagLst xmlns:a="http://schemas.openxmlformats.org/drawingml/2006/main" xmlns:r="http://schemas.openxmlformats.org/officeDocument/2006/relationships" xmlns:p="http://schemas.openxmlformats.org/presentationml/2006/main">
  <p:tag name="SLIDO_TYPE" val="SlidoPoll"/>
  <p:tag name="SLIDO_POLL_UUID" val="b7c35635-34ce-4521-ae1a-0014b7f4cc41"/>
  <p:tag name="SLIDO_POLL_QUESTION_UUID" val="d666c200-f179-42d0-b53c-2204232654ad"/>
  <p:tag name="SLIDO_KEEP_POLL_ACTIVE" val="false"/>
  <p:tag name="SLIDO_TIMELINE" val="W3sic2hvd1Jlc3VsdHMiOmZhbHNlLCJzaG93Q29ycmVjdEFuc3dlcnMiOmZhbHNlLCJwb2xsUXVlc3Rpb25VdWlkIjoiZDY2NmMyMDAtZjE3OS00MmQwLWI1M2MtMjIwNDIzMjY1NGFkIiwidm90aW5nTG9ja2VkIjpmYWxzZX0seyJzaG93UmVzdWx0cyI6dHJ1ZSwic2hvd0NvcnJlY3RBbnN3ZXJzIjpmYWxzZSwicG9sbFF1ZXN0aW9uVXVpZCI6ImQ2NjZjMjAwLWYxNzktNDJkMC1iNTNjLTIyMDQyMzI2NTRhZCIsInZvdGluZ0xvY2tlZCI6dHJ1ZX0seyJzaG93UmVzdWx0cyI6dHJ1ZSwic2hvd0NvcnJlY3RBbnN3ZXJzIjp0cnVlLCJwb2xsUXVlc3Rpb25VdWlkIjoiZDY2NmMyMDAtZjE3OS00MmQwLWI1M2MtMjIwNDIzMjY1NGFkIiwidm90aW5nTG9ja2VkIjp0cnVlfV0="/>
</p:tagLst>
</file>

<file path=ppt/tags/tag8.xml><?xml version="1.0" encoding="utf-8"?>
<p:tagLst xmlns:a="http://schemas.openxmlformats.org/drawingml/2006/main" xmlns:r="http://schemas.openxmlformats.org/officeDocument/2006/relationships" xmlns:p="http://schemas.openxmlformats.org/presentationml/2006/main">
  <p:tag name="SLIDO_ELEMENT" val="interaction_image"/>
  <p:tag name="INTERACTION_TYPE" val="Quiz"/>
</p:tagLst>
</file>

<file path=ppt/tags/tag9.xml><?xml version="1.0" encoding="utf-8"?>
<p:tagLst xmlns:a="http://schemas.openxmlformats.org/drawingml/2006/main" xmlns:r="http://schemas.openxmlformats.org/officeDocument/2006/relationships" xmlns:p="http://schemas.openxmlformats.org/presentationml/2006/main">
  <p:tag name="SLIDO_ELEMENT" val="title"/>
</p:tagLst>
</file>

<file path=ppt/tags/tag10.xml><?xml version="1.0" encoding="utf-8"?>
<p:tagLst xmlns:a="http://schemas.openxmlformats.org/drawingml/2006/main" xmlns:r="http://schemas.openxmlformats.org/officeDocument/2006/relationships" xmlns:p="http://schemas.openxmlformats.org/presentationml/2006/main">
  <p:tag name="SLIDO_ELEMENT" val="footer"/>
</p:tagLst>
</file>

<file path=ppt/tags/tag11.xml><?xml version="1.0" encoding="utf-8"?>
<p:tagLst xmlns:a="http://schemas.openxmlformats.org/drawingml/2006/main" xmlns:r="http://schemas.openxmlformats.org/officeDocument/2006/relationships" xmlns:p="http://schemas.openxmlformats.org/presentationml/2006/main">
  <p:tag name="SLIDO_ELEMENT" val="corner"/>
</p:tagLst>
</file>

<file path=ppt/tags/tag12.xml><?xml version="1.0" encoding="utf-8"?>
<p:tagLst xmlns:a="http://schemas.openxmlformats.org/drawingml/2006/main" xmlns:r="http://schemas.openxmlformats.org/officeDocument/2006/relationships" xmlns:p="http://schemas.openxmlformats.org/presentationml/2006/main">
  <p:tag name="SLIDO_TYPE" val="SlidoPoll"/>
  <p:tag name="SLIDO_POLL_UUID" val="b7c35635-34ce-4521-ae1a-0014b7f4cc41"/>
  <p:tag name="SLIDO_POLL_QUESTION_UUID" val="db6b6c2a-d613-47d1-b6ea-c8cc1b3d5fc9"/>
  <p:tag name="SLIDO_KEEP_POLL_ACTIVE" val="false"/>
  <p:tag name="SLIDO_TIMELINE" val="W3sic2NyZWVuIjoiUXVpekdldFJlYWR5In0seyJzaG93Q29ycmVjdEFuc3dlcnMiOmZhbHNlLCJ2b3RpbmdMb2NrZWQiOmZhbHNlLCJzaG93UmVzdWx0cyI6ZmFsc2UsInBvbGxRdWVzdGlvblV1aWQiOiJkYjZiNmMyYS1kNjEzLTQ3ZDEtYjZlYS1jOGNjMWIzZDVmYzkifSx7InNob3dDb3JyZWN0QW5zd2VycyI6ZmFsc2UsInZvdGluZ0xvY2tlZCI6dHJ1ZSwic2hvd1Jlc3VsdHMiOnRydWUsInBvbGxRdWVzdGlvblV1aWQiOiJkYjZiNmMyYS1kNjEzLTQ3ZDEtYjZlYS1jOGNjMWIzZDVmYzkifSx7InNob3dDb3JyZWN0QW5zd2VycyI6dHJ1ZSwidm90aW5nTG9ja2VkIjp0cnVlLCJzaG93UmVzdWx0cyI6dHJ1ZSwicG9sbFF1ZXN0aW9uVXVpZCI6ImRiNmI2YzJhLWQ2MTMtNDdkMS1iNmVhLWM4Y2MxYjNkNWZjOSJ9XQ=="/>
</p:tagLst>
</file>

<file path=ppt/tags/tag13.xml><?xml version="1.0" encoding="utf-8"?>
<p:tagLst xmlns:a="http://schemas.openxmlformats.org/drawingml/2006/main" xmlns:r="http://schemas.openxmlformats.org/officeDocument/2006/relationships" xmlns:p="http://schemas.openxmlformats.org/presentationml/2006/main">
  <p:tag name="SLIDO_ELEMENT" val="interaction_image"/>
  <p:tag name="INTERACTION_TYPE" val="Quiz"/>
</p:tagLst>
</file>

<file path=ppt/tags/tag14.xml><?xml version="1.0" encoding="utf-8"?>
<p:tagLst xmlns:a="http://schemas.openxmlformats.org/drawingml/2006/main" xmlns:r="http://schemas.openxmlformats.org/officeDocument/2006/relationships" xmlns:p="http://schemas.openxmlformats.org/presentationml/2006/main">
  <p:tag name="SLIDO_ELEMENT" val="title"/>
</p:tagLst>
</file>

<file path=ppt/tags/tag15.xml><?xml version="1.0" encoding="utf-8"?>
<p:tagLst xmlns:a="http://schemas.openxmlformats.org/drawingml/2006/main" xmlns:r="http://schemas.openxmlformats.org/officeDocument/2006/relationships" xmlns:p="http://schemas.openxmlformats.org/presentationml/2006/main">
  <p:tag name="SLIDO_ELEMENT" val="footer"/>
</p:tagLst>
</file>

<file path=ppt/tags/tag16.xml><?xml version="1.0" encoding="utf-8"?>
<p:tagLst xmlns:a="http://schemas.openxmlformats.org/drawingml/2006/main" xmlns:r="http://schemas.openxmlformats.org/officeDocument/2006/relationships" xmlns:p="http://schemas.openxmlformats.org/presentationml/2006/main">
  <p:tag name="SLIDO_ELEMENT" val="corner"/>
</p:tagLst>
</file>

<file path=ppt/tags/tag17.xml><?xml version="1.0" encoding="utf-8"?>
<p:tagLst xmlns:a="http://schemas.openxmlformats.org/drawingml/2006/main" xmlns:r="http://schemas.openxmlformats.org/officeDocument/2006/relationships" xmlns:p="http://schemas.openxmlformats.org/presentationml/2006/main">
  <p:tag name="SLIDO_TYPE" val="SlidoPoll"/>
  <p:tag name="SLIDO_POLL_UUID" val="b7c35635-34ce-4521-ae1a-0014b7f4cc41"/>
  <p:tag name="SLIDO_POLL_QUESTION_UUID" val="91a7c93e-badd-4f37-8c73-57c0de43cd79"/>
  <p:tag name="SLIDO_KEEP_POLL_ACTIVE" val="false"/>
  <p:tag name="SLIDO_TIMELINE" val="W3sic2NyZWVuIjoiUXVpekdldFJlYWR5In0seyJwb2xsUXVlc3Rpb25VdWlkIjoiOTFhN2M5M2UtYmFkZC00ZjM3LThjNzMtNTdjMGRlNDNjZDc5Iiwic2hvd1Jlc3VsdHMiOmZhbHNlLCJzaG93Q29ycmVjdEFuc3dlcnMiOmZhbHNlLCJ2b3RpbmdMb2NrZWQiOmZhbHNlfSx7InBvbGxRdWVzdGlvblV1aWQiOiI5MWE3YzkzZS1iYWRkLTRmMzctOGM3My01N2MwZGU0M2NkNzkiLCJzaG93UmVzdWx0cyI6dHJ1ZSwic2hvd0NvcnJlY3RBbnN3ZXJzIjpmYWxzZSwidm90aW5nTG9ja2VkIjp0cnVlfSx7InBvbGxRdWVzdGlvblV1aWQiOiI5MWE3YzkzZS1iYWRkLTRmMzctOGM3My01N2MwZGU0M2NkNzkiLCJzaG93UmVzdWx0cyI6dHJ1ZSwic2hvd0NvcnJlY3RBbnN3ZXJzIjp0cnVlLCJ2b3RpbmdMb2NrZWQiOnRydWV9XQ=="/>
</p:tagLst>
</file>

<file path=ppt/tags/tag18.xml><?xml version="1.0" encoding="utf-8"?>
<p:tagLst xmlns:a="http://schemas.openxmlformats.org/drawingml/2006/main" xmlns:r="http://schemas.openxmlformats.org/officeDocument/2006/relationships" xmlns:p="http://schemas.openxmlformats.org/presentationml/2006/main">
  <p:tag name="SLIDO_ELEMENT" val="interaction_image"/>
  <p:tag name="INTERACTION_TYPE" val="Quiz"/>
</p:tagLst>
</file>

<file path=ppt/tags/tag19.xml><?xml version="1.0" encoding="utf-8"?>
<p:tagLst xmlns:a="http://schemas.openxmlformats.org/drawingml/2006/main" xmlns:r="http://schemas.openxmlformats.org/officeDocument/2006/relationships" xmlns:p="http://schemas.openxmlformats.org/presentationml/2006/main">
  <p:tag name="SLIDO_ELEMENT" val="title"/>
</p:tagLst>
</file>

<file path=ppt/tags/tag20.xml><?xml version="1.0" encoding="utf-8"?>
<p:tagLst xmlns:a="http://schemas.openxmlformats.org/drawingml/2006/main" xmlns:r="http://schemas.openxmlformats.org/officeDocument/2006/relationships" xmlns:p="http://schemas.openxmlformats.org/presentationml/2006/main">
  <p:tag name="SLIDO_ELEMENT" val="footer"/>
</p:tagLst>
</file>

<file path=ppt/tags/tag21.xml><?xml version="1.0" encoding="utf-8"?>
<p:tagLst xmlns:a="http://schemas.openxmlformats.org/drawingml/2006/main" xmlns:r="http://schemas.openxmlformats.org/officeDocument/2006/relationships" xmlns:p="http://schemas.openxmlformats.org/presentationml/2006/main">
  <p:tag name="SLIDO_ELEMENT" val="corner"/>
</p:tagLst>
</file>

<file path=ppt/tags/tag22.xml><?xml version="1.0" encoding="utf-8"?>
<p:tagLst xmlns:a="http://schemas.openxmlformats.org/drawingml/2006/main" xmlns:r="http://schemas.openxmlformats.org/officeDocument/2006/relationships" xmlns:p="http://schemas.openxmlformats.org/presentationml/2006/main">
  <p:tag name="SLIDO_TYPE" val="SlidoPoll"/>
  <p:tag name="SLIDO_POLL_UUID" val="b7c35635-34ce-4521-ae1a-0014b7f4cc41"/>
  <p:tag name="SLIDO_POLL_QUESTION_UUID" val="6adfde93-084a-4142-a494-de7a40e213ed"/>
  <p:tag name="SLIDO_KEEP_POLL_ACTIVE" val="false"/>
  <p:tag name="SLIDO_TIMELINE" val="W3sic2NyZWVuIjoiUXVpekdldFJlYWR5In0seyJzaG93UmVzdWx0cyI6ZmFsc2UsInBvbGxRdWVzdGlvblV1aWQiOiI2YWRmZGU5My0wODRhLTQxNDItYTQ5NC1kZTdhNDBlMjEzZWQiLCJ2b3RpbmdMb2NrZWQiOmZhbHNlLCJzaG93Q29ycmVjdEFuc3dlcnMiOmZhbHNlfSx7InNob3dSZXN1bHRzIjp0cnVlLCJwb2xsUXVlc3Rpb25VdWlkIjoiNmFkZmRlOTMtMDg0YS00MTQyLWE0OTQtZGU3YTQwZTIxM2VkIiwidm90aW5nTG9ja2VkIjp0cnVlLCJzaG93Q29ycmVjdEFuc3dlcnMiOmZhbHNlfSx7InNob3dSZXN1bHRzIjp0cnVlLCJwb2xsUXVlc3Rpb25VdWlkIjoiNmFkZmRlOTMtMDg0YS00MTQyLWE0OTQtZGU3YTQwZTIxM2VkIiwidm90aW5nTG9ja2VkIjp0cnVlLCJzaG93Q29ycmVjdEFuc3dlcnMiOnRydWV9LHsic2hvd1Jlc3VsdHMiOnRydWUsInBvbGxRdWVzdGlvblV1aWQiOiI2YWRmZGU5My0wODRhLTQxNDItYTQ5NC1kZTdhNDBlMjEzZWQiLCJzY3JlZW4iOiJRdWl6TGVhZGVyYm9hcmQiLCJzaG93Q29ycmVjdEFuc3dlcnMiOnRydWUsInZvdGluZ0xvY2tlZCI6dHJ1ZX1d"/>
</p:tagLst>
</file>

<file path=ppt/tags/tag23.xml><?xml version="1.0" encoding="utf-8"?>
<p:tagLst xmlns:a="http://schemas.openxmlformats.org/drawingml/2006/main" xmlns:r="http://schemas.openxmlformats.org/officeDocument/2006/relationships" xmlns:p="http://schemas.openxmlformats.org/presentationml/2006/main">
  <p:tag name="SLIDO_ELEMENT" val="interaction_image"/>
  <p:tag name="INTERACTION_TYPE" val="Quiz"/>
</p:tagLst>
</file>

<file path=ppt/tags/tag24.xml><?xml version="1.0" encoding="utf-8"?>
<p:tagLst xmlns:a="http://schemas.openxmlformats.org/drawingml/2006/main" xmlns:r="http://schemas.openxmlformats.org/officeDocument/2006/relationships" xmlns:p="http://schemas.openxmlformats.org/presentationml/2006/main">
  <p:tag name="SLIDO_ELEMENT" val="title"/>
</p:tagLst>
</file>

<file path=ppt/tags/tag25.xml><?xml version="1.0" encoding="utf-8"?>
<p:tagLst xmlns:a="http://schemas.openxmlformats.org/drawingml/2006/main" xmlns:r="http://schemas.openxmlformats.org/officeDocument/2006/relationships" xmlns:p="http://schemas.openxmlformats.org/presentationml/2006/main">
  <p:tag name="SLIDO_ELEMENT" val="footer"/>
</p:tagLst>
</file>

<file path=ppt/tags/tag26.xml><?xml version="1.0" encoding="utf-8"?>
<p:tagLst xmlns:a="http://schemas.openxmlformats.org/drawingml/2006/main" xmlns:r="http://schemas.openxmlformats.org/officeDocument/2006/relationships" xmlns:p="http://schemas.openxmlformats.org/presentationml/2006/main">
  <p:tag name="SLIDO_ELEMENT" val="corner"/>
</p:tagLst>
</file>

<file path=ppt/theme/theme1.xml><?xml version="1.0" encoding="utf-8"?>
<a:theme xmlns:a="http://schemas.openxmlformats.org/drawingml/2006/main" name="Tropic">
  <a:themeElements>
    <a:clrScheme name="Tropic">
      <a:dk1>
        <a:srgbClr val="A1E8D9"/>
      </a:dk1>
      <a:lt1>
        <a:srgbClr val="FFFFFF"/>
      </a:lt1>
      <a:dk2>
        <a:srgbClr val="695D46"/>
      </a:dk2>
      <a:lt2>
        <a:srgbClr val="B3A77D"/>
      </a:lt2>
      <a:accent1>
        <a:srgbClr val="EF6C00"/>
      </a:accent1>
      <a:accent2>
        <a:srgbClr val="CE93D8"/>
      </a:accent2>
      <a:accent3>
        <a:srgbClr val="4DB6AC"/>
      </a:accent3>
      <a:accent4>
        <a:srgbClr val="FF9800"/>
      </a:accent4>
      <a:accent5>
        <a:srgbClr val="009668"/>
      </a:accent5>
      <a:accent6>
        <a:srgbClr val="EEFF41"/>
      </a:accent6>
      <a:hlink>
        <a:srgbClr val="009668"/>
      </a:hlink>
      <a:folHlink>
        <a:srgbClr val="00966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2407</TotalTime>
  <Words>2260</Words>
  <Application>Microsoft Macintosh PowerPoint</Application>
  <PresentationFormat>On-screen Show (16:9)</PresentationFormat>
  <Paragraphs>459</Paragraphs>
  <Slides>45</Slides>
  <Notes>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45</vt:i4>
      </vt:variant>
    </vt:vector>
  </HeadingPairs>
  <TitlesOfParts>
    <vt:vector size="51" baseType="lpstr">
      <vt:lpstr>Cambria Math</vt:lpstr>
      <vt:lpstr>Arial</vt:lpstr>
      <vt:lpstr>Wingdings</vt:lpstr>
      <vt:lpstr>Open Sans</vt:lpstr>
      <vt:lpstr>PT Sans Narrow</vt:lpstr>
      <vt:lpstr>Tropic</vt:lpstr>
      <vt:lpstr>Lab 7 – Singular Value Decomposition</vt:lpstr>
      <vt:lpstr>Quick Review: Matrix Multiplication</vt:lpstr>
      <vt:lpstr>Quick Review: Dot Product</vt:lpstr>
      <vt:lpstr>Feature Extraction</vt:lpstr>
      <vt:lpstr>Structure of dataset</vt:lpstr>
      <vt:lpstr>Recall: Rank</vt:lpstr>
      <vt:lpstr>Recall: Matrix Factorization</vt:lpstr>
      <vt:lpstr>Goal</vt:lpstr>
      <vt:lpstr>Singular Value Decomposition (SVD)</vt:lpstr>
      <vt:lpstr>SVD Matrix Decomposition</vt:lpstr>
      <vt:lpstr>SVD Matrix Decomposition</vt:lpstr>
      <vt:lpstr>SVD for Rank Reduction</vt:lpstr>
      <vt:lpstr>Approximation for A</vt:lpstr>
      <vt:lpstr>Rank-k approximation using SVD</vt:lpstr>
      <vt:lpstr>PowerPoint Presentation</vt:lpstr>
      <vt:lpstr>PowerPoint Presentation</vt:lpstr>
      <vt:lpstr>SVD for Feature Extraction</vt:lpstr>
      <vt:lpstr>Feature Extraction</vt:lpstr>
      <vt:lpstr>Feature Extraction</vt:lpstr>
      <vt:lpstr>PowerPoint Presentation</vt:lpstr>
      <vt:lpstr>SVD for Anomaly Detection</vt:lpstr>
      <vt:lpstr>What is an anomaly in data science?</vt:lpstr>
      <vt:lpstr>Anomaly Detection in SVD</vt:lpstr>
      <vt:lpstr>Latent Semantic Analysis (LSA)</vt:lpstr>
      <vt:lpstr>Recall: LSA</vt:lpstr>
      <vt:lpstr>Recall: Dataset</vt:lpstr>
      <vt:lpstr>Recall: Embeddings</vt:lpstr>
      <vt:lpstr>PowerPoint Presentation</vt:lpstr>
      <vt:lpstr>PowerPoint Presentation</vt:lpstr>
      <vt:lpstr>PowerPoint Presentation</vt:lpstr>
      <vt:lpstr>PowerPoint Presentation</vt:lpstr>
      <vt:lpstr>Good vs Bad Embeddings</vt:lpstr>
      <vt:lpstr>Good Embeddings</vt:lpstr>
      <vt:lpstr>What causes bad embeddings?</vt:lpstr>
      <vt:lpstr>What causes bad embeddings?</vt:lpstr>
      <vt:lpstr>PowerPoint Presentation</vt:lpstr>
      <vt:lpstr>Term Frequency in LSA</vt:lpstr>
      <vt:lpstr>Term Frequency in LSA</vt:lpstr>
      <vt:lpstr>Question: How do we handle frequent “useless” words?</vt:lpstr>
      <vt:lpstr>PowerPoint Presentation</vt:lpstr>
      <vt:lpstr>TF-IDF</vt:lpstr>
      <vt:lpstr>TF-IDF for term-document matrix</vt:lpstr>
      <vt:lpstr>Interpreting results of LSA</vt:lpstr>
      <vt:lpstr>Interpreting results of LSA</vt:lpstr>
      <vt:lpstr>Interpreting results of LSA: Cosine Similarity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Betco, Marius</cp:lastModifiedBy>
  <cp:revision>10</cp:revision>
  <dcterms:modified xsi:type="dcterms:W3CDTF">2026-10-13T22:20:45Z</dcterms:modified>
</cp:coreProperties>
</file>